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9"/>
  </p:notesMasterIdLst>
  <p:sldIdLst>
    <p:sldId id="402" r:id="rId2"/>
    <p:sldId id="378" r:id="rId3"/>
    <p:sldId id="465" r:id="rId4"/>
    <p:sldId id="464" r:id="rId5"/>
    <p:sldId id="564" r:id="rId6"/>
    <p:sldId id="381" r:id="rId9"/>
    <p:sldId id="540" r:id="rId10"/>
    <p:sldId id="541" r:id="rId11"/>
    <p:sldId id="542" r:id="rId12"/>
    <p:sldId id="543" r:id="rId13"/>
    <p:sldId id="544" r:id="rId14"/>
    <p:sldId id="559" r:id="rId15"/>
    <p:sldId id="560" r:id="rId16"/>
    <p:sldId id="561" r:id="rId17"/>
    <p:sldId id="382" r:id="rId18"/>
    <p:sldId id="597" r:id="rId19"/>
    <p:sldId id="596" r:id="rId20"/>
    <p:sldId id="615" r:id="rId21"/>
    <p:sldId id="612" r:id="rId22"/>
    <p:sldId id="621" r:id="rId23"/>
    <p:sldId id="616" r:id="rId24"/>
    <p:sldId id="617" r:id="rId25"/>
    <p:sldId id="614" r:id="rId26"/>
    <p:sldId id="627" r:id="rId27"/>
    <p:sldId id="628" r:id="rId28"/>
    <p:sldId id="394" r:id="rId35"/>
    <p:sldId id="629" r:id="rId36"/>
    <p:sldId id="396" r:id="rId37"/>
    <p:sldId id="39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7D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78"/>
    <p:restoredTop sz="69546"/>
  </p:normalViewPr>
  <p:slideViewPr>
    <p:cSldViewPr snapToGrid="0">
      <p:cViewPr varScale="1">
        <p:scale>
          <a:sx n="108" d="100"/>
          <a:sy n="108" d="100"/>
        </p:scale>
        <p:origin x="1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base</c:v>
          </c:tx>
          <c:spPr>
            <a:ln>
              <a:noFill/>
            </a:ln>
          </c:spPr>
          <c:marker>
            <c:symbol val="none"/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03-664A-A02D-1258121B8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1.4999999999999999E-2</c:v>
                </c:pt>
                <c:pt idx="1">
                  <c:v>1.9E-2</c:v>
                </c:pt>
                <c:pt idx="2">
                  <c:v>2.8000000000000001E-2</c:v>
                </c:pt>
                <c:pt idx="3">
                  <c:v>1.4E-2</c:v>
                </c:pt>
                <c:pt idx="4">
                  <c:v>8.0000000000000002E-3</c:v>
                </c:pt>
              </c:numLit>
            </c:plus>
            <c:minus>
              <c:numLit>
                <c:formatCode>General</c:formatCode>
                <c:ptCount val="5"/>
                <c:pt idx="0">
                  <c:v>1.2E-2</c:v>
                </c:pt>
                <c:pt idx="1">
                  <c:v>1.9E-2</c:v>
                </c:pt>
                <c:pt idx="2">
                  <c:v>2.8000000000000001E-2</c:v>
                </c:pt>
                <c:pt idx="3">
                  <c:v>1.4E-2</c:v>
                </c:pt>
                <c:pt idx="4">
                  <c:v>8.0000000000000002E-3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1.2E-2</c:v>
              </c:pt>
              <c:pt idx="1">
                <c:v>0.03</c:v>
              </c:pt>
              <c:pt idx="2">
                <c:v>0.11700000000000001</c:v>
              </c:pt>
              <c:pt idx="3">
                <c:v>8.7999999999999995E-2</c:v>
              </c:pt>
              <c:pt idx="4">
                <c:v>0.108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383-8041-BDE3-50DBC6B0ADCE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1.4999999999999999E-2</c:v>
              </c:pt>
              <c:pt idx="1">
                <c:v>2.7E-2</c:v>
              </c:pt>
              <c:pt idx="2">
                <c:v>0.11600000000000001</c:v>
              </c:pt>
              <c:pt idx="3">
                <c:v>0.11899999999999999</c:v>
              </c:pt>
              <c:pt idx="4">
                <c:v>0.127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383-8041-BDE3-50DBC6B0AD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2.9000000000000001E-2</c:v>
                </c:pt>
                <c:pt idx="1">
                  <c:v>6.0000000000000001E-3</c:v>
                </c:pt>
                <c:pt idx="2">
                  <c:v>1.9E-2</c:v>
                </c:pt>
                <c:pt idx="3">
                  <c:v>2.4E-2</c:v>
                </c:pt>
                <c:pt idx="4">
                  <c:v>0.02</c:v>
                </c:pt>
              </c:numLit>
            </c:plus>
            <c:minus>
              <c:numLit>
                <c:formatCode>General</c:formatCode>
                <c:ptCount val="5"/>
                <c:pt idx="0">
                  <c:v>2.9000000000000001E-2</c:v>
                </c:pt>
                <c:pt idx="1">
                  <c:v>6.0000000000000001E-3</c:v>
                </c:pt>
                <c:pt idx="2">
                  <c:v>1.9E-2</c:v>
                </c:pt>
                <c:pt idx="3">
                  <c:v>2.4E-2</c:v>
                </c:pt>
                <c:pt idx="4">
                  <c:v>0.02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0.7</c:v>
              </c:pt>
              <c:pt idx="1">
                <c:v>0.74</c:v>
              </c:pt>
              <c:pt idx="2">
                <c:v>0.66800000000000004</c:v>
              </c:pt>
              <c:pt idx="3">
                <c:v>0.372</c:v>
              </c:pt>
              <c:pt idx="4">
                <c:v>0.45100000000000001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A58-654D-B027-592B7E7DBC38}"/>
            </c:ext>
          </c:extLst>
        </c:ser>
        <c:ser>
          <c:idx val="1"/>
          <c:order val="1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2.3E-2</c:v>
              </c:pt>
              <c:pt idx="1">
                <c:v>0.05</c:v>
              </c:pt>
              <c:pt idx="2">
                <c:v>0.09</c:v>
              </c:pt>
              <c:pt idx="3">
                <c:v>0.10299999999999999</c:v>
              </c:pt>
              <c:pt idx="4">
                <c:v>0.11899999999999999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A58-654D-B027-592B7E7DB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7.1999999999999995E-2</c:v>
                </c:pt>
                <c:pt idx="1">
                  <c:v>0.121</c:v>
                </c:pt>
                <c:pt idx="2">
                  <c:v>3.4000000000000002E-2</c:v>
                </c:pt>
                <c:pt idx="3">
                  <c:v>3.0000000000000001E-3</c:v>
                </c:pt>
                <c:pt idx="4">
                  <c:v>3.0000000000000001E-3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7.1999999999999995E-2</c:v>
                </c:pt>
                <c:pt idx="1">
                  <c:v>0.121</c:v>
                </c:pt>
                <c:pt idx="2">
                  <c:v>3.4000000000000002E-2</c:v>
                </c:pt>
                <c:pt idx="3">
                  <c:v>3.0000000000000001E-3</c:v>
                </c:pt>
                <c:pt idx="4">
                  <c:v>3.0000000000000001E-3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0.53100000000000003</c:v>
              </c:pt>
              <c:pt idx="2">
                <c:v>0.24099999999999999</c:v>
              </c:pt>
              <c:pt idx="3">
                <c:v>8.1000000000000003E-2</c:v>
              </c:pt>
              <c:pt idx="4">
                <c:v>6.8000000000000005E-2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49D-2F4E-9132-0F6416856C60}"/>
            </c:ext>
          </c:extLst>
        </c:ser>
        <c:ser>
          <c:idx val="1"/>
          <c:order val="1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0.218</c:v>
              </c:pt>
              <c:pt idx="1">
                <c:v>8.8999999999999996E-2</c:v>
              </c:pt>
              <c:pt idx="2">
                <c:v>0.14499999999999999</c:v>
              </c:pt>
              <c:pt idx="3">
                <c:v>0.13</c:v>
              </c:pt>
              <c:pt idx="4">
                <c:v>0.14000000000000001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49D-2F4E-9132-0F6416856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0.02</c:v>
                </c:pt>
                <c:pt idx="1">
                  <c:v>2.1999999999999999E-2</c:v>
                </c:pt>
                <c:pt idx="2">
                  <c:v>0.16</c:v>
                </c:pt>
                <c:pt idx="3">
                  <c:v>0</c:v>
                </c:pt>
                <c:pt idx="4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0.02</c:v>
                </c:pt>
                <c:pt idx="1">
                  <c:v>2.1999999999999999E-2</c:v>
                </c:pt>
                <c:pt idx="2">
                  <c:v>0.16</c:v>
                </c:pt>
                <c:pt idx="3">
                  <c:v>0</c:v>
                </c:pt>
                <c:pt idx="4">
                  <c:v>0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0.115</c:v>
              </c:pt>
              <c:pt idx="1">
                <c:v>0.14599999999999999</c:v>
              </c:pt>
              <c:pt idx="2">
                <c:v>0.34200000000000003</c:v>
              </c:pt>
              <c:pt idx="3">
                <c:v>0.14899999999999999</c:v>
              </c:pt>
              <c:pt idx="4">
                <c:v>0.23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DCC-744D-9820-2DC4384D5182}"/>
            </c:ext>
          </c:extLst>
        </c:ser>
        <c:ser>
          <c:idx val="1"/>
          <c:order val="1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0.19</c:v>
              </c:pt>
              <c:pt idx="1">
                <c:v>0.183</c:v>
              </c:pt>
              <c:pt idx="2">
                <c:v>0.248</c:v>
              </c:pt>
              <c:pt idx="3">
                <c:v>0.254</c:v>
              </c:pt>
              <c:pt idx="4">
                <c:v>0.26700000000000002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DCC-744D-9820-2DC4384D5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B1F-AD42-B26B-D1FFEAA90D52}"/>
            </c:ext>
          </c:extLst>
        </c:ser>
        <c:ser>
          <c:idx val="1"/>
          <c:order val="1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9.0999999999999998E-2</c:v>
              </c:pt>
              <c:pt idx="1">
                <c:v>0.112</c:v>
              </c:pt>
              <c:pt idx="2">
                <c:v>0.111</c:v>
              </c:pt>
              <c:pt idx="3">
                <c:v>0.115</c:v>
              </c:pt>
              <c:pt idx="4">
                <c:v>7.0999999999999994E-2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B1F-AD42-B26B-D1FFEAA90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5.0000000000000001E-3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1E-3</c:v>
              </c:pt>
              <c:pt idx="4">
                <c:v>7.0000000000000001E-3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DC-604B-838A-5E2CC25C34D6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0.01</c:v>
              </c:pt>
              <c:pt idx="1">
                <c:v>1.0999999999999999E-2</c:v>
              </c:pt>
              <c:pt idx="2">
                <c:v>4.2999999999999997E-2</c:v>
              </c:pt>
              <c:pt idx="3">
                <c:v>7.0999999999999994E-2</c:v>
              </c:pt>
              <c:pt idx="4">
                <c:v>8.1000000000000003E-2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DC-604B-838A-5E2CC25C34D6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7.3999999999999996E-2</c:v>
                </c:pt>
                <c:pt idx="1">
                  <c:v>1.7999999999999999E-2</c:v>
                </c:pt>
                <c:pt idx="2">
                  <c:v>1.7000000000000001E-2</c:v>
                </c:pt>
                <c:pt idx="3">
                  <c:v>2.5000000000000001E-2</c:v>
                </c:pt>
                <c:pt idx="4">
                  <c:v>4.2999999999999997E-2</c:v>
                </c:pt>
              </c:numLit>
            </c:plus>
            <c:minus>
              <c:numLit>
                <c:formatCode>General</c:formatCode>
                <c:ptCount val="5"/>
                <c:pt idx="0">
                  <c:v>7.0000000000000007E-2</c:v>
                </c:pt>
                <c:pt idx="1">
                  <c:v>1.7999999999999999E-2</c:v>
                </c:pt>
                <c:pt idx="2">
                  <c:v>0.01</c:v>
                </c:pt>
                <c:pt idx="3">
                  <c:v>2.5000000000000001E-2</c:v>
                </c:pt>
                <c:pt idx="4">
                  <c:v>4.2999999999999997E-2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7.0000000000000007E-2</c:v>
              </c:pt>
              <c:pt idx="1">
                <c:v>2.4E-2</c:v>
              </c:pt>
              <c:pt idx="2">
                <c:v>0.01</c:v>
              </c:pt>
              <c:pt idx="3">
                <c:v>3.4000000000000002E-2</c:v>
              </c:pt>
              <c:pt idx="4">
                <c:v>0.17799999999999999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87DC-604B-838A-5E2CC25C34D6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87DC-604B-838A-5E2CC25C34D6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3.0000000000000001E-3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3.0000000000000001E-3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7.0000000000000001E-3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87DC-604B-838A-5E2CC25C34D6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2.5000000000000001E-2</c:v>
              </c:pt>
              <c:pt idx="1">
                <c:v>2E-3</c:v>
              </c:pt>
              <c:pt idx="2">
                <c:v>7.0999999999999994E-2</c:v>
              </c:pt>
              <c:pt idx="3">
                <c:v>0.02</c:v>
              </c:pt>
              <c:pt idx="4">
                <c:v>0.03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87DC-604B-838A-5E2CC25C34D6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0.08</c:v>
                </c:pt>
                <c:pt idx="1">
                  <c:v>2.4E-2</c:v>
                </c:pt>
                <c:pt idx="2">
                  <c:v>8.0000000000000002E-3</c:v>
                </c:pt>
                <c:pt idx="3">
                  <c:v>0</c:v>
                </c:pt>
                <c:pt idx="4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0.04</c:v>
                </c:pt>
                <c:pt idx="1">
                  <c:v>2.4E-2</c:v>
                </c:pt>
                <c:pt idx="2">
                  <c:v>8.0000000000000002E-3</c:v>
                </c:pt>
                <c:pt idx="3">
                  <c:v>0</c:v>
                </c:pt>
                <c:pt idx="4">
                  <c:v>0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5.6000000000000001E-2</c:v>
              </c:pt>
              <c:pt idx="2">
                <c:v>3.5000000000000003E-2</c:v>
              </c:pt>
              <c:pt idx="3">
                <c:v>0.14299999999999999</c:v>
              </c:pt>
              <c:pt idx="4">
                <c:v>3.4000000000000002E-2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87DC-604B-838A-5E2CC25C34D6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1.7000000000000001E-2</c:v>
              </c:pt>
              <c:pt idx="2">
                <c:v>8.9999999999999993E-3</c:v>
              </c:pt>
              <c:pt idx="3">
                <c:v>8.5000000000000006E-2</c:v>
              </c:pt>
              <c:pt idx="4">
                <c:v>1.7000000000000001E-2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87DC-604B-838A-5E2CC25C34D6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0.996</c:v>
              </c:pt>
              <c:pt idx="1">
                <c:v>0.99099999999999999</c:v>
              </c:pt>
              <c:pt idx="2">
                <c:v>0.98499999999999999</c:v>
              </c:pt>
              <c:pt idx="3">
                <c:v>0.95099999999999996</c:v>
              </c:pt>
              <c:pt idx="4">
                <c:v>0.89200000000000002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87DC-604B-838A-5E2CC25C34D6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87DC-604B-838A-5E2CC25C3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2E-3</c:v>
                </c:pt>
                <c:pt idx="1">
                  <c:v>8.9999999999999993E-3</c:v>
                </c:pt>
                <c:pt idx="2">
                  <c:v>7.0000000000000001E-3</c:v>
                </c:pt>
                <c:pt idx="3">
                  <c:v>0.01</c:v>
                </c:pt>
                <c:pt idx="4">
                  <c:v>8.0000000000000002E-3</c:v>
                </c:pt>
              </c:numLit>
            </c:plus>
            <c:minus>
              <c:numLit>
                <c:formatCode>General</c:formatCode>
                <c:ptCount val="5"/>
                <c:pt idx="0">
                  <c:v>2E-3</c:v>
                </c:pt>
                <c:pt idx="1">
                  <c:v>8.9999999999999993E-3</c:v>
                </c:pt>
                <c:pt idx="2">
                  <c:v>7.0000000000000001E-3</c:v>
                </c:pt>
                <c:pt idx="3">
                  <c:v>0.01</c:v>
                </c:pt>
                <c:pt idx="4">
                  <c:v>8.0000000000000002E-3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1.9E-2</c:v>
              </c:pt>
              <c:pt idx="1">
                <c:v>1.9E-2</c:v>
              </c:pt>
              <c:pt idx="2">
                <c:v>1.7000000000000001E-2</c:v>
              </c:pt>
              <c:pt idx="3">
                <c:v>6.7000000000000004E-2</c:v>
              </c:pt>
              <c:pt idx="4">
                <c:v>5.8999999999999997E-2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D71-204B-9AAC-7DB416F742EA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4.2999999999999997E-2</c:v>
              </c:pt>
              <c:pt idx="1">
                <c:v>2.7E-2</c:v>
              </c:pt>
              <c:pt idx="2">
                <c:v>0.03</c:v>
              </c:pt>
              <c:pt idx="3">
                <c:v>7.6999999999999999E-2</c:v>
              </c:pt>
              <c:pt idx="4">
                <c:v>5.8000000000000003E-2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D71-204B-9AAC-7DB416F742EA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4.2000000000000003E-2</c:v>
                </c:pt>
                <c:pt idx="1">
                  <c:v>1.7000000000000001E-2</c:v>
                </c:pt>
                <c:pt idx="2">
                  <c:v>0.01</c:v>
                </c:pt>
                <c:pt idx="3">
                  <c:v>2.1999999999999999E-2</c:v>
                </c:pt>
                <c:pt idx="4">
                  <c:v>1.4999999999999999E-2</c:v>
                </c:pt>
              </c:numLit>
            </c:plus>
            <c:minus>
              <c:numLit>
                <c:formatCode>General</c:formatCode>
                <c:ptCount val="5"/>
                <c:pt idx="0">
                  <c:v>4.2000000000000003E-2</c:v>
                </c:pt>
                <c:pt idx="1">
                  <c:v>1.7000000000000001E-2</c:v>
                </c:pt>
                <c:pt idx="2">
                  <c:v>0.01</c:v>
                </c:pt>
                <c:pt idx="3">
                  <c:v>2.1999999999999999E-2</c:v>
                </c:pt>
                <c:pt idx="4">
                  <c:v>1.4999999999999999E-2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0.26400000000000001</c:v>
              </c:pt>
              <c:pt idx="1">
                <c:v>0.28299999999999997</c:v>
              </c:pt>
              <c:pt idx="2">
                <c:v>0.316</c:v>
              </c:pt>
              <c:pt idx="3">
                <c:v>4.9000000000000002E-2</c:v>
              </c:pt>
              <c:pt idx="4">
                <c:v>0.11799999999999999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D71-204B-9AAC-7DB416F742EA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4.5999999999999999E-2</c:v>
              </c:pt>
              <c:pt idx="1">
                <c:v>3.5999999999999997E-2</c:v>
              </c:pt>
              <c:pt idx="2">
                <c:v>3.4000000000000002E-2</c:v>
              </c:pt>
              <c:pt idx="3">
                <c:v>7.2999999999999995E-2</c:v>
              </c:pt>
              <c:pt idx="4">
                <c:v>0.109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ED71-204B-9AAC-7DB416F742EA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4.0000000000000001E-3</c:v>
                </c:pt>
                <c:pt idx="1">
                  <c:v>1.4999999999999999E-2</c:v>
                </c:pt>
                <c:pt idx="2">
                  <c:v>2E-3</c:v>
                </c:pt>
                <c:pt idx="3">
                  <c:v>1E-3</c:v>
                </c:pt>
                <c:pt idx="4">
                  <c:v>2E-3</c:v>
                </c:pt>
              </c:numLit>
            </c:plus>
            <c:minus>
              <c:numLit>
                <c:formatCode>General</c:formatCode>
                <c:ptCount val="5"/>
                <c:pt idx="0">
                  <c:v>4.0000000000000001E-3</c:v>
                </c:pt>
                <c:pt idx="1">
                  <c:v>1.4999999999999999E-2</c:v>
                </c:pt>
                <c:pt idx="2">
                  <c:v>2E-3</c:v>
                </c:pt>
                <c:pt idx="3">
                  <c:v>1E-3</c:v>
                </c:pt>
                <c:pt idx="4">
                  <c:v>2E-3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3.1E-2</c:v>
              </c:pt>
              <c:pt idx="1">
                <c:v>3.3000000000000002E-2</c:v>
              </c:pt>
              <c:pt idx="2">
                <c:v>2.4E-2</c:v>
              </c:pt>
              <c:pt idx="3">
                <c:v>2.3E-2</c:v>
              </c:pt>
              <c:pt idx="4">
                <c:v>2.3E-2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ED71-204B-9AAC-7DB416F742EA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4.7E-2</c:v>
              </c:pt>
              <c:pt idx="1">
                <c:v>3.1E-2</c:v>
              </c:pt>
              <c:pt idx="2">
                <c:v>3.6999999999999998E-2</c:v>
              </c:pt>
              <c:pt idx="3">
                <c:v>8.5000000000000006E-2</c:v>
              </c:pt>
              <c:pt idx="4">
                <c:v>0.113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ED71-204B-9AAC-7DB416F742EA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3.0000000000000001E-3</c:v>
                </c:pt>
                <c:pt idx="1">
                  <c:v>1.2999999999999999E-2</c:v>
                </c:pt>
                <c:pt idx="2">
                  <c:v>8.0000000000000002E-3</c:v>
                </c:pt>
                <c:pt idx="3">
                  <c:v>3.7999999999999999E-2</c:v>
                </c:pt>
                <c:pt idx="4">
                  <c:v>4.0000000000000001E-3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3.0000000000000001E-3</c:v>
                </c:pt>
                <c:pt idx="1">
                  <c:v>1.2999999999999999E-2</c:v>
                </c:pt>
                <c:pt idx="2">
                  <c:v>8.0000000000000002E-3</c:v>
                </c:pt>
                <c:pt idx="3">
                  <c:v>3.7999999999999999E-2</c:v>
                </c:pt>
                <c:pt idx="4">
                  <c:v>4.0000000000000001E-3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3.6999999999999998E-2</c:v>
              </c:pt>
              <c:pt idx="1">
                <c:v>3.4000000000000002E-2</c:v>
              </c:pt>
              <c:pt idx="2">
                <c:v>7.6999999999999999E-2</c:v>
              </c:pt>
              <c:pt idx="3">
                <c:v>8.5999999999999993E-2</c:v>
              </c:pt>
              <c:pt idx="4">
                <c:v>5.5E-2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ED71-204B-9AAC-7DB416F742EA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0.03</c:v>
              </c:pt>
              <c:pt idx="1">
                <c:v>4.2999999999999997E-2</c:v>
              </c:pt>
              <c:pt idx="2">
                <c:v>9.4E-2</c:v>
              </c:pt>
              <c:pt idx="3">
                <c:v>9.1999999999999998E-2</c:v>
              </c:pt>
              <c:pt idx="4">
                <c:v>7.2999999999999995E-2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ED71-204B-9AAC-7DB416F742EA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0.998</c:v>
              </c:pt>
              <c:pt idx="3">
                <c:v>0.996</c:v>
              </c:pt>
              <c:pt idx="4">
                <c:v>0.997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ED71-204B-9AAC-7DB416F742EA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0.159</c:v>
              </c:pt>
              <c:pt idx="1">
                <c:v>7.8E-2</c:v>
              </c:pt>
              <c:pt idx="2">
                <c:v>0.10199999999999999</c:v>
              </c:pt>
              <c:pt idx="3">
                <c:v>8.8999999999999996E-2</c:v>
              </c:pt>
              <c:pt idx="4">
                <c:v>0.29099999999999998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ED71-204B-9AAC-7DB416F74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base</c:v>
          </c:tx>
          <c:spPr>
            <a:ln>
              <a:noFill/>
            </a:ln>
          </c:spPr>
          <c:marker>
            <c:symbol val="none"/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03-664A-A02D-1258121B8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4.8000000000000001E-2</c:v>
                </c:pt>
                <c:pt idx="1">
                  <c:v>4.1000000000000002E-2</c:v>
                </c:pt>
                <c:pt idx="2">
                  <c:v>3.5000000000000003E-2</c:v>
                </c:pt>
                <c:pt idx="3">
                  <c:v>4.2999999999999997E-2</c:v>
                </c:pt>
                <c:pt idx="4">
                  <c:v>1.7000000000000001E-2</c:v>
                </c:pt>
              </c:numLit>
            </c:plus>
            <c:minus>
              <c:numLit>
                <c:formatCode>General</c:formatCode>
                <c:ptCount val="5"/>
                <c:pt idx="0">
                  <c:v>4.7E-2</c:v>
                </c:pt>
                <c:pt idx="1">
                  <c:v>4.1000000000000002E-2</c:v>
                </c:pt>
                <c:pt idx="2">
                  <c:v>3.5000000000000003E-2</c:v>
                </c:pt>
                <c:pt idx="3">
                  <c:v>4.2999999999999997E-2</c:v>
                </c:pt>
                <c:pt idx="4">
                  <c:v>1.7000000000000001E-2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4.7E-2</c:v>
              </c:pt>
              <c:pt idx="1">
                <c:v>4.1000000000000002E-2</c:v>
              </c:pt>
              <c:pt idx="2">
                <c:v>0.125</c:v>
              </c:pt>
              <c:pt idx="3">
                <c:v>0.19400000000000001</c:v>
              </c:pt>
              <c:pt idx="4">
                <c:v>0.123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383-8041-BDE3-50DBC6B0ADCE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5.2999999999999999E-2</c:v>
              </c:pt>
              <c:pt idx="1">
                <c:v>3.9E-2</c:v>
              </c:pt>
              <c:pt idx="2">
                <c:v>0.128</c:v>
              </c:pt>
              <c:pt idx="3">
                <c:v>0.20499999999999999</c:v>
              </c:pt>
              <c:pt idx="4">
                <c:v>0.14699999999999999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383-8041-BDE3-50DBC6B0AD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0.122</c:v>
                </c:pt>
                <c:pt idx="1">
                  <c:v>1.7999999999999999E-2</c:v>
                </c:pt>
                <c:pt idx="2">
                  <c:v>4.1000000000000002E-2</c:v>
                </c:pt>
                <c:pt idx="3">
                  <c:v>8.9999999999999993E-3</c:v>
                </c:pt>
                <c:pt idx="4">
                  <c:v>4.3999999999999997E-2</c:v>
                </c:pt>
              </c:numLit>
            </c:plus>
            <c:minus>
              <c:numLit>
                <c:formatCode>General</c:formatCode>
                <c:ptCount val="5"/>
                <c:pt idx="0">
                  <c:v>0.122</c:v>
                </c:pt>
                <c:pt idx="1">
                  <c:v>1.7999999999999999E-2</c:v>
                </c:pt>
                <c:pt idx="2">
                  <c:v>4.1000000000000002E-2</c:v>
                </c:pt>
                <c:pt idx="3">
                  <c:v>8.9999999999999993E-3</c:v>
                </c:pt>
                <c:pt idx="4">
                  <c:v>4.3999999999999997E-2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0.41</c:v>
              </c:pt>
              <c:pt idx="1">
                <c:v>0.73299999999999998</c:v>
              </c:pt>
              <c:pt idx="2">
                <c:v>0.622</c:v>
              </c:pt>
              <c:pt idx="3">
                <c:v>0.47899999999999998</c:v>
              </c:pt>
              <c:pt idx="4">
                <c:v>0.40799999999999997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A58-654D-B027-592B7E7DBC38}"/>
            </c:ext>
          </c:extLst>
        </c:ser>
        <c:ser>
          <c:idx val="1"/>
          <c:order val="1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3.6999999999999998E-2</c:v>
              </c:pt>
              <c:pt idx="1">
                <c:v>5.3999999999999999E-2</c:v>
              </c:pt>
              <c:pt idx="2">
                <c:v>7.9000000000000001E-2</c:v>
              </c:pt>
              <c:pt idx="3">
                <c:v>0.17899999999999999</c:v>
              </c:pt>
              <c:pt idx="4">
                <c:v>0.13200000000000001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A58-654D-B027-592B7E7DB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0.26</c:v>
                </c:pt>
                <c:pt idx="1">
                  <c:v>3.6999999999999998E-2</c:v>
                </c:pt>
                <c:pt idx="2">
                  <c:v>9.2999999999999999E-2</c:v>
                </c:pt>
                <c:pt idx="3">
                  <c:v>4.0000000000000001E-3</c:v>
                </c:pt>
                <c:pt idx="4">
                  <c:v>7.0000000000000001E-3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0.33100000000000002</c:v>
                </c:pt>
                <c:pt idx="1">
                  <c:v>3.6999999999999998E-2</c:v>
                </c:pt>
                <c:pt idx="2">
                  <c:v>9.2999999999999999E-2</c:v>
                </c:pt>
                <c:pt idx="3">
                  <c:v>4.0000000000000001E-3</c:v>
                </c:pt>
                <c:pt idx="4">
                  <c:v>7.0000000000000001E-3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0.74</c:v>
              </c:pt>
              <c:pt idx="1">
                <c:v>0.58399999999999996</c:v>
              </c:pt>
              <c:pt idx="2">
                <c:v>0.318</c:v>
              </c:pt>
              <c:pt idx="3">
                <c:v>0.14599999999999999</c:v>
              </c:pt>
              <c:pt idx="4">
                <c:v>0.08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49D-2F4E-9132-0F6416856C60}"/>
            </c:ext>
          </c:extLst>
        </c:ser>
        <c:ser>
          <c:idx val="1"/>
          <c:order val="1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</c:v>
              </c:pt>
              <c:pt idx="1">
                <c:v>7.1999999999999995E-2</c:v>
              </c:pt>
              <c:pt idx="2">
                <c:v>0.14000000000000001</c:v>
              </c:pt>
              <c:pt idx="3">
                <c:v>0.22</c:v>
              </c:pt>
              <c:pt idx="4">
                <c:v>0.16700000000000001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49D-2F4E-9132-0F6416856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0.01</c:v>
                </c:pt>
                <c:pt idx="1">
                  <c:v>0.214</c:v>
                </c:pt>
                <c:pt idx="2">
                  <c:v>5.3999999999999999E-2</c:v>
                </c:pt>
              </c:numLit>
            </c:plus>
            <c:minus>
              <c:numLit>
                <c:formatCode>General</c:formatCode>
                <c:ptCount val="5"/>
                <c:pt idx="0">
                  <c:v>0.01</c:v>
                </c:pt>
                <c:pt idx="1">
                  <c:v>0.16900000000000001</c:v>
                </c:pt>
                <c:pt idx="2">
                  <c:v>5.3999999999999999E-2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0.125</c:v>
              </c:pt>
              <c:pt idx="1">
                <c:v>0.16900000000000001</c:v>
              </c:pt>
              <c:pt idx="2">
                <c:v>0.36599999999999999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DCC-744D-9820-2DC4384D5182}"/>
            </c:ext>
          </c:extLst>
        </c:ser>
        <c:ser>
          <c:idx val="1"/>
          <c:order val="1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0.17</c:v>
              </c:pt>
              <c:pt idx="1">
                <c:v>0.22700000000000001</c:v>
              </c:pt>
              <c:pt idx="2">
                <c:v>0.27100000000000002</c:v>
              </c:pt>
              <c:pt idx="3">
                <c:v>0.28499999999999998</c:v>
              </c:pt>
              <c:pt idx="4">
                <c:v>0.25600000000000001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DCC-744D-9820-2DC4384D5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0.999</c:v>
              </c:pt>
              <c:pt idx="4">
                <c:v>0.998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B1F-AD42-B26B-D1FFEAA90D52}"/>
            </c:ext>
          </c:extLst>
        </c:ser>
        <c:ser>
          <c:idx val="1"/>
          <c:order val="1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0.19500000000000001</c:v>
              </c:pt>
              <c:pt idx="1">
                <c:v>0.13</c:v>
              </c:pt>
              <c:pt idx="2">
                <c:v>0.127</c:v>
              </c:pt>
              <c:pt idx="3">
                <c:v>0.16400000000000001</c:v>
              </c:pt>
              <c:pt idx="4">
                <c:v>0.307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B1F-AD42-B26B-D1FFEAA90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1E-3</c:v>
                </c:pt>
                <c:pt idx="4">
                  <c:v>1E-3</c:v>
                </c:pt>
              </c:numLit>
            </c:plus>
            <c:min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1E-3</c:v>
                </c:pt>
                <c:pt idx="4">
                  <c:v>1E-3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1E-3</c:v>
              </c:pt>
              <c:pt idx="4">
                <c:v>1E-3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DC-604B-838A-5E2CC25C34D6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7.0000000000000001E-3</c:v>
              </c:pt>
              <c:pt idx="2">
                <c:v>5.0999999999999997E-2</c:v>
              </c:pt>
              <c:pt idx="3">
                <c:v>0.112</c:v>
              </c:pt>
              <c:pt idx="4">
                <c:v>6.3E-2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DC-604B-838A-5E2CC25C34D6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6.4000000000000001E-2</c:v>
                </c:pt>
                <c:pt idx="1">
                  <c:v>9.7000000000000003E-2</c:v>
                </c:pt>
                <c:pt idx="2">
                  <c:v>6.8000000000000005E-2</c:v>
                </c:pt>
                <c:pt idx="3">
                  <c:v>5.0000000000000001E-3</c:v>
                </c:pt>
                <c:pt idx="4">
                  <c:v>1.0999999999999999E-2</c:v>
                </c:pt>
              </c:numLit>
            </c:plus>
            <c:minus>
              <c:numLit>
                <c:formatCode>General</c:formatCode>
                <c:ptCount val="5"/>
                <c:pt idx="0">
                  <c:v>3.6999999999999998E-2</c:v>
                </c:pt>
                <c:pt idx="1">
                  <c:v>8.6999999999999994E-2</c:v>
                </c:pt>
                <c:pt idx="2">
                  <c:v>6.8000000000000005E-2</c:v>
                </c:pt>
                <c:pt idx="3">
                  <c:v>5.0000000000000001E-3</c:v>
                </c:pt>
                <c:pt idx="4">
                  <c:v>1.0999999999999999E-2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3.6999999999999998E-2</c:v>
              </c:pt>
              <c:pt idx="1">
                <c:v>8.6999999999999994E-2</c:v>
              </c:pt>
              <c:pt idx="2">
                <c:v>0.10299999999999999</c:v>
              </c:pt>
              <c:pt idx="3">
                <c:v>2.5999999999999999E-2</c:v>
              </c:pt>
              <c:pt idx="4">
                <c:v>2.5999999999999999E-2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87DC-604B-838A-5E2CC25C34D6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87DC-604B-838A-5E2CC25C34D6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3.0000000000000001E-3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3.0000000000000001E-3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87DC-604B-838A-5E2CC25C34D6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4.2999999999999997E-2</c:v>
              </c:pt>
              <c:pt idx="1">
                <c:v>8.9999999999999993E-3</c:v>
              </c:pt>
              <c:pt idx="2">
                <c:v>0.1</c:v>
              </c:pt>
              <c:pt idx="3">
                <c:v>0.155</c:v>
              </c:pt>
              <c:pt idx="4">
                <c:v>3.9E-2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87DC-604B-838A-5E2CC25C34D6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0.1</c:v>
                </c:pt>
                <c:pt idx="1">
                  <c:v>3.4000000000000002E-2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0.06</c:v>
                </c:pt>
                <c:pt idx="1">
                  <c:v>2.7E-2</c:v>
                </c:pt>
                <c:pt idx="2">
                  <c:v>0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0.06</c:v>
              </c:pt>
              <c:pt idx="1">
                <c:v>2.7E-2</c:v>
              </c:pt>
              <c:pt idx="2">
                <c:v>0.01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87DC-604B-838A-5E2CC25C34D6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2.5000000000000001E-2</c:v>
              </c:pt>
              <c:pt idx="1">
                <c:v>1.2999999999999999E-2</c:v>
              </c:pt>
              <c:pt idx="2">
                <c:v>7.0000000000000001E-3</c:v>
              </c:pt>
              <c:pt idx="3">
                <c:v>5.5E-2</c:v>
              </c:pt>
              <c:pt idx="4">
                <c:v>9.7000000000000003E-2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87DC-604B-838A-5E2CC25C34D6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0.99199999999999999</c:v>
              </c:pt>
              <c:pt idx="1">
                <c:v>0.98399999999999999</c:v>
              </c:pt>
              <c:pt idx="2">
                <c:v>0.93500000000000005</c:v>
              </c:pt>
              <c:pt idx="3">
                <c:v>0.77100000000000002</c:v>
              </c:pt>
              <c:pt idx="4">
                <c:v>0.752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87DC-604B-838A-5E2CC25C34D6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87DC-604B-838A-5E2CC25C3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0.02</c:v>
                </c:pt>
                <c:pt idx="2">
                  <c:v>3.0000000000000001E-3</c:v>
                </c:pt>
                <c:pt idx="3">
                  <c:v>2.1999999999999999E-2</c:v>
                </c:pt>
                <c:pt idx="4">
                  <c:v>4.0000000000000001E-3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0.02</c:v>
                </c:pt>
                <c:pt idx="2">
                  <c:v>3.0000000000000001E-3</c:v>
                </c:pt>
                <c:pt idx="3">
                  <c:v>2.1999999999999999E-2</c:v>
                </c:pt>
                <c:pt idx="4">
                  <c:v>4.0000000000000001E-3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4.7E-2</c:v>
              </c:pt>
              <c:pt idx="1">
                <c:v>3.3000000000000002E-2</c:v>
              </c:pt>
              <c:pt idx="2">
                <c:v>3.4000000000000002E-2</c:v>
              </c:pt>
              <c:pt idx="3">
                <c:v>9.4E-2</c:v>
              </c:pt>
              <c:pt idx="4">
                <c:v>9.2999999999999999E-2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D71-204B-9AAC-7DB416F742EA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5.3999999999999999E-2</c:v>
              </c:pt>
              <c:pt idx="1">
                <c:v>5.0999999999999997E-2</c:v>
              </c:pt>
              <c:pt idx="2">
                <c:v>5.0999999999999997E-2</c:v>
              </c:pt>
              <c:pt idx="3">
                <c:v>9.8000000000000004E-2</c:v>
              </c:pt>
              <c:pt idx="4">
                <c:v>9.7000000000000003E-2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D71-204B-9AAC-7DB416F742EA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2.1000000000000001E-2</c:v>
                </c:pt>
                <c:pt idx="1">
                  <c:v>4.8000000000000001E-2</c:v>
                </c:pt>
                <c:pt idx="2">
                  <c:v>3.5999999999999997E-2</c:v>
                </c:pt>
                <c:pt idx="3">
                  <c:v>2.1000000000000001E-2</c:v>
                </c:pt>
                <c:pt idx="4">
                  <c:v>0.01</c:v>
                </c:pt>
              </c:numLit>
            </c:plus>
            <c:minus>
              <c:numLit>
                <c:formatCode>General</c:formatCode>
                <c:ptCount val="5"/>
                <c:pt idx="0">
                  <c:v>2.1000000000000001E-2</c:v>
                </c:pt>
                <c:pt idx="1">
                  <c:v>4.8000000000000001E-2</c:v>
                </c:pt>
                <c:pt idx="2">
                  <c:v>3.5999999999999997E-2</c:v>
                </c:pt>
                <c:pt idx="3">
                  <c:v>2.1000000000000001E-2</c:v>
                </c:pt>
                <c:pt idx="4">
                  <c:v>0.01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0.124</c:v>
              </c:pt>
              <c:pt idx="1">
                <c:v>0.28100000000000003</c:v>
              </c:pt>
              <c:pt idx="2">
                <c:v>0.27600000000000002</c:v>
              </c:pt>
              <c:pt idx="3">
                <c:v>0.23300000000000001</c:v>
              </c:pt>
              <c:pt idx="4">
                <c:v>6.2E-2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D71-204B-9AAC-7DB416F742EA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5.0999999999999997E-2</c:v>
              </c:pt>
              <c:pt idx="1">
                <c:v>6.0999999999999999E-2</c:v>
              </c:pt>
              <c:pt idx="2">
                <c:v>6.2E-2</c:v>
              </c:pt>
              <c:pt idx="3">
                <c:v>5.1999999999999998E-2</c:v>
              </c:pt>
              <c:pt idx="4">
                <c:v>9.6000000000000002E-2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ED71-204B-9AAC-7DB416F742EA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2.7E-2</c:v>
                </c:pt>
                <c:pt idx="1">
                  <c:v>1.4E-2</c:v>
                </c:pt>
                <c:pt idx="2">
                  <c:v>8.0000000000000002E-3</c:v>
                </c:pt>
                <c:pt idx="3">
                  <c:v>2E-3</c:v>
                </c:pt>
                <c:pt idx="4">
                  <c:v>2E-3</c:v>
                </c:pt>
              </c:numLit>
            </c:plus>
            <c:minus>
              <c:numLit>
                <c:formatCode>General</c:formatCode>
                <c:ptCount val="5"/>
                <c:pt idx="0">
                  <c:v>2.7E-2</c:v>
                </c:pt>
                <c:pt idx="1">
                  <c:v>1.4E-2</c:v>
                </c:pt>
                <c:pt idx="2">
                  <c:v>8.0000000000000002E-3</c:v>
                </c:pt>
                <c:pt idx="3">
                  <c:v>2E-3</c:v>
                </c:pt>
                <c:pt idx="4">
                  <c:v>2E-3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6.9000000000000006E-2</c:v>
              </c:pt>
              <c:pt idx="1">
                <c:v>5.0999999999999997E-2</c:v>
              </c:pt>
              <c:pt idx="2">
                <c:v>0.05</c:v>
              </c:pt>
              <c:pt idx="3">
                <c:v>4.3999999999999997E-2</c:v>
              </c:pt>
              <c:pt idx="4">
                <c:v>4.3999999999999997E-2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ED71-204B-9AAC-7DB416F742EA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5.3999999999999999E-2</c:v>
              </c:pt>
              <c:pt idx="1">
                <c:v>5.3999999999999999E-2</c:v>
              </c:pt>
              <c:pt idx="2">
                <c:v>5.0999999999999997E-2</c:v>
              </c:pt>
              <c:pt idx="3">
                <c:v>5.8999999999999997E-2</c:v>
              </c:pt>
              <c:pt idx="4">
                <c:v>0.106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ED71-204B-9AAC-7DB416F742EA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1.7000000000000001E-2</c:v>
                </c:pt>
                <c:pt idx="1">
                  <c:v>1.6E-2</c:v>
                </c:pt>
                <c:pt idx="2">
                  <c:v>6.0000000000000001E-3</c:v>
                </c:pt>
                <c:pt idx="3">
                  <c:v>1.2E-2</c:v>
                </c:pt>
              </c:numLit>
            </c:plus>
            <c:minus>
              <c:numLit>
                <c:formatCode>General</c:formatCode>
                <c:ptCount val="5"/>
                <c:pt idx="0">
                  <c:v>1.7000000000000001E-2</c:v>
                </c:pt>
                <c:pt idx="1">
                  <c:v>1.6E-2</c:v>
                </c:pt>
                <c:pt idx="2">
                  <c:v>6.0000000000000001E-3</c:v>
                </c:pt>
                <c:pt idx="3">
                  <c:v>1.2E-2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5.5E-2</c:v>
              </c:pt>
              <c:pt idx="1">
                <c:v>7.3999999999999996E-2</c:v>
              </c:pt>
              <c:pt idx="2">
                <c:v>7.9000000000000001E-2</c:v>
              </c:pt>
              <c:pt idx="3">
                <c:v>7.3999999999999996E-2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ED71-204B-9AAC-7DB416F742EA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5.8000000000000003E-2</c:v>
              </c:pt>
              <c:pt idx="1">
                <c:v>6.2E-2</c:v>
              </c:pt>
              <c:pt idx="2">
                <c:v>8.4000000000000005E-2</c:v>
              </c:pt>
              <c:pt idx="3">
                <c:v>7.5999999999999998E-2</c:v>
              </c:pt>
              <c:pt idx="4">
                <c:v>8.3000000000000004E-2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ED71-204B-9AAC-7DB416F742EA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ED71-204B-9AAC-7DB416F742EA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0.157</c:v>
              </c:pt>
              <c:pt idx="1">
                <c:v>5.3999999999999999E-2</c:v>
              </c:pt>
              <c:pt idx="2">
                <c:v>0.151</c:v>
              </c:pt>
              <c:pt idx="3">
                <c:v>0.16200000000000001</c:v>
              </c:pt>
              <c:pt idx="4">
                <c:v>0.26400000000000001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ED71-204B-9AAC-7DB416F74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base</c:v>
          </c:tx>
          <c:spPr>
            <a:ln>
              <a:noFill/>
            </a:ln>
          </c:spPr>
          <c:marker>
            <c:symbol val="none"/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03-664A-A02D-1258121B8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4.8000000000000001E-2</c:v>
                </c:pt>
                <c:pt idx="1">
                  <c:v>4.1000000000000002E-2</c:v>
                </c:pt>
                <c:pt idx="2">
                  <c:v>3.5000000000000003E-2</c:v>
                </c:pt>
                <c:pt idx="3">
                  <c:v>4.2999999999999997E-2</c:v>
                </c:pt>
                <c:pt idx="4">
                  <c:v>1.7000000000000001E-2</c:v>
                </c:pt>
              </c:numLit>
            </c:plus>
            <c:minus>
              <c:numLit>
                <c:formatCode>General</c:formatCode>
                <c:ptCount val="5"/>
                <c:pt idx="0">
                  <c:v>4.7E-2</c:v>
                </c:pt>
                <c:pt idx="1">
                  <c:v>4.1000000000000002E-2</c:v>
                </c:pt>
                <c:pt idx="2">
                  <c:v>3.5000000000000003E-2</c:v>
                </c:pt>
                <c:pt idx="3">
                  <c:v>4.2999999999999997E-2</c:v>
                </c:pt>
                <c:pt idx="4">
                  <c:v>1.7000000000000001E-2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4.7E-2</c:v>
              </c:pt>
              <c:pt idx="1">
                <c:v>4.1000000000000002E-2</c:v>
              </c:pt>
              <c:pt idx="2">
                <c:v>0.125</c:v>
              </c:pt>
              <c:pt idx="3">
                <c:v>0.19400000000000001</c:v>
              </c:pt>
              <c:pt idx="4">
                <c:v>0.123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383-8041-BDE3-50DBC6B0ADCE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5.2999999999999999E-2</c:v>
              </c:pt>
              <c:pt idx="1">
                <c:v>3.9E-2</c:v>
              </c:pt>
              <c:pt idx="2">
                <c:v>0.128</c:v>
              </c:pt>
              <c:pt idx="3">
                <c:v>0.20499999999999999</c:v>
              </c:pt>
              <c:pt idx="4">
                <c:v>0.14699999999999999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383-8041-BDE3-50DBC6B0AD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0.122</c:v>
                </c:pt>
                <c:pt idx="1">
                  <c:v>1.7999999999999999E-2</c:v>
                </c:pt>
                <c:pt idx="2">
                  <c:v>4.1000000000000002E-2</c:v>
                </c:pt>
                <c:pt idx="3">
                  <c:v>8.9999999999999993E-3</c:v>
                </c:pt>
                <c:pt idx="4">
                  <c:v>4.3999999999999997E-2</c:v>
                </c:pt>
              </c:numLit>
            </c:plus>
            <c:minus>
              <c:numLit>
                <c:formatCode>General</c:formatCode>
                <c:ptCount val="5"/>
                <c:pt idx="0">
                  <c:v>0.122</c:v>
                </c:pt>
                <c:pt idx="1">
                  <c:v>1.7999999999999999E-2</c:v>
                </c:pt>
                <c:pt idx="2">
                  <c:v>4.1000000000000002E-2</c:v>
                </c:pt>
                <c:pt idx="3">
                  <c:v>8.9999999999999993E-3</c:v>
                </c:pt>
                <c:pt idx="4">
                  <c:v>4.3999999999999997E-2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0.41</c:v>
              </c:pt>
              <c:pt idx="1">
                <c:v>0.73299999999999998</c:v>
              </c:pt>
              <c:pt idx="2">
                <c:v>0.622</c:v>
              </c:pt>
              <c:pt idx="3">
                <c:v>0.47899999999999998</c:v>
              </c:pt>
              <c:pt idx="4">
                <c:v>0.40799999999999997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A58-654D-B027-592B7E7DBC38}"/>
            </c:ext>
          </c:extLst>
        </c:ser>
        <c:ser>
          <c:idx val="1"/>
          <c:order val="1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3.6999999999999998E-2</c:v>
              </c:pt>
              <c:pt idx="1">
                <c:v>5.3999999999999999E-2</c:v>
              </c:pt>
              <c:pt idx="2">
                <c:v>7.9000000000000001E-2</c:v>
              </c:pt>
              <c:pt idx="3">
                <c:v>0.17899999999999999</c:v>
              </c:pt>
              <c:pt idx="4">
                <c:v>0.13200000000000001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A58-654D-B027-592B7E7DB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0.26</c:v>
                </c:pt>
                <c:pt idx="1">
                  <c:v>3.6999999999999998E-2</c:v>
                </c:pt>
                <c:pt idx="2">
                  <c:v>9.2999999999999999E-2</c:v>
                </c:pt>
                <c:pt idx="3">
                  <c:v>4.0000000000000001E-3</c:v>
                </c:pt>
                <c:pt idx="4">
                  <c:v>7.0000000000000001E-3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0.33100000000000002</c:v>
                </c:pt>
                <c:pt idx="1">
                  <c:v>3.6999999999999998E-2</c:v>
                </c:pt>
                <c:pt idx="2">
                  <c:v>9.2999999999999999E-2</c:v>
                </c:pt>
                <c:pt idx="3">
                  <c:v>4.0000000000000001E-3</c:v>
                </c:pt>
                <c:pt idx="4">
                  <c:v>7.0000000000000001E-3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0.74</c:v>
              </c:pt>
              <c:pt idx="1">
                <c:v>0.58399999999999996</c:v>
              </c:pt>
              <c:pt idx="2">
                <c:v>0.318</c:v>
              </c:pt>
              <c:pt idx="3">
                <c:v>0.14599999999999999</c:v>
              </c:pt>
              <c:pt idx="4">
                <c:v>0.08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49D-2F4E-9132-0F6416856C60}"/>
            </c:ext>
          </c:extLst>
        </c:ser>
        <c:ser>
          <c:idx val="1"/>
          <c:order val="1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</c:v>
              </c:pt>
              <c:pt idx="1">
                <c:v>7.1999999999999995E-2</c:v>
              </c:pt>
              <c:pt idx="2">
                <c:v>0.14000000000000001</c:v>
              </c:pt>
              <c:pt idx="3">
                <c:v>0.22</c:v>
              </c:pt>
              <c:pt idx="4">
                <c:v>0.16700000000000001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49D-2F4E-9132-0F6416856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0.01</c:v>
                </c:pt>
                <c:pt idx="1">
                  <c:v>0.214</c:v>
                </c:pt>
                <c:pt idx="2">
                  <c:v>5.3999999999999999E-2</c:v>
                </c:pt>
              </c:numLit>
            </c:plus>
            <c:minus>
              <c:numLit>
                <c:formatCode>General</c:formatCode>
                <c:ptCount val="5"/>
                <c:pt idx="0">
                  <c:v>0.01</c:v>
                </c:pt>
                <c:pt idx="1">
                  <c:v>0.16900000000000001</c:v>
                </c:pt>
                <c:pt idx="2">
                  <c:v>5.3999999999999999E-2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0.125</c:v>
              </c:pt>
              <c:pt idx="1">
                <c:v>0.16900000000000001</c:v>
              </c:pt>
              <c:pt idx="2">
                <c:v>0.36599999999999999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DCC-744D-9820-2DC4384D5182}"/>
            </c:ext>
          </c:extLst>
        </c:ser>
        <c:ser>
          <c:idx val="1"/>
          <c:order val="1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0.17</c:v>
              </c:pt>
              <c:pt idx="1">
                <c:v>0.22700000000000001</c:v>
              </c:pt>
              <c:pt idx="2">
                <c:v>0.27100000000000002</c:v>
              </c:pt>
              <c:pt idx="3">
                <c:v>0.28499999999999998</c:v>
              </c:pt>
              <c:pt idx="4">
                <c:v>0.25600000000000001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DCC-744D-9820-2DC4384D5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0.999</c:v>
              </c:pt>
              <c:pt idx="4">
                <c:v>0.998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B1F-AD42-B26B-D1FFEAA90D52}"/>
            </c:ext>
          </c:extLst>
        </c:ser>
        <c:ser>
          <c:idx val="1"/>
          <c:order val="1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0.19500000000000001</c:v>
              </c:pt>
              <c:pt idx="1">
                <c:v>0.13</c:v>
              </c:pt>
              <c:pt idx="2">
                <c:v>0.127</c:v>
              </c:pt>
              <c:pt idx="3">
                <c:v>0.16400000000000001</c:v>
              </c:pt>
              <c:pt idx="4">
                <c:v>0.307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B1F-AD42-B26B-D1FFEAA90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noFill/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1E-3</c:v>
                </c:pt>
                <c:pt idx="4">
                  <c:v>1E-3</c:v>
                </c:pt>
              </c:numLit>
            </c:plus>
            <c:minus>
              <c:numLit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1E-3</c:v>
                </c:pt>
                <c:pt idx="4">
                  <c:v>1E-3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1E-3</c:v>
              </c:pt>
              <c:pt idx="4">
                <c:v>1E-3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DC-604B-838A-5E2CC25C34D6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7.0000000000000001E-3</c:v>
              </c:pt>
              <c:pt idx="2">
                <c:v>5.0999999999999997E-2</c:v>
              </c:pt>
              <c:pt idx="3">
                <c:v>0.112</c:v>
              </c:pt>
              <c:pt idx="4">
                <c:v>6.3E-2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DC-604B-838A-5E2CC25C34D6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6.4000000000000001E-2</c:v>
                </c:pt>
                <c:pt idx="1">
                  <c:v>9.7000000000000003E-2</c:v>
                </c:pt>
                <c:pt idx="2">
                  <c:v>6.8000000000000005E-2</c:v>
                </c:pt>
                <c:pt idx="3">
                  <c:v>5.0000000000000001E-3</c:v>
                </c:pt>
                <c:pt idx="4">
                  <c:v>1.0999999999999999E-2</c:v>
                </c:pt>
              </c:numLit>
            </c:plus>
            <c:minus>
              <c:numLit>
                <c:formatCode>General</c:formatCode>
                <c:ptCount val="5"/>
                <c:pt idx="0">
                  <c:v>3.6999999999999998E-2</c:v>
                </c:pt>
                <c:pt idx="1">
                  <c:v>8.6999999999999994E-2</c:v>
                </c:pt>
                <c:pt idx="2">
                  <c:v>6.8000000000000005E-2</c:v>
                </c:pt>
                <c:pt idx="3">
                  <c:v>5.0000000000000001E-3</c:v>
                </c:pt>
                <c:pt idx="4">
                  <c:v>1.0999999999999999E-2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3.6999999999999998E-2</c:v>
              </c:pt>
              <c:pt idx="1">
                <c:v>8.6999999999999994E-2</c:v>
              </c:pt>
              <c:pt idx="2">
                <c:v>0.10299999999999999</c:v>
              </c:pt>
              <c:pt idx="3">
                <c:v>2.5999999999999999E-2</c:v>
              </c:pt>
              <c:pt idx="4">
                <c:v>2.5999999999999999E-2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87DC-604B-838A-5E2CC25C34D6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87DC-604B-838A-5E2CC25C34D6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3.0000000000000001E-3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3.0000000000000001E-3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87DC-604B-838A-5E2CC25C34D6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4.2999999999999997E-2</c:v>
              </c:pt>
              <c:pt idx="1">
                <c:v>8.9999999999999993E-3</c:v>
              </c:pt>
              <c:pt idx="2">
                <c:v>0.1</c:v>
              </c:pt>
              <c:pt idx="3">
                <c:v>0.155</c:v>
              </c:pt>
              <c:pt idx="4">
                <c:v>3.9E-2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87DC-604B-838A-5E2CC25C34D6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0.1</c:v>
                </c:pt>
                <c:pt idx="1">
                  <c:v>3.4000000000000002E-2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5"/>
                <c:pt idx="0">
                  <c:v>0.06</c:v>
                </c:pt>
                <c:pt idx="1">
                  <c:v>2.7E-2</c:v>
                </c:pt>
                <c:pt idx="2">
                  <c:v>0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0.06</c:v>
              </c:pt>
              <c:pt idx="1">
                <c:v>2.7E-2</c:v>
              </c:pt>
              <c:pt idx="2">
                <c:v>0.01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87DC-604B-838A-5E2CC25C34D6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2.5000000000000001E-2</c:v>
              </c:pt>
              <c:pt idx="1">
                <c:v>1.2999999999999999E-2</c:v>
              </c:pt>
              <c:pt idx="2">
                <c:v>7.0000000000000001E-3</c:v>
              </c:pt>
              <c:pt idx="3">
                <c:v>5.5E-2</c:v>
              </c:pt>
              <c:pt idx="4">
                <c:v>9.7000000000000003E-2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87DC-604B-838A-5E2CC25C34D6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0.99199999999999999</c:v>
              </c:pt>
              <c:pt idx="1">
                <c:v>0.98399999999999999</c:v>
              </c:pt>
              <c:pt idx="2">
                <c:v>0.93500000000000005</c:v>
              </c:pt>
              <c:pt idx="3">
                <c:v>0.77100000000000002</c:v>
              </c:pt>
              <c:pt idx="4">
                <c:v>0.752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87DC-604B-838A-5E2CC25C34D6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87DC-604B-838A-5E2CC25C3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2"/>
        </c:manualLayout>
      </c:layout>
      <c:lineChart>
        <c:grouping val="standard"/>
        <c:varyColors val="0"/>
        <c:ser>
          <c:idx val="0"/>
          <c:order val="0"/>
          <c:tx>
            <c:v>Grad-Dot</c:v>
          </c:tx>
          <c:spPr>
            <a:ln w="25400" cap="rnd">
              <a:solidFill>
                <a:srgbClr val="0072B2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72B2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0.02</c:v>
                </c:pt>
                <c:pt idx="2">
                  <c:v>3.0000000000000001E-3</c:v>
                </c:pt>
                <c:pt idx="3">
                  <c:v>2.1999999999999999E-2</c:v>
                </c:pt>
                <c:pt idx="4">
                  <c:v>4.0000000000000001E-3</c:v>
                </c:pt>
              </c:numLit>
            </c:plus>
            <c:minus>
              <c:numLit>
                <c:formatCode>General</c:formatCode>
                <c:ptCount val="5"/>
                <c:pt idx="0">
                  <c:v>7.0000000000000001E-3</c:v>
                </c:pt>
                <c:pt idx="1">
                  <c:v>0.02</c:v>
                </c:pt>
                <c:pt idx="2">
                  <c:v>3.0000000000000001E-3</c:v>
                </c:pt>
                <c:pt idx="3">
                  <c:v>2.1999999999999999E-2</c:v>
                </c:pt>
                <c:pt idx="4">
                  <c:v>4.0000000000000001E-3</c:v>
                </c:pt>
              </c:numLit>
            </c:minus>
            <c:spPr>
              <a:ln w="12700" cap="rnd">
                <a:solidFill>
                  <a:srgbClr val="0072B2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4.7E-2</c:v>
              </c:pt>
              <c:pt idx="1">
                <c:v>3.3000000000000002E-2</c:v>
              </c:pt>
              <c:pt idx="2">
                <c:v>3.4000000000000002E-2</c:v>
              </c:pt>
              <c:pt idx="3">
                <c:v>9.4E-2</c:v>
              </c:pt>
              <c:pt idx="4">
                <c:v>9.2999999999999999E-2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D71-204B-9AAC-7DB416F742EA}"/>
            </c:ext>
          </c:extLst>
        </c:ser>
        <c:ser>
          <c:idx val="1"/>
          <c:order val="1"/>
          <c:tx>
            <c:v>Grad-Cos</c:v>
          </c:tx>
          <c:spPr>
            <a:ln w="19050" cap="rnd">
              <a:solidFill>
                <a:srgbClr val="73B1D5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B1D5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5.3999999999999999E-2</c:v>
              </c:pt>
              <c:pt idx="1">
                <c:v>5.0999999999999997E-2</c:v>
              </c:pt>
              <c:pt idx="2">
                <c:v>5.0999999999999997E-2</c:v>
              </c:pt>
              <c:pt idx="3">
                <c:v>9.8000000000000004E-2</c:v>
              </c:pt>
              <c:pt idx="4">
                <c:v>9.7000000000000003E-2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D71-204B-9AAC-7DB416F742EA}"/>
            </c:ext>
          </c:extLst>
        </c:ser>
        <c:ser>
          <c:idx val="2"/>
          <c:order val="2"/>
          <c:tx>
            <c:v>EK-FAC</c:v>
          </c:tx>
          <c:spPr>
            <a:ln w="25400" cap="rnd">
              <a:solidFill>
                <a:srgbClr val="D55E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D55E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2.1000000000000001E-2</c:v>
                </c:pt>
                <c:pt idx="1">
                  <c:v>4.8000000000000001E-2</c:v>
                </c:pt>
                <c:pt idx="2">
                  <c:v>3.5999999999999997E-2</c:v>
                </c:pt>
                <c:pt idx="3">
                  <c:v>2.1000000000000001E-2</c:v>
                </c:pt>
                <c:pt idx="4">
                  <c:v>0.01</c:v>
                </c:pt>
              </c:numLit>
            </c:plus>
            <c:minus>
              <c:numLit>
                <c:formatCode>General</c:formatCode>
                <c:ptCount val="5"/>
                <c:pt idx="0">
                  <c:v>2.1000000000000001E-2</c:v>
                </c:pt>
                <c:pt idx="1">
                  <c:v>4.8000000000000001E-2</c:v>
                </c:pt>
                <c:pt idx="2">
                  <c:v>3.5999999999999997E-2</c:v>
                </c:pt>
                <c:pt idx="3">
                  <c:v>2.1000000000000001E-2</c:v>
                </c:pt>
                <c:pt idx="4">
                  <c:v>0.01</c:v>
                </c:pt>
              </c:numLit>
            </c:minus>
            <c:spPr>
              <a:ln w="12700" cap="rnd">
                <a:solidFill>
                  <a:srgbClr val="D55E00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0.124</c:v>
              </c:pt>
              <c:pt idx="1">
                <c:v>0.28100000000000003</c:v>
              </c:pt>
              <c:pt idx="2">
                <c:v>0.27600000000000002</c:v>
              </c:pt>
              <c:pt idx="3">
                <c:v>0.23300000000000001</c:v>
              </c:pt>
              <c:pt idx="4">
                <c:v>6.2E-2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D71-204B-9AAC-7DB416F742EA}"/>
            </c:ext>
          </c:extLst>
        </c:ser>
        <c:ser>
          <c:idx val="3"/>
          <c:order val="3"/>
          <c:tx>
            <c:v>LoGra</c:v>
          </c:tx>
          <c:spPr>
            <a:ln w="19050" cap="rnd">
              <a:solidFill>
                <a:srgbClr val="E69E66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E69E66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5.0999999999999997E-2</c:v>
              </c:pt>
              <c:pt idx="1">
                <c:v>6.0999999999999999E-2</c:v>
              </c:pt>
              <c:pt idx="2">
                <c:v>6.2E-2</c:v>
              </c:pt>
              <c:pt idx="3">
                <c:v>5.1999999999999998E-2</c:v>
              </c:pt>
              <c:pt idx="4">
                <c:v>9.6000000000000002E-2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ED71-204B-9AAC-7DB416F742EA}"/>
            </c:ext>
          </c:extLst>
        </c:ser>
        <c:ser>
          <c:idx val="4"/>
          <c:order val="4"/>
          <c:tx>
            <c:v>TRAK</c:v>
          </c:tx>
          <c:spPr>
            <a:ln w="25400" cap="rnd">
              <a:solidFill>
                <a:srgbClr val="009E73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9E73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2.7E-2</c:v>
                </c:pt>
                <c:pt idx="1">
                  <c:v>1.4E-2</c:v>
                </c:pt>
                <c:pt idx="2">
                  <c:v>8.0000000000000002E-3</c:v>
                </c:pt>
                <c:pt idx="3">
                  <c:v>2E-3</c:v>
                </c:pt>
                <c:pt idx="4">
                  <c:v>2E-3</c:v>
                </c:pt>
              </c:numLit>
            </c:plus>
            <c:minus>
              <c:numLit>
                <c:formatCode>General</c:formatCode>
                <c:ptCount val="5"/>
                <c:pt idx="0">
                  <c:v>2.7E-2</c:v>
                </c:pt>
                <c:pt idx="1">
                  <c:v>1.4E-2</c:v>
                </c:pt>
                <c:pt idx="2">
                  <c:v>8.0000000000000002E-3</c:v>
                </c:pt>
                <c:pt idx="3">
                  <c:v>2E-3</c:v>
                </c:pt>
                <c:pt idx="4">
                  <c:v>2E-3</c:v>
                </c:pt>
              </c:numLit>
            </c:minus>
            <c:spPr>
              <a:ln w="12700" cap="rnd">
                <a:solidFill>
                  <a:srgbClr val="009E73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6.9000000000000006E-2</c:v>
              </c:pt>
              <c:pt idx="1">
                <c:v>5.0999999999999997E-2</c:v>
              </c:pt>
              <c:pt idx="2">
                <c:v>0.05</c:v>
              </c:pt>
              <c:pt idx="3">
                <c:v>4.3999999999999997E-2</c:v>
              </c:pt>
              <c:pt idx="4">
                <c:v>4.3999999999999997E-2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ED71-204B-9AAC-7DB416F742EA}"/>
            </c:ext>
          </c:extLst>
        </c:ser>
        <c:ser>
          <c:idx val="5"/>
          <c:order val="5"/>
          <c:tx>
            <c:v>TrackStar</c:v>
          </c:tx>
          <c:spPr>
            <a:ln w="19050" cap="rnd">
              <a:solidFill>
                <a:srgbClr val="73C9B2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73C9B2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5.3999999999999999E-2</c:v>
              </c:pt>
              <c:pt idx="1">
                <c:v>5.3999999999999999E-2</c:v>
              </c:pt>
              <c:pt idx="2">
                <c:v>5.0999999999999997E-2</c:v>
              </c:pt>
              <c:pt idx="3">
                <c:v>5.8999999999999997E-2</c:v>
              </c:pt>
              <c:pt idx="4">
                <c:v>0.106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ED71-204B-9AAC-7DB416F742EA}"/>
            </c:ext>
          </c:extLst>
        </c:ser>
        <c:ser>
          <c:idx val="6"/>
          <c:order val="6"/>
          <c:tx>
            <c:v>TracIn</c:v>
          </c:tx>
          <c:spPr>
            <a:ln w="25400" cap="rnd">
              <a:solidFill>
                <a:srgbClr val="CC79A7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CC79A7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1.7000000000000001E-2</c:v>
                </c:pt>
                <c:pt idx="1">
                  <c:v>1.6E-2</c:v>
                </c:pt>
                <c:pt idx="2">
                  <c:v>6.0000000000000001E-3</c:v>
                </c:pt>
                <c:pt idx="3">
                  <c:v>1.2E-2</c:v>
                </c:pt>
              </c:numLit>
            </c:plus>
            <c:minus>
              <c:numLit>
                <c:formatCode>General</c:formatCode>
                <c:ptCount val="5"/>
                <c:pt idx="0">
                  <c:v>1.7000000000000001E-2</c:v>
                </c:pt>
                <c:pt idx="1">
                  <c:v>1.6E-2</c:v>
                </c:pt>
                <c:pt idx="2">
                  <c:v>6.0000000000000001E-3</c:v>
                </c:pt>
                <c:pt idx="3">
                  <c:v>1.2E-2</c:v>
                </c:pt>
              </c:numLit>
            </c:minus>
            <c:spPr>
              <a:ln w="12700" cap="rnd">
                <a:solidFill>
                  <a:srgbClr val="CC79A7"/>
                </a:solidFill>
                <a:round/>
              </a:ln>
            </c:spPr>
          </c:errBars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5.5E-2</c:v>
              </c:pt>
              <c:pt idx="1">
                <c:v>7.3999999999999996E-2</c:v>
              </c:pt>
              <c:pt idx="2">
                <c:v>7.9000000000000001E-2</c:v>
              </c:pt>
              <c:pt idx="3">
                <c:v>7.3999999999999996E-2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ED71-204B-9AAC-7DB416F742EA}"/>
            </c:ext>
          </c:extLst>
        </c:ser>
        <c:ser>
          <c:idx val="7"/>
          <c:order val="7"/>
          <c:tx>
            <c:v>SOURCE</c:v>
          </c:tx>
          <c:spPr>
            <a:ln w="19050" cap="rnd">
              <a:solidFill>
                <a:srgbClr val="D9A3C4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D9A3C4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5.8000000000000003E-2</c:v>
              </c:pt>
              <c:pt idx="1">
                <c:v>6.2E-2</c:v>
              </c:pt>
              <c:pt idx="2">
                <c:v>8.4000000000000005E-2</c:v>
              </c:pt>
              <c:pt idx="3">
                <c:v>7.5999999999999998E-2</c:v>
              </c:pt>
              <c:pt idx="4">
                <c:v>8.3000000000000004E-2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ED71-204B-9AAC-7DB416F742EA}"/>
            </c:ext>
          </c:extLst>
        </c:ser>
        <c:ser>
          <c:idx val="8"/>
          <c:order val="8"/>
          <c:tx>
            <c:v>BM25</c:v>
          </c:tx>
          <c:spPr>
            <a:ln w="19050" cap="rnd">
              <a:solidFill>
                <a:srgbClr val="404040"/>
              </a:solidFill>
              <a:prstDash val="sysDot"/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ED71-204B-9AAC-7DB416F742EA}"/>
            </c:ext>
          </c:extLst>
        </c:ser>
        <c:ser>
          <c:idx val="9"/>
          <c:order val="9"/>
          <c:tx>
            <c:v>RepSim</c:v>
          </c:tx>
          <c:spPr>
            <a:ln w="19050" cap="rnd">
              <a:solidFill>
                <a:srgbClr val="8C8C8C"/>
              </a:solidFill>
              <a:prstDash val="dash"/>
              <a:round/>
            </a:ln>
          </c:spPr>
          <c:marker>
            <c:symbol val="circle"/>
            <c:size val="4"/>
            <c:spPr>
              <a:solidFill>
                <a:srgbClr val="8C8C8C"/>
              </a:solidFill>
              <a:ln>
                <a:noFill/>
              </a:ln>
            </c:spPr>
          </c:marker>
          <c:cat>
            <c:strLit>
              <c:ptCount val="5"/>
              <c:pt idx="0">
                <c:v>3</c:v>
              </c:pt>
              <c:pt idx="1">
                <c:v>5</c:v>
              </c:pt>
              <c:pt idx="2">
                <c:v>10</c:v>
              </c:pt>
              <c:pt idx="3">
                <c:v>30</c:v>
              </c:pt>
              <c:pt idx="4">
                <c:v>50</c:v>
              </c:pt>
            </c:strLit>
          </c:cat>
          <c:val>
            <c:numLit>
              <c:formatCode>General</c:formatCode>
              <c:ptCount val="5"/>
              <c:pt idx="0">
                <c:v>0.157</c:v>
              </c:pt>
              <c:pt idx="1">
                <c:v>5.3999999999999999E-2</c:v>
              </c:pt>
              <c:pt idx="2">
                <c:v>0.151</c:v>
              </c:pt>
              <c:pt idx="3">
                <c:v>0.16200000000000001</c:v>
              </c:pt>
              <c:pt idx="4">
                <c:v>0.26400000000000001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9-ED71-204B-9AAC-7DB416F74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600" b="0">
                <a:solidFill>
                  <a:srgbClr val="404040"/>
                </a:solidFill>
                <a:latin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600" b="0">
                <a:solidFill>
                  <a:srgbClr val="7F7F7F"/>
                </a:solidFill>
                <a:latin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solidFill>
              <a:srgbClr val="8FAADC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2.3599999999999999E-2</c:v>
                </c:pt>
                <c:pt idx="1">
                  <c:v>7.8799999999999995E-2</c:v>
                </c:pt>
                <c:pt idx="2">
                  <c:v>3.2500000000000001E-2</c:v>
                </c:pt>
              </c:numLit>
            </c:plus>
            <c:minus>
              <c:numLit>
                <c:formatCode>General</c:formatCode>
                <c:ptCount val="3"/>
                <c:pt idx="0">
                  <c:v>2.3599999999999999E-2</c:v>
                </c:pt>
                <c:pt idx="1">
                  <c:v>7.8799999999999995E-2</c:v>
                </c:pt>
                <c:pt idx="2">
                  <c:v>3.2500000000000001E-2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7.0800000000000002E-2</c:v>
              </c:pt>
              <c:pt idx="1">
                <c:v>0.58620000000000005</c:v>
              </c:pt>
              <c:pt idx="2">
                <c:v>0.14480000000000001</c:v>
              </c:pt>
            </c:numLit>
          </c:val>
          <c:extLst>
            <c:ext xmlns:c16="http://schemas.microsoft.com/office/drawing/2014/chart" uri="{C3380CC4-5D6E-409C-BE32-E72D297353CC}">
              <c16:uniqueId val="{00000000-0664-774D-BB5E-F1DEAC63DECD}"/>
            </c:ext>
          </c:extLst>
        </c:ser>
        <c:ser>
          <c:idx val="1"/>
          <c:order val="1"/>
          <c:tx>
            <c:v>Ours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0.99850000000000005</c:v>
              </c:pt>
              <c:pt idx="1">
                <c:v>0.99970000000000003</c:v>
              </c:pt>
              <c:pt idx="2">
                <c:v>0.99839999999999995</c:v>
              </c:pt>
            </c:numLit>
          </c:val>
          <c:extLst>
            <c:ext xmlns:c16="http://schemas.microsoft.com/office/drawing/2014/chart" uri="{C3380CC4-5D6E-409C-BE32-E72D297353CC}">
              <c16:uniqueId val="{00000001-0664-774D-BB5E-F1DEAC63D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solidFill>
              <a:srgbClr val="8FAADC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1.6999999999999999E-3</c:v>
                </c:pt>
                <c:pt idx="1">
                  <c:v>3.5999999999999997E-2</c:v>
                </c:pt>
                <c:pt idx="2">
                  <c:v>2.07E-2</c:v>
                </c:pt>
              </c:numLit>
            </c:plus>
            <c:minus>
              <c:numLit>
                <c:formatCode>General</c:formatCode>
                <c:ptCount val="3"/>
                <c:pt idx="0">
                  <c:v>1.5E-3</c:v>
                </c:pt>
                <c:pt idx="1">
                  <c:v>3.5999999999999997E-2</c:v>
                </c:pt>
                <c:pt idx="2">
                  <c:v>2.07E-2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1.5E-3</c:v>
              </c:pt>
              <c:pt idx="1">
                <c:v>6.3399999999999998E-2</c:v>
              </c:pt>
              <c:pt idx="2">
                <c:v>3.8300000000000001E-2</c:v>
              </c:pt>
            </c:numLit>
          </c:val>
          <c:extLst>
            <c:ext xmlns:c16="http://schemas.microsoft.com/office/drawing/2014/chart" uri="{C3380CC4-5D6E-409C-BE32-E72D297353CC}">
              <c16:uniqueId val="{00000000-B3CB-F444-9F09-73A983F9273F}"/>
            </c:ext>
          </c:extLst>
        </c:ser>
        <c:ser>
          <c:idx val="1"/>
          <c:order val="1"/>
          <c:tx>
            <c:v>Ours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0.99280000000000002</c:v>
              </c:pt>
              <c:pt idx="1">
                <c:v>0.99690000000000001</c:v>
              </c:pt>
              <c:pt idx="2">
                <c:v>0.99109999999999998</c:v>
              </c:pt>
            </c:numLit>
          </c:val>
          <c:extLst>
            <c:ext xmlns:c16="http://schemas.microsoft.com/office/drawing/2014/chart" uri="{C3380CC4-5D6E-409C-BE32-E72D297353CC}">
              <c16:uniqueId val="{00000001-B3CB-F444-9F09-73A983F927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solidFill>
              <a:srgbClr val="8FAADC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1.2200000000000001E-2</c:v>
                </c:pt>
                <c:pt idx="1">
                  <c:v>5.6300000000000003E-2</c:v>
                </c:pt>
                <c:pt idx="2">
                  <c:v>1.4200000000000001E-2</c:v>
                </c:pt>
              </c:numLit>
            </c:plus>
            <c:minus>
              <c:numLit>
                <c:formatCode>General</c:formatCode>
                <c:ptCount val="3"/>
                <c:pt idx="0">
                  <c:v>1.2200000000000001E-2</c:v>
                </c:pt>
                <c:pt idx="1">
                  <c:v>5.6300000000000003E-2</c:v>
                </c:pt>
                <c:pt idx="2">
                  <c:v>1.4200000000000001E-2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3.6200000000000003E-2</c:v>
              </c:pt>
              <c:pt idx="1">
                <c:v>0.20599999999999999</c:v>
              </c:pt>
              <c:pt idx="2">
                <c:v>5.33E-2</c:v>
              </c:pt>
            </c:numLit>
          </c:val>
          <c:extLst>
            <c:ext xmlns:c16="http://schemas.microsoft.com/office/drawing/2014/chart" uri="{C3380CC4-5D6E-409C-BE32-E72D297353CC}">
              <c16:uniqueId val="{00000000-9761-294D-B44D-4555938A19B7}"/>
            </c:ext>
          </c:extLst>
        </c:ser>
        <c:ser>
          <c:idx val="1"/>
          <c:order val="1"/>
          <c:tx>
            <c:v>Ours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0.31559999999999999</c:v>
              </c:pt>
              <c:pt idx="1">
                <c:v>0.59789999999999999</c:v>
              </c:pt>
              <c:pt idx="2">
                <c:v>0.26500000000000001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1-9761-294D-B44D-4555938A1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7.0800000000000002E-2</c:v>
              </c:pt>
              <c:pt idx="1">
                <c:v>0.58620000000000005</c:v>
              </c:pt>
              <c:pt idx="2">
                <c:v>0.14480000000000001</c:v>
              </c:pt>
            </c:numLit>
          </c:val>
          <c:extLst>
            <c:ext xmlns:c16="http://schemas.microsoft.com/office/drawing/2014/chart" uri="{C3380CC4-5D6E-409C-BE32-E72D297353CC}">
              <c16:uniqueId val="{00000000-2010-3945-91A7-A56CCD9B9400}"/>
            </c:ext>
          </c:extLst>
        </c:ser>
        <c:ser>
          <c:idx val="1"/>
          <c:order val="1"/>
          <c:tx>
            <c:v>Ours</c:v>
          </c:tx>
          <c:spPr>
            <a:solidFill>
              <a:srgbClr val="C00000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1.5E-3</c:v>
                </c:pt>
                <c:pt idx="1">
                  <c:v>2.9999999999999997E-4</c:v>
                </c:pt>
                <c:pt idx="2">
                  <c:v>1.6000000000000001E-3</c:v>
                </c:pt>
              </c:numLit>
            </c:plus>
            <c:minus>
              <c:numLit>
                <c:formatCode>General</c:formatCode>
                <c:ptCount val="3"/>
                <c:pt idx="0">
                  <c:v>2.3E-3</c:v>
                </c:pt>
                <c:pt idx="1">
                  <c:v>5.9999999999999995E-4</c:v>
                </c:pt>
                <c:pt idx="2">
                  <c:v>3.0000000000000001E-3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0.99850000000000005</c:v>
              </c:pt>
              <c:pt idx="1">
                <c:v>0.99970000000000003</c:v>
              </c:pt>
              <c:pt idx="2">
                <c:v>0.99839999999999995</c:v>
              </c:pt>
            </c:numLit>
          </c:val>
          <c:extLst>
            <c:ext xmlns:c16="http://schemas.microsoft.com/office/drawing/2014/chart" uri="{C3380CC4-5D6E-409C-BE32-E72D297353CC}">
              <c16:uniqueId val="{00000001-2010-3945-91A7-A56CCD9B9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one"/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1.5E-3</c:v>
              </c:pt>
              <c:pt idx="1">
                <c:v>6.3399999999999998E-2</c:v>
              </c:pt>
              <c:pt idx="2">
                <c:v>3.8300000000000001E-2</c:v>
              </c:pt>
            </c:numLit>
          </c:val>
          <c:extLst>
            <c:ext xmlns:c16="http://schemas.microsoft.com/office/drawing/2014/chart" uri="{C3380CC4-5D6E-409C-BE32-E72D297353CC}">
              <c16:uniqueId val="{00000000-D449-F240-9DFB-6127DCF4D4FC}"/>
            </c:ext>
          </c:extLst>
        </c:ser>
        <c:ser>
          <c:idx val="1"/>
          <c:order val="1"/>
          <c:tx>
            <c:v>Ours</c:v>
          </c:tx>
          <c:spPr>
            <a:solidFill>
              <a:srgbClr val="C00000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6.1000000000000004E-3</c:v>
                </c:pt>
                <c:pt idx="1">
                  <c:v>3.0999999999999999E-3</c:v>
                </c:pt>
                <c:pt idx="2">
                  <c:v>6.6E-3</c:v>
                </c:pt>
              </c:numLit>
            </c:plus>
            <c:minus>
              <c:numLit>
                <c:formatCode>General</c:formatCode>
                <c:ptCount val="3"/>
                <c:pt idx="0">
                  <c:v>6.1000000000000004E-3</c:v>
                </c:pt>
                <c:pt idx="1">
                  <c:v>4.3E-3</c:v>
                </c:pt>
                <c:pt idx="2">
                  <c:v>6.6E-3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0.99280000000000002</c:v>
              </c:pt>
              <c:pt idx="1">
                <c:v>0.99690000000000001</c:v>
              </c:pt>
              <c:pt idx="2">
                <c:v>0.99109999999999998</c:v>
              </c:pt>
            </c:numLit>
          </c:val>
          <c:extLst>
            <c:ext xmlns:c16="http://schemas.microsoft.com/office/drawing/2014/chart" uri="{C3380CC4-5D6E-409C-BE32-E72D297353CC}">
              <c16:uniqueId val="{00000001-D449-F240-9DFB-6127DCF4D4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one"/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noFill/>
            <a:ln>
              <a:noFill/>
            </a:ln>
          </c:spPr>
          <c:invertIfNegative val="0"/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3.6200000000000003E-2</c:v>
              </c:pt>
              <c:pt idx="1">
                <c:v>0.20599999999999999</c:v>
              </c:pt>
              <c:pt idx="2">
                <c:v>5.33E-2</c:v>
              </c:pt>
            </c:numLit>
          </c:val>
          <c:extLst>
            <c:ext xmlns:c16="http://schemas.microsoft.com/office/drawing/2014/chart" uri="{C3380CC4-5D6E-409C-BE32-E72D297353CC}">
              <c16:uniqueId val="{00000000-4F3A-744F-AEC8-CCD860F38A36}"/>
            </c:ext>
          </c:extLst>
        </c:ser>
        <c:ser>
          <c:idx val="1"/>
          <c:order val="1"/>
          <c:tx>
            <c:v>Ours</c:v>
          </c:tx>
          <c:spPr>
            <a:solidFill>
              <a:srgbClr val="C00000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5.0799999999999998E-2</c:v>
                </c:pt>
                <c:pt idx="1">
                  <c:v>0.14099999999999999</c:v>
                </c:pt>
                <c:pt idx="2">
                  <c:v>0.1232</c:v>
                </c:pt>
              </c:numLit>
            </c:plus>
            <c:minus>
              <c:numLit>
                <c:formatCode>General</c:formatCode>
                <c:ptCount val="3"/>
                <c:pt idx="0">
                  <c:v>5.0799999999999998E-2</c:v>
                </c:pt>
                <c:pt idx="1">
                  <c:v>0.14099999999999999</c:v>
                </c:pt>
                <c:pt idx="2">
                  <c:v>0.1232</c:v>
                </c:pt>
              </c:numLit>
            </c:minus>
            <c:spPr>
              <a:ln w="12700" cap="rnd">
                <a:solidFill>
                  <a:srgbClr val="404040"/>
                </a:solidFill>
                <a:round/>
              </a:ln>
            </c:spPr>
          </c:errBars>
          <c:cat>
            <c:strLit>
              <c:ptCount val="3"/>
              <c:pt idx="0">
                <c:v>Grad-Dot</c:v>
              </c:pt>
              <c:pt idx="1">
                <c:v>EK-FAC</c:v>
              </c:pt>
              <c:pt idx="2">
                <c:v>Layerwise TracIn</c:v>
              </c:pt>
            </c:strLit>
          </c:cat>
          <c:val>
            <c:numLit>
              <c:formatCode>General</c:formatCode>
              <c:ptCount val="3"/>
              <c:pt idx="0">
                <c:v>0.31559999999999999</c:v>
              </c:pt>
              <c:pt idx="1">
                <c:v>0.59789999999999999</c:v>
              </c:pt>
              <c:pt idx="2">
                <c:v>0.26500000000000001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1-4F3A-744F-AEC8-CCD860F38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one"/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1200000000000001"/>
          <c:min val="0"/>
        </c:scaling>
        <c:delete val="1"/>
        <c:axPos val="l"/>
        <c:numFmt formatCode="0.0" sourceLinked="0"/>
        <c:majorTickMark val="none"/>
        <c:minorTickMark val="none"/>
        <c:tickLblPos val="none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5000000000000002E-2"/>
          <c:y val="0.03"/>
          <c:w val="0.92500000000000004"/>
          <c:h val="0.84"/>
        </c:manualLayout>
      </c:layout>
      <c:lineChart>
        <c:grouping val="standard"/>
        <c:varyColors val="0"/>
        <c:ser>
          <c:idx val="0"/>
          <c:order val="0"/>
          <c:tx>
            <c:v>Cross-entropy</c:v>
          </c:tx>
          <c:spPr>
            <a:ln w="38100" cap="rnd">
              <a:solidFill>
                <a:srgbClr val="6F93D6"/>
              </a:solidFill>
              <a:round/>
            </a:ln>
          </c:spPr>
          <c:marker>
            <c:symbol val="circle"/>
            <c:size val="6"/>
            <c:spPr>
              <a:solidFill>
                <a:srgbClr val="6F93D6"/>
              </a:solidFill>
              <a:ln>
                <a:noFill/>
              </a:ln>
            </c:spPr>
          </c:marker>
          <c:dPt>
            <c:idx val="11"/>
            <c:marker>
              <c:symbol val="circle"/>
              <c:size val="7"/>
              <c:spPr>
                <a:solidFill>
                  <a:srgbClr val="FFFFFF"/>
                </a:solidFill>
                <a:ln w="22225">
                  <a:solidFill>
                    <a:srgbClr val="6F93D6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AB6-8C49-9024-BAAE37DC883A}"/>
              </c:ext>
            </c:extLst>
          </c:dPt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2"/>
                <c:pt idx="0">
                  <c:v>5.5899999999999998E-2</c:v>
                </c:pt>
                <c:pt idx="1">
                  <c:v>6.7100000000000007E-2</c:v>
                </c:pt>
                <c:pt idx="2">
                  <c:v>7.3200000000000001E-2</c:v>
                </c:pt>
                <c:pt idx="3">
                  <c:v>7.8600000000000003E-2</c:v>
                </c:pt>
                <c:pt idx="4">
                  <c:v>8.1600000000000006E-2</c:v>
                </c:pt>
                <c:pt idx="5">
                  <c:v>8.09E-2</c:v>
                </c:pt>
                <c:pt idx="6">
                  <c:v>6.9199999999999998E-2</c:v>
                </c:pt>
                <c:pt idx="7">
                  <c:v>4.3400000000000001E-2</c:v>
                </c:pt>
                <c:pt idx="8">
                  <c:v>2.6599999999999999E-2</c:v>
                </c:pt>
                <c:pt idx="9">
                  <c:v>1.38E-2</c:v>
                </c:pt>
                <c:pt idx="10">
                  <c:v>3.5000000000000001E-3</c:v>
                </c:pt>
                <c:pt idx="11">
                  <c:v>1.6999999999999999E-3</c:v>
                </c:pt>
              </c:numLit>
            </c:plus>
            <c:minus>
              <c:numLit>
                <c:formatCode>General</c:formatCode>
                <c:ptCount val="12"/>
                <c:pt idx="0">
                  <c:v>5.5899999999999998E-2</c:v>
                </c:pt>
                <c:pt idx="1">
                  <c:v>6.7100000000000007E-2</c:v>
                </c:pt>
                <c:pt idx="2">
                  <c:v>7.3200000000000001E-2</c:v>
                </c:pt>
                <c:pt idx="3">
                  <c:v>7.8600000000000003E-2</c:v>
                </c:pt>
                <c:pt idx="4">
                  <c:v>8.1600000000000006E-2</c:v>
                </c:pt>
                <c:pt idx="5">
                  <c:v>8.09E-2</c:v>
                </c:pt>
                <c:pt idx="6">
                  <c:v>6.9199999999999998E-2</c:v>
                </c:pt>
                <c:pt idx="7">
                  <c:v>4.3400000000000001E-2</c:v>
                </c:pt>
                <c:pt idx="8">
                  <c:v>2.6599999999999999E-2</c:v>
                </c:pt>
                <c:pt idx="9">
                  <c:v>1.38E-2</c:v>
                </c:pt>
                <c:pt idx="10">
                  <c:v>3.3999999999999998E-3</c:v>
                </c:pt>
                <c:pt idx="11">
                  <c:v>1.5E-3</c:v>
                </c:pt>
              </c:numLit>
            </c:minus>
            <c:spPr>
              <a:ln w="12700" cap="rnd">
                <a:solidFill>
                  <a:srgbClr val="6F93D6"/>
                </a:solidFill>
                <a:round/>
              </a:ln>
            </c:spPr>
          </c:errBars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50</c:v>
              </c:pt>
              <c:pt idx="7">
                <c:v>100</c:v>
              </c:pt>
              <c:pt idx="8">
                <c:v>150</c:v>
              </c:pt>
              <c:pt idx="9">
                <c:v>200</c:v>
              </c:pt>
              <c:pt idx="10">
                <c:v>250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9.9599999999999994E-2</c:v>
              </c:pt>
              <c:pt idx="1">
                <c:v>0.1169</c:v>
              </c:pt>
              <c:pt idx="2">
                <c:v>0.12620000000000001</c:v>
              </c:pt>
              <c:pt idx="3">
                <c:v>0.13519999999999999</c:v>
              </c:pt>
              <c:pt idx="4">
                <c:v>0.1429</c:v>
              </c:pt>
              <c:pt idx="5">
                <c:v>0.1318</c:v>
              </c:pt>
              <c:pt idx="6">
                <c:v>0.1057</c:v>
              </c:pt>
              <c:pt idx="7">
                <c:v>6.4399999999999999E-2</c:v>
              </c:pt>
              <c:pt idx="8">
                <c:v>3.3300000000000003E-2</c:v>
              </c:pt>
              <c:pt idx="9">
                <c:v>1.46E-2</c:v>
              </c:pt>
              <c:pt idx="10">
                <c:v>3.3999999999999998E-3</c:v>
              </c:pt>
              <c:pt idx="11">
                <c:v>1.5E-3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AB6-8C49-9024-BAAE37DC8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5000000000000002E-2"/>
          <c:y val="0.03"/>
          <c:w val="0.92500000000000004"/>
          <c:h val="0.84"/>
        </c:manualLayout>
      </c:layout>
      <c:lineChart>
        <c:grouping val="standard"/>
        <c:varyColors val="0"/>
        <c:ser>
          <c:idx val="0"/>
          <c:order val="0"/>
          <c:tx>
            <c:v>Neg. log-odds</c:v>
          </c:tx>
          <c:spPr>
            <a:ln w="38100" cap="rnd">
              <a:solidFill>
                <a:srgbClr val="C00000"/>
              </a:solidFill>
              <a:round/>
            </a:ln>
          </c:spPr>
          <c:marker>
            <c:symbol val="circle"/>
            <c:size val="6"/>
            <c:spPr>
              <a:solidFill>
                <a:srgbClr val="C00000"/>
              </a:solidFill>
              <a:ln>
                <a:noFill/>
              </a:ln>
            </c:spPr>
          </c:marker>
          <c:dPt>
            <c:idx val="11"/>
            <c:marker>
              <c:symbol val="circle"/>
              <c:size val="7"/>
              <c:spPr>
                <a:solidFill>
                  <a:srgbClr val="FFFFFF"/>
                </a:solidFill>
                <a:ln w="22225">
                  <a:solidFill>
                    <a:srgbClr val="C00000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455-EA49-8543-6B039E200050}"/>
              </c:ext>
            </c:extLst>
          </c:dPt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2"/>
                <c:pt idx="0">
                  <c:v>2.3099999999999999E-2</c:v>
                </c:pt>
                <c:pt idx="1">
                  <c:v>0.01</c:v>
                </c:pt>
                <c:pt idx="2">
                  <c:v>7.1000000000000004E-3</c:v>
                </c:pt>
                <c:pt idx="3">
                  <c:v>6.1000000000000004E-3</c:v>
                </c:pt>
                <c:pt idx="4">
                  <c:v>6.1000000000000004E-3</c:v>
                </c:pt>
                <c:pt idx="5">
                  <c:v>5.7000000000000002E-3</c:v>
                </c:pt>
                <c:pt idx="6">
                  <c:v>2.8400000000000002E-2</c:v>
                </c:pt>
                <c:pt idx="7">
                  <c:v>9.7000000000000003E-2</c:v>
                </c:pt>
                <c:pt idx="8">
                  <c:v>0.12189999999999999</c:v>
                </c:pt>
                <c:pt idx="9">
                  <c:v>0.1011</c:v>
                </c:pt>
                <c:pt idx="10">
                  <c:v>5.96E-2</c:v>
                </c:pt>
                <c:pt idx="11">
                  <c:v>4.58E-2</c:v>
                </c:pt>
              </c:numLit>
            </c:plus>
            <c:minus>
              <c:numLit>
                <c:formatCode>General</c:formatCode>
                <c:ptCount val="12"/>
                <c:pt idx="0">
                  <c:v>2.3099999999999999E-2</c:v>
                </c:pt>
                <c:pt idx="1">
                  <c:v>0.01</c:v>
                </c:pt>
                <c:pt idx="2">
                  <c:v>7.1000000000000004E-3</c:v>
                </c:pt>
                <c:pt idx="3">
                  <c:v>6.1000000000000004E-3</c:v>
                </c:pt>
                <c:pt idx="4">
                  <c:v>6.1000000000000004E-3</c:v>
                </c:pt>
                <c:pt idx="5">
                  <c:v>5.7000000000000002E-3</c:v>
                </c:pt>
                <c:pt idx="6">
                  <c:v>2.8400000000000002E-2</c:v>
                </c:pt>
                <c:pt idx="7">
                  <c:v>9.7000000000000003E-2</c:v>
                </c:pt>
                <c:pt idx="8">
                  <c:v>0.12189999999999999</c:v>
                </c:pt>
                <c:pt idx="9">
                  <c:v>0.1011</c:v>
                </c:pt>
                <c:pt idx="10">
                  <c:v>5.96E-2</c:v>
                </c:pt>
                <c:pt idx="11">
                  <c:v>4.58E-2</c:v>
                </c:pt>
              </c:numLit>
            </c:minus>
            <c:spPr>
              <a:ln w="12700" cap="rnd">
                <a:solidFill>
                  <a:srgbClr val="C00000"/>
                </a:solidFill>
                <a:round/>
              </a:ln>
            </c:spPr>
          </c:errBars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50</c:v>
              </c:pt>
              <c:pt idx="7">
                <c:v>100</c:v>
              </c:pt>
              <c:pt idx="8">
                <c:v>150</c:v>
              </c:pt>
              <c:pt idx="9">
                <c:v>200</c:v>
              </c:pt>
              <c:pt idx="10">
                <c:v>250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0.95309999999999995</c:v>
              </c:pt>
              <c:pt idx="1">
                <c:v>0.98150000000000004</c:v>
              </c:pt>
              <c:pt idx="2">
                <c:v>0.98980000000000001</c:v>
              </c:pt>
              <c:pt idx="3">
                <c:v>0.99280000000000002</c:v>
              </c:pt>
              <c:pt idx="4">
                <c:v>0.99280000000000002</c:v>
              </c:pt>
              <c:pt idx="5">
                <c:v>0.98939999999999995</c:v>
              </c:pt>
              <c:pt idx="6">
                <c:v>0.96009999999999995</c:v>
              </c:pt>
              <c:pt idx="7">
                <c:v>0.74519999999999997</c:v>
              </c:pt>
              <c:pt idx="8">
                <c:v>0.4335</c:v>
              </c:pt>
              <c:pt idx="9">
                <c:v>0.20930000000000001</c:v>
              </c:pt>
              <c:pt idx="10">
                <c:v>9.06E-2</c:v>
              </c:pt>
              <c:pt idx="11">
                <c:v>5.2999999999999999E-2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455-EA49-8543-6B039E2000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05"/>
          <c:min val="0"/>
        </c:scaling>
        <c:delete val="1"/>
        <c:axPos val="l"/>
        <c:numFmt formatCode="0.0" sourceLinked="0"/>
        <c:majorTickMark val="none"/>
        <c:minorTickMark val="none"/>
        <c:tickLblPos val="nextTo"/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4"/>
        </c:manualLayout>
      </c:layout>
      <c:lineChart>
        <c:grouping val="standard"/>
        <c:varyColors val="0"/>
        <c:ser>
          <c:idx val="0"/>
          <c:order val="0"/>
          <c:tx>
            <c:v>Cross-entropy</c:v>
          </c:tx>
          <c:spPr>
            <a:ln w="38100" cap="rnd">
              <a:solidFill>
                <a:srgbClr val="6F93D6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0.13220000000000001</c:v>
              </c:pt>
              <c:pt idx="1">
                <c:v>0.13819999999999999</c:v>
              </c:pt>
              <c:pt idx="2">
                <c:v>0.13750000000000001</c:v>
              </c:pt>
              <c:pt idx="3">
                <c:v>0.13170000000000001</c:v>
              </c:pt>
              <c:pt idx="4">
                <c:v>0.12189999999999999</c:v>
              </c:pt>
              <c:pt idx="5">
                <c:v>0.10929999999999999</c:v>
              </c:pt>
              <c:pt idx="6">
                <c:v>9.4700000000000006E-2</c:v>
              </c:pt>
              <c:pt idx="7">
                <c:v>8.8300000000000003E-2</c:v>
              </c:pt>
              <c:pt idx="8">
                <c:v>8.7900000000000006E-2</c:v>
              </c:pt>
              <c:pt idx="9">
                <c:v>8.8400000000000006E-2</c:v>
              </c:pt>
              <c:pt idx="10">
                <c:v>7.6700000000000004E-2</c:v>
              </c:pt>
              <c:pt idx="11">
                <c:v>7.0800000000000002E-2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9F9-D44C-8CE5-6BD8CDAC5D93}"/>
            </c:ext>
          </c:extLst>
        </c:ser>
        <c:ser>
          <c:idx val="1"/>
          <c:order val="1"/>
          <c:tx>
            <c:v>Neg. log-odds</c:v>
          </c:tx>
          <c:spPr>
            <a:ln w="38100" cap="rnd">
              <a:solidFill>
                <a:srgbClr val="C00000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0.99299999999999999</c:v>
              </c:pt>
              <c:pt idx="1">
                <c:v>0.99719999999999998</c:v>
              </c:pt>
              <c:pt idx="2">
                <c:v>0.99729999999999996</c:v>
              </c:pt>
              <c:pt idx="3">
                <c:v>0.99829999999999997</c:v>
              </c:pt>
              <c:pt idx="4">
                <c:v>0.99850000000000005</c:v>
              </c:pt>
              <c:pt idx="5">
                <c:v>0.99729999999999996</c:v>
              </c:pt>
              <c:pt idx="6">
                <c:v>0.99609999999999999</c:v>
              </c:pt>
              <c:pt idx="7">
                <c:v>0.99560000000000004</c:v>
              </c:pt>
              <c:pt idx="8">
                <c:v>0.99519999999999997</c:v>
              </c:pt>
              <c:pt idx="9">
                <c:v>0.99390000000000001</c:v>
              </c:pt>
              <c:pt idx="10">
                <c:v>0.99270000000000003</c:v>
              </c:pt>
              <c:pt idx="11">
                <c:v>0.99060000000000004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9F9-D44C-8CE5-6BD8CDAC5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4"/>
        </c:manualLayout>
      </c:layout>
      <c:lineChart>
        <c:grouping val="standard"/>
        <c:varyColors val="0"/>
        <c:ser>
          <c:idx val="0"/>
          <c:order val="0"/>
          <c:tx>
            <c:v>Cross-entropy</c:v>
          </c:tx>
          <c:spPr>
            <a:ln w="38100" cap="rnd">
              <a:solidFill>
                <a:srgbClr val="6F93D6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9.9599999999999994E-2</c:v>
              </c:pt>
              <c:pt idx="1">
                <c:v>0.1169</c:v>
              </c:pt>
              <c:pt idx="2">
                <c:v>0.12620000000000001</c:v>
              </c:pt>
              <c:pt idx="3">
                <c:v>0.13519999999999999</c:v>
              </c:pt>
              <c:pt idx="4">
                <c:v>0.1429</c:v>
              </c:pt>
              <c:pt idx="5">
                <c:v>0.1318</c:v>
              </c:pt>
              <c:pt idx="6">
                <c:v>0.1057</c:v>
              </c:pt>
              <c:pt idx="7">
                <c:v>6.4399999999999999E-2</c:v>
              </c:pt>
              <c:pt idx="8">
                <c:v>3.3300000000000003E-2</c:v>
              </c:pt>
              <c:pt idx="9">
                <c:v>1.46E-2</c:v>
              </c:pt>
              <c:pt idx="10">
                <c:v>3.3999999999999998E-3</c:v>
              </c:pt>
              <c:pt idx="11">
                <c:v>1.5E-3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FBC-E249-8FA9-D619462FEBDB}"/>
            </c:ext>
          </c:extLst>
        </c:ser>
        <c:ser>
          <c:idx val="1"/>
          <c:order val="1"/>
          <c:tx>
            <c:v>Neg. log-odds</c:v>
          </c:tx>
          <c:spPr>
            <a:ln w="38100" cap="rnd">
              <a:solidFill>
                <a:srgbClr val="C00000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0.95309999999999995</c:v>
              </c:pt>
              <c:pt idx="1">
                <c:v>0.98150000000000004</c:v>
              </c:pt>
              <c:pt idx="2">
                <c:v>0.98980000000000001</c:v>
              </c:pt>
              <c:pt idx="3">
                <c:v>0.99280000000000002</c:v>
              </c:pt>
              <c:pt idx="4">
                <c:v>0.99280000000000002</c:v>
              </c:pt>
              <c:pt idx="5">
                <c:v>0.98939999999999995</c:v>
              </c:pt>
              <c:pt idx="6">
                <c:v>0.96009999999999995</c:v>
              </c:pt>
              <c:pt idx="7">
                <c:v>0.74519999999999997</c:v>
              </c:pt>
              <c:pt idx="8">
                <c:v>0.4335</c:v>
              </c:pt>
              <c:pt idx="9">
                <c:v>0.20930000000000001</c:v>
              </c:pt>
              <c:pt idx="10">
                <c:v>9.06E-2</c:v>
              </c:pt>
              <c:pt idx="11">
                <c:v>5.2999999999999999E-2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FBC-E249-8FA9-D619462FE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6"/>
          <c:h val="0.84"/>
        </c:manualLayout>
      </c:layout>
      <c:lineChart>
        <c:grouping val="standard"/>
        <c:varyColors val="0"/>
        <c:ser>
          <c:idx val="0"/>
          <c:order val="0"/>
          <c:tx>
            <c:v>Cross-entropy</c:v>
          </c:tx>
          <c:spPr>
            <a:ln w="38100" cap="rnd">
              <a:solidFill>
                <a:srgbClr val="6F93D6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3.3700000000000001E-2</c:v>
              </c:pt>
              <c:pt idx="1">
                <c:v>3.6900000000000002E-2</c:v>
              </c:pt>
              <c:pt idx="2">
                <c:v>3.9100000000000003E-2</c:v>
              </c:pt>
              <c:pt idx="3">
                <c:v>4.2000000000000003E-2</c:v>
              </c:pt>
              <c:pt idx="4">
                <c:v>4.4600000000000001E-2</c:v>
              </c:pt>
              <c:pt idx="5">
                <c:v>4.4900000000000002E-2</c:v>
              </c:pt>
              <c:pt idx="6">
                <c:v>4.3499999999999997E-2</c:v>
              </c:pt>
              <c:pt idx="7">
                <c:v>4.2799999999999998E-2</c:v>
              </c:pt>
              <c:pt idx="8">
                <c:v>4.2799999999999998E-2</c:v>
              </c:pt>
              <c:pt idx="9">
                <c:v>4.2999999999999997E-2</c:v>
              </c:pt>
              <c:pt idx="10">
                <c:v>3.6999999999999998E-2</c:v>
              </c:pt>
              <c:pt idx="11">
                <c:v>3.6799999999999999E-2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23A-5F47-9290-DEDE9295E484}"/>
            </c:ext>
          </c:extLst>
        </c:ser>
        <c:ser>
          <c:idx val="1"/>
          <c:order val="1"/>
          <c:tx>
            <c:v>Neg. log-odds</c:v>
          </c:tx>
          <c:spPr>
            <a:ln w="38100" cap="rnd">
              <a:solidFill>
                <a:srgbClr val="C00000"/>
              </a:solidFill>
              <a:round/>
            </a:ln>
          </c:spPr>
          <c:marker>
            <c:symbol val="none"/>
          </c:marker>
          <c:cat>
            <c:strLit>
              <c:ptCount val="12"/>
              <c:pt idx="0">
                <c:v>1</c:v>
              </c:pt>
              <c:pt idx="4">
                <c:v>10</c:v>
              </c:pt>
              <c:pt idx="7">
                <c:v>100</c:v>
              </c:pt>
              <c:pt idx="11">
                <c:v>All</c:v>
              </c:pt>
            </c:strLit>
          </c:cat>
          <c:val>
            <c:numLit>
              <c:formatCode>General</c:formatCode>
              <c:ptCount val="12"/>
              <c:pt idx="0">
                <c:v>0.26150000000000001</c:v>
              </c:pt>
              <c:pt idx="1">
                <c:v>0.27110000000000001</c:v>
              </c:pt>
              <c:pt idx="2">
                <c:v>0.27339999999999998</c:v>
              </c:pt>
              <c:pt idx="3">
                <c:v>0.27450000000000002</c:v>
              </c:pt>
              <c:pt idx="4">
                <c:v>0.27750000000000002</c:v>
              </c:pt>
              <c:pt idx="5">
                <c:v>0.2772</c:v>
              </c:pt>
              <c:pt idx="6">
                <c:v>0.27229999999999999</c:v>
              </c:pt>
              <c:pt idx="7">
                <c:v>0.26119999999999999</c:v>
              </c:pt>
              <c:pt idx="8">
                <c:v>0.2447</c:v>
              </c:pt>
              <c:pt idx="9">
                <c:v>0.21340000000000001</c:v>
              </c:pt>
              <c:pt idx="10">
                <c:v>0.18840000000000001</c:v>
              </c:pt>
              <c:pt idx="11">
                <c:v>0.1915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23A-5F47-9290-DEDE9295E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000000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auto val="1"/>
        <c:lblAlgn val="ctr"/>
        <c:lblOffset val="60"/>
        <c:tickLblSkip val="1"/>
        <c:noMultiLvlLbl val="1"/>
      </c:catAx>
      <c:valAx>
        <c:axId val="2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5000000000000006E-2"/>
          <c:y val="0.04"/>
          <c:w val="0.89500000000000002"/>
          <c:h val="0.8"/>
        </c:manualLayout>
      </c:layout>
      <c:scatterChart>
        <c:scatterStyle val="lineMarker"/>
        <c:varyColors val="0"/>
        <c:ser>
          <c:idx val="0"/>
          <c:order val="0"/>
          <c:tx>
            <c:v>TRAK</c:v>
          </c:tx>
          <c:spPr>
            <a:ln w="38100" cap="rnd">
              <a:solidFill>
                <a:srgbClr val="6F93D6"/>
              </a:solidFill>
              <a:round/>
            </a:ln>
          </c:spPr>
          <c:marker>
            <c:symbol val="diamond"/>
            <c:size val="8"/>
            <c:spPr>
              <a:solidFill>
                <a:srgbClr val="6F93D6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6</c:v>
                </c:pt>
                <c:pt idx="1">
                  <c:v>10</c:v>
                </c:pt>
                <c:pt idx="2">
                  <c:v>6</c:v>
                </c:pt>
              </c:numLit>
            </c:plus>
            <c:minus>
              <c:numLit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6</c:v>
                </c:pt>
              </c:numLit>
            </c:minus>
            <c:spPr>
              <a:ln w="12700" cap="rnd">
                <a:solidFill>
                  <a:srgbClr val="6F93D6"/>
                </a:solidFill>
                <a:round/>
              </a:ln>
            </c:spPr>
          </c:errBars>
          <c:xVal>
            <c:numLit>
              <c:formatCode>General</c:formatCode>
              <c:ptCount val="3"/>
              <c:pt idx="0">
                <c:v>2000</c:v>
              </c:pt>
              <c:pt idx="1">
                <c:v>5000</c:v>
              </c:pt>
              <c:pt idx="2">
                <c:v>11522</c:v>
              </c:pt>
            </c:numLit>
          </c:xVal>
          <c:yVal>
            <c:numLit>
              <c:formatCode>General</c:formatCode>
              <c:ptCount val="3"/>
              <c:pt idx="0">
                <c:v>5</c:v>
              </c:pt>
              <c:pt idx="1">
                <c:v>9</c:v>
              </c:pt>
              <c:pt idx="2">
                <c:v>9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D64-1544-A75E-02913CF8663D}"/>
            </c:ext>
          </c:extLst>
        </c:ser>
        <c:ser>
          <c:idx val="1"/>
          <c:order val="1"/>
          <c:tx>
            <c:v>BM25</c:v>
          </c:tx>
          <c:spPr>
            <a:ln w="38100" cap="rnd">
              <a:solidFill>
                <a:srgbClr val="8C8C8C"/>
              </a:solidFill>
              <a:prstDash val="dash"/>
              <a:round/>
            </a:ln>
          </c:spPr>
          <c:marker>
            <c:symbol val="square"/>
            <c:size val="8"/>
            <c:spPr>
              <a:solidFill>
                <a:srgbClr val="8C8C8C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6</c:v>
                </c:pt>
              </c:numLit>
            </c:plus>
            <c:minus>
              <c:numLit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6</c:v>
                </c:pt>
              </c:numLit>
            </c:minus>
            <c:spPr>
              <a:ln w="12700" cap="rnd">
                <a:solidFill>
                  <a:srgbClr val="8C8C8C"/>
                </a:solidFill>
                <a:round/>
              </a:ln>
            </c:spPr>
          </c:errBars>
          <c:xVal>
            <c:numLit>
              <c:formatCode>General</c:formatCode>
              <c:ptCount val="3"/>
              <c:pt idx="0">
                <c:v>2000</c:v>
              </c:pt>
              <c:pt idx="1">
                <c:v>5000</c:v>
              </c:pt>
              <c:pt idx="2">
                <c:v>11522</c:v>
              </c:pt>
            </c:numLit>
          </c:xVal>
          <c:yVal>
            <c:numLit>
              <c:formatCode>General</c:formatCode>
              <c:ptCount val="3"/>
              <c:pt idx="0">
                <c:v>3</c:v>
              </c:pt>
              <c:pt idx="1">
                <c:v>5</c:v>
              </c:pt>
              <c:pt idx="2">
                <c:v>19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5D64-1544-A75E-02913CF866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12000"/>
          <c:min val="0"/>
        </c:scaling>
        <c:delete val="0"/>
        <c:axPos val="b"/>
        <c:numFmt formatCode="#,##0;\-#,##0;" sourceLinked="0"/>
        <c:majorTickMark val="none"/>
        <c:minorTickMark val="none"/>
        <c:tickLblPos val="nextTo"/>
        <c:spPr>
          <a:ln w="9525">
            <a:solidFill>
              <a:srgbClr val="C7C8C9"/>
            </a:solidFill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2"/>
        <c:crosses val="autoZero"/>
        <c:crossBetween val="midCat"/>
        <c:majorUnit val="2000"/>
      </c:valAx>
      <c:valAx>
        <c:axId val="2"/>
        <c:scaling>
          <c:orientation val="minMax"/>
          <c:max val="55"/>
          <c:min val="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 b="0">
                <a:solidFill>
                  <a:srgbClr val="595959"/>
                </a:solidFill>
                <a:latin typeface="Helvetica"/>
                <a:cs typeface="Helvetica"/>
              </a:defRPr>
            </a:pPr>
            <a:endParaRPr lang="en-US"/>
          </a:p>
        </c:txPr>
        <c:crossAx val="1"/>
        <c:crosses val="autoZero"/>
        <c:crossBetween val="midCat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5000000000000006E-2"/>
          <c:y val="0.04"/>
          <c:w val="0.89500000000000002"/>
          <c:h val="0.8"/>
        </c:manualLayout>
      </c:layout>
      <c:scatterChart>
        <c:scatterStyle val="lineMarker"/>
        <c:varyColors val="0"/>
        <c:ser>
          <c:idx val="0"/>
          <c:order val="0"/>
          <c:tx>
            <c:v>Layerwise TRAK, top-10 tokens</c:v>
          </c:tx>
          <c:spPr>
            <a:ln w="38100" cap="rnd">
              <a:solidFill>
                <a:srgbClr val="7030A0"/>
              </a:solidFill>
              <a:round/>
            </a:ln>
          </c:spPr>
          <c:marker>
            <c:symbol val="triangle"/>
            <c:size val="8"/>
            <c:spPr>
              <a:solidFill>
                <a:srgbClr val="7030A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6</c:v>
                </c:pt>
              </c:numLit>
            </c:plus>
            <c:minus>
              <c:numLit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6</c:v>
                </c:pt>
              </c:numLit>
            </c:minus>
            <c:spPr>
              <a:ln w="12700" cap="rnd">
                <a:solidFill>
                  <a:srgbClr val="7030A0"/>
                </a:solidFill>
                <a:round/>
              </a:ln>
            </c:spPr>
          </c:errBars>
          <c:xVal>
            <c:numLit>
              <c:formatCode>General</c:formatCode>
              <c:ptCount val="3"/>
              <c:pt idx="0">
                <c:v>2000</c:v>
              </c:pt>
              <c:pt idx="1">
                <c:v>5000</c:v>
              </c:pt>
              <c:pt idx="2">
                <c:v>11522</c:v>
              </c:pt>
            </c:numLit>
          </c:xVal>
          <c:yVal>
            <c:numLit>
              <c:formatCode>General</c:formatCode>
              <c:ptCount val="3"/>
              <c:pt idx="0">
                <c:v>9</c:v>
              </c:pt>
              <c:pt idx="1">
                <c:v>19</c:v>
              </c:pt>
              <c:pt idx="2">
                <c:v>25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05F3-9645-81A7-2CFD0FC5C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12000"/>
          <c:min val="0"/>
        </c:scaling>
        <c:delete val="1"/>
        <c:axPos val="b"/>
        <c:numFmt formatCode="#,##0;\-#,##0;" sourceLinked="0"/>
        <c:majorTickMark val="none"/>
        <c:minorTickMark val="none"/>
        <c:tickLblPos val="nextTo"/>
        <c:crossAx val="2"/>
        <c:crosses val="autoZero"/>
        <c:crossBetween val="midCat"/>
        <c:majorUnit val="2000"/>
      </c:valAx>
      <c:valAx>
        <c:axId val="2"/>
        <c:scaling>
          <c:orientation val="minMax"/>
          <c:max val="55"/>
          <c:min val="0"/>
        </c:scaling>
        <c:delete val="1"/>
        <c:axPos val="l"/>
        <c:numFmt formatCode="0&quot;%&quot;" sourceLinked="0"/>
        <c:majorTickMark val="none"/>
        <c:minorTickMark val="none"/>
        <c:tickLblPos val="nextTo"/>
        <c:crossAx val="1"/>
        <c:crosses val="autoZero"/>
        <c:crossBetween val="midCat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5000000000000006E-2"/>
          <c:y val="0.04"/>
          <c:w val="0.89500000000000002"/>
          <c:h val="0.8"/>
        </c:manualLayout>
      </c:layout>
      <c:scatterChart>
        <c:scatterStyle val="lineMarker"/>
        <c:varyColors val="0"/>
        <c:ser>
          <c:idx val="0"/>
          <c:order val="0"/>
          <c:tx>
            <c:v>TRAK, neg. log-odds</c:v>
          </c:tx>
          <c:spPr>
            <a:ln w="38100" cap="rnd">
              <a:solidFill>
                <a:srgbClr val="C00000"/>
              </a:solidFill>
              <a:round/>
            </a:ln>
          </c:spPr>
          <c:marker>
            <c:symbol val="circle"/>
            <c:size val="8"/>
            <c:spPr>
              <a:solidFill>
                <a:srgbClr val="C00000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2</c:v>
                </c:pt>
              </c:numLit>
            </c:plus>
            <c:minus>
              <c:numLit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2</c:v>
                </c:pt>
              </c:numLit>
            </c:minus>
            <c:spPr>
              <a:ln w="12700" cap="rnd">
                <a:solidFill>
                  <a:srgbClr val="C00000"/>
                </a:solidFill>
                <a:round/>
              </a:ln>
            </c:spPr>
          </c:errBars>
          <c:xVal>
            <c:numLit>
              <c:formatCode>General</c:formatCode>
              <c:ptCount val="3"/>
              <c:pt idx="0">
                <c:v>2000</c:v>
              </c:pt>
              <c:pt idx="1">
                <c:v>5000</c:v>
              </c:pt>
              <c:pt idx="2">
                <c:v>11522</c:v>
              </c:pt>
            </c:numLit>
          </c:xVal>
          <c:yVal>
            <c:numLit>
              <c:formatCode>General</c:formatCode>
              <c:ptCount val="3"/>
              <c:pt idx="0">
                <c:v>15</c:v>
              </c:pt>
              <c:pt idx="1">
                <c:v>32</c:v>
              </c:pt>
              <c:pt idx="2">
                <c:v>47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20E3-3A40-9EC0-7E89D3B06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12000"/>
          <c:min val="0"/>
        </c:scaling>
        <c:delete val="1"/>
        <c:axPos val="b"/>
        <c:numFmt formatCode="#,##0;\-#,##0;" sourceLinked="0"/>
        <c:majorTickMark val="none"/>
        <c:minorTickMark val="none"/>
        <c:tickLblPos val="nextTo"/>
        <c:crossAx val="2"/>
        <c:crosses val="autoZero"/>
        <c:crossBetween val="midCat"/>
        <c:majorUnit val="2000"/>
      </c:valAx>
      <c:valAx>
        <c:axId val="2"/>
        <c:scaling>
          <c:orientation val="minMax"/>
          <c:max val="55"/>
          <c:min val="0"/>
        </c:scaling>
        <c:delete val="1"/>
        <c:axPos val="l"/>
        <c:numFmt formatCode="0&quot;%&quot;" sourceLinked="0"/>
        <c:majorTickMark val="none"/>
        <c:minorTickMark val="none"/>
        <c:tickLblPos val="nextTo"/>
        <c:crossAx val="1"/>
        <c:crosses val="autoZero"/>
        <c:crossBetween val="midCat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 b="0">
          <a:solidFill>
            <a:srgbClr val="000000"/>
          </a:solidFill>
          <a:latin typeface="Helvetica"/>
          <a:cs typeface="Helvetica"/>
        </a:defRPr>
      </a:pPr>
      <a:endParaRPr lang="en-US"/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6D16-0581-5B46-AFD5-ECD59598D89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5E4A0-E393-E84D-8B32-FD14F27C9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1557-132B-7B64-98CA-97C290204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1397000"/>
            <a:ext cx="11176000" cy="1905000"/>
          </a:xfrm>
        </p:spPr>
        <p:txBody>
          <a:bodyPr anchor="ctr"/>
          <a:lstStyle>
            <a:lvl1pPr marL="0" indent="0" algn="ctr">
              <a:buNone/>
              <a:defRPr sz="50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44B9E-6786-9179-1A96-504DA9F3E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3556000"/>
            <a:ext cx="11176000" cy="762000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B3977-7F81-03BB-4C0E-D6CA11DF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8B4F-7AA4-9A53-F71F-A7E07FA7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A87A-A314-A24B-FF4A-4C7739EB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9BA4-EC8A-EEAD-459C-FD5C87FD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7D040-E606-D2D4-53AD-99EAEC772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7C589-6545-B133-12BC-3837AE50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D7C50-E8DA-063F-FD79-4B831FC3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D0843-C5E7-4EA2-3286-108E2AE6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E3AC-B7F4-F46A-7BCD-74DC11FA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540000"/>
            <a:ext cx="11176000" cy="1778000"/>
          </a:xfrm>
        </p:spPr>
        <p:txBody>
          <a:bodyPr anchor="ctr"/>
          <a:lstStyle>
            <a:lvl1pPr marL="0" indent="0" algn="ctr">
              <a:buNone/>
              <a:defRPr sz="4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F7D0A-8833-B7DA-15DC-377E271E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indent="0">
              <a:buNone/>
              <a:defRPr sz="2000">
                <a:solidFill>
                  <a:srgbClr val="BFD3DE"/>
                </a:solidFill>
              </a:defRPr>
            </a:lvl1pPr>
          </a:lstStyle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7FD46-2A70-FA7E-4365-4C8DE441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F59E-B680-ACD0-B0E4-38235775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indent="0">
              <a:buNone/>
              <a:defRPr sz="2000"/>
            </a:lvl1pPr>
          </a:lstStyle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1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2C8C-23A7-7F89-6E44-9D7AFF9E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C3850-E45F-94A9-5257-5228CE3AF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B859C-457C-7BBA-E7A1-18CA46272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C9DA0-662C-A9EA-C741-9F9E4F63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87503-47D3-FCB2-0A02-B4BA0E13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57575-4D11-4761-E793-B5A52D97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4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17D0-F07F-C996-29ED-A61CF4E7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47F0-6743-9E35-6AE2-F0D29F52D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3E0AA-5160-41F4-0AFF-4BB988782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B7D21-60AD-8406-8D7D-12C58CDBB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4CA3F-2AE8-BDDF-674C-DD836F99D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242CC-EDC3-6578-DA60-6FC88784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1500A-EE52-718A-4DC9-2361BB71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3E427-2C8A-06E6-17D7-50CE7A72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F420-3B5A-2BDD-9E92-F6A0F17A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8ACF-9720-975C-621A-AC6D71D4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F3330-C392-7724-F814-48A4957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20960-43A5-1A95-29B8-8A4E3CCC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167B0-8988-162E-CABD-55343D6A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CB2CA-AA05-CEC8-36F9-EACEC11E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DC28D-9C18-0083-5646-5A974D94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1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DE53-3840-5712-CBDC-583A0A8C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88D45-84CC-B933-CEB5-6B4F8EBD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E6B3E-FE19-8DDD-9F98-33F2D46BD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B1F93-2E1D-A109-544F-CE60C522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222DC-CA79-EB80-A5C1-E79BEC2B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8871-3843-20E3-1F73-1ED3029F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4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917F-56FC-79B2-51AE-CA3117EA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32380-E4FC-12CF-F98B-00F2523157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F16E3-A97C-34B7-AFCC-5C773DBB6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B1AE7-F3CC-15B8-E36A-2D3802DA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4D752-9D43-9268-8934-197A5EB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502AD-51BC-C219-7618-D77CB0B9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FA15-F25F-9E20-FCA5-EB2C84EF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754C7-35FD-7E4F-E3FE-5C4A545CA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D60F-7493-D4D1-C0C9-E05F89A9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13DE1-1D96-51A8-50F9-2FFBC48A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A64B-CCB3-929D-8940-2FE40933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9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EEE13-B22B-A9F4-E4DC-9ADFACD6A0ED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8BF87-9A35-2FB0-E26F-89DF48091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DB4EE-D18E-FEB1-356D-A09A3671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C4B0-DBA3-8124-9E9F-C64CA560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08261-A85D-8278-1B42-1A68C9C1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41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06D51-BCF5-473B-263B-BE813725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2800"/>
          </a:xfrm>
          <a:prstGeom prst="rect">
            <a:avLst/>
          </a:prstGeom>
        </p:spPr>
        <p:txBody>
          <a:bodyPr vert="horz" lIns="177800" tIns="5080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1786F-5EAF-935F-E6AC-C21F0665C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16000"/>
            <a:ext cx="115824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E70A0-8E65-E2D7-1B67-3C3DFF7AD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4381E-B17D-BD48-BFEB-735630D0EA02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CAC10-AC0B-3DCF-92A3-F8946184F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CD27F-0215-AA05-763A-FB970800A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90822-85E0-A041-BEE7-F75DC693A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1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Relationship Id="rId6" Type="http://schemas.openxmlformats.org/officeDocument/2006/relationships/chart" Target="../charts/chart12.xml"/><Relationship Id="rId7" Type="http://schemas.openxmlformats.org/officeDocument/2006/relationships/chart" Target="../charts/chart13.xml"/><Relationship Id="rId8" Type="http://schemas.openxmlformats.org/officeDocument/2006/relationships/chart" Target="../charts/chart14.xml"/><Relationship Id="rId9" Type="http://schemas.openxmlformats.org/officeDocument/2006/relationships/chart" Target="../charts/chart15.xml"/><Relationship Id="rId10" Type="http://schemas.openxmlformats.org/officeDocument/2006/relationships/chart" Target="../charts/char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21.xml"/><Relationship Id="rId7" Type="http://schemas.openxmlformats.org/officeDocument/2006/relationships/chart" Target="../charts/chart22.xml"/><Relationship Id="rId8" Type="http://schemas.openxmlformats.org/officeDocument/2006/relationships/chart" Target="../charts/chart23.xml"/><Relationship Id="rId9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chart" Target="../charts/chart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chart" Target="../charts/chart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36.xml"/><Relationship Id="rId4" Type="http://schemas.openxmlformats.org/officeDocument/2006/relationships/chart" Target="../charts/chart37.xml"/><Relationship Id="rId5" Type="http://schemas.openxmlformats.org/officeDocument/2006/relationships/chart" Target="../charts/chart3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E547-6089-8CE6-35B1-08705B4A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97000"/>
            <a:ext cx="12192000" cy="1905000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0" dirty="0">
                <a:solidFill>
                  <a:srgbClr val="000000"/>
                </a:solidFill>
                <a:latin typeface="Helvetica Light"/>
              </a:rPr>
              <a:t>Elucidating the Design Space of LM Data Attribution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2A6F9-B4EA-2509-9BC3-3E8CB69B0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3810000"/>
            <a:ext cx="11176000" cy="1397000"/>
          </a:xfrm>
        </p:spPr>
        <p:txBody>
          <a:bodyPr anchor="t"/>
          <a:lstStyle/>
          <a:p>
            <a:r>
              <a:rPr lang="en-US" altLang="zh-TW" sz="2400" b="0" dirty="0">
                <a:solidFill>
                  <a:srgbClr val="000000"/>
                </a:solidFill>
                <a:latin typeface="Helvetica Light"/>
              </a:rPr>
              <a:t>Steven</a:t>
            </a:r>
            <a:r>
              <a:rPr lang="zh-TW" altLang="en-US" sz="2400" b="0" dirty="0">
                <a:solidFill>
                  <a:srgbClr val="000000"/>
                </a:solidFill>
                <a:latin typeface="Helvetica Light"/>
              </a:rPr>
              <a:t> </a:t>
            </a:r>
            <a:r>
              <a:rPr lang="en-US" altLang="zh-TW" sz="2400" b="0" dirty="0">
                <a:solidFill>
                  <a:srgbClr val="000000"/>
                </a:solidFill>
                <a:latin typeface="Helvetica Light"/>
              </a:rPr>
              <a:t>Yu</a:t>
            </a:r>
            <a:r>
              <a:rPr lang="zh-TW" altLang="en-US" dirty="0">
                <a:latin typeface="Helvetica Light"/>
              </a:rPr>
              <a:t>  </a:t>
            </a:r>
            <a:r>
              <a:rPr lang="en-US" altLang="zh-TW" sz="2400" b="0" dirty="0">
                <a:solidFill>
                  <a:srgbClr val="000000"/>
                </a:solidFill>
                <a:latin typeface="Helvetica Light"/>
              </a:rPr>
              <a:t>Sheng-Yu</a:t>
            </a:r>
            <a:r>
              <a:rPr lang="zh-TW" altLang="en-US" sz="2400" b="0" dirty="0">
                <a:solidFill>
                  <a:srgbClr val="000000"/>
                </a:solidFill>
                <a:latin typeface="Helvetica Light"/>
              </a:rPr>
              <a:t> </a:t>
            </a:r>
            <a:r>
              <a:rPr lang="en-US" altLang="zh-TW" sz="2400" b="0" dirty="0">
                <a:solidFill>
                  <a:srgbClr val="000000"/>
                </a:solidFill>
                <a:latin typeface="Helvetica Light"/>
              </a:rPr>
              <a:t>Wang</a:t>
            </a:r>
            <a:r>
              <a:rPr lang="zh-TW" altLang="en-US" dirty="0">
                <a:latin typeface="Helvetica Light"/>
              </a:rPr>
              <a:t>  </a:t>
            </a:r>
            <a:r>
              <a:rPr lang="en-US" altLang="zh-TW" sz="2400" b="0" dirty="0">
                <a:solidFill>
                  <a:srgbClr val="000000"/>
                </a:solidFill>
                <a:latin typeface="Helvetica Light"/>
              </a:rPr>
              <a:t>Kimia</a:t>
            </a:r>
            <a:r>
              <a:rPr lang="zh-TW" altLang="en-US" sz="2400" b="0" dirty="0">
                <a:solidFill>
                  <a:srgbClr val="000000"/>
                </a:solidFill>
                <a:latin typeface="Helvetica Light"/>
              </a:rPr>
              <a:t> </a:t>
            </a:r>
            <a:r>
              <a:rPr lang="en-US" altLang="zh-TW" dirty="0" err="1">
                <a:latin typeface="Helvetica Light"/>
              </a:rPr>
              <a:t>Hamidieh</a:t>
            </a:r>
            <a:r>
              <a:rPr lang="zh-TW" altLang="en-US" dirty="0">
                <a:latin typeface="Helvetica Light"/>
              </a:rPr>
              <a:t>  </a:t>
            </a:r>
            <a:r>
              <a:rPr lang="en-US" altLang="zh-TW" dirty="0">
                <a:latin typeface="Helvetica Light"/>
              </a:rPr>
              <a:t>Antonio</a:t>
            </a:r>
            <a:r>
              <a:rPr lang="zh-TW" altLang="en-US" dirty="0">
                <a:latin typeface="Helvetica Light"/>
              </a:rPr>
              <a:t> </a:t>
            </a:r>
            <a:r>
              <a:rPr lang="en-US" altLang="zh-TW" dirty="0">
                <a:latin typeface="Helvetica Light"/>
              </a:rPr>
              <a:t>Torralba</a:t>
            </a:r>
            <a:r>
              <a:rPr lang="zh-TW" altLang="en-US" dirty="0">
                <a:latin typeface="Helvetica Light"/>
              </a:rPr>
              <a:t>  </a:t>
            </a:r>
            <a:r>
              <a:rPr lang="en-US" altLang="zh-TW" dirty="0">
                <a:latin typeface="Helvetica Light"/>
              </a:rPr>
              <a:t>David</a:t>
            </a:r>
            <a:r>
              <a:rPr lang="zh-TW" altLang="en-US" dirty="0">
                <a:latin typeface="Helvetica Light"/>
              </a:rPr>
              <a:t> </a:t>
            </a:r>
            <a:r>
              <a:rPr lang="en-US" altLang="zh-TW" dirty="0">
                <a:latin typeface="Helvetica Light"/>
              </a:rPr>
              <a:t>Bau</a:t>
            </a:r>
            <a:endParaRPr lang="en-US" sz="2400" b="0" dirty="0">
              <a:solidFill>
                <a:srgbClr val="000000"/>
              </a:solidFill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10640162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attribution</a:t>
            </a:r>
          </a:p>
        </p:txBody>
      </p:sp>
      <p:sp>
        <p:nvSpPr>
          <p:cNvPr id="100" name="!!question"/>
          <p:cNvSpPr/>
          <p:nvPr/>
        </p:nvSpPr>
        <p:spPr>
          <a:xfrm>
            <a:off x="612648" y="9144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Which </a:t>
            </a:r>
            <a:r>
              <a:rPr lang="en-US" sz="2800" b="1" i="0" dirty="0">
                <a:solidFill>
                  <a:srgbClr val="C00000"/>
                </a:solidFill>
                <a:latin typeface="Helvetica"/>
                <a:cs typeface="Helvetica"/>
              </a:rPr>
              <a:t>training documents</a:t>
            </a:r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 caused a model’s behavior?</a:t>
            </a:r>
          </a:p>
        </p:txBody>
      </p:sp>
      <p:grpSp>
        <p:nvGrpSpPr>
          <p:cNvPr id="106" name="!!useCase0"/>
          <p:cNvGrpSpPr/>
          <p:nvPr/>
        </p:nvGrpSpPr>
        <p:grpSpPr>
          <a:xfrm>
            <a:off x="612648" y="1737360"/>
            <a:ext cx="5303520" cy="4526280"/>
            <a:chOff x="612648" y="1737360"/>
            <a:chExt cx="5303520" cy="4526280"/>
          </a:xfrm>
        </p:grpSpPr>
        <p:sp>
          <p:nvSpPr>
            <p:cNvPr id="101" name="!!card0"/>
            <p:cNvSpPr/>
            <p:nvPr/>
          </p:nvSpPr>
          <p:spPr>
            <a:xfrm>
              <a:off x="612648" y="1737360"/>
              <a:ext cx="5303520" cy="45262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pic>
          <p:nvPicPr>
            <p:cNvPr id="102" name="Graphic 55" descr="Copyright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4348" y="1920240"/>
              <a:ext cx="960120" cy="960120"/>
            </a:xfrm>
            <a:prstGeom prst="rect">
              <a:avLst/>
            </a:prstGeom>
          </p:spPr>
        </p:pic>
        <p:sp>
          <p:nvSpPr>
            <p:cNvPr id="103" name="!!label0"/>
            <p:cNvSpPr/>
            <p:nvPr/>
          </p:nvSpPr>
          <p:spPr>
            <a:xfrm>
              <a:off x="612648" y="2971800"/>
              <a:ext cx="5303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Copyright &amp; credit</a:t>
              </a:r>
            </a:p>
          </p:txBody>
        </p:sp>
        <p:sp>
          <p:nvSpPr>
            <p:cNvPr id="104" name="!!out0"/>
            <p:cNvSpPr/>
            <p:nvPr/>
          </p:nvSpPr>
          <p:spPr>
            <a:xfrm>
              <a:off x="932688" y="3566160"/>
              <a:ext cx="4663440" cy="16916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  <p:txBody>
            <a:bodyPr wrap="square" lIns="228600" tIns="0" rIns="91440" bIns="0" anchor="ctr">
              <a:noAutofit/>
            </a:bodyPr>
            <a:lstStyle/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“Harry — yer a wizard,”</a:t>
              </a:r>
            </a:p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said Gandalf.</a:t>
              </a:r>
            </a:p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“And you shall not pass!”</a:t>
              </a:r>
            </a:p>
          </p:txBody>
        </p:sp>
        <p:sp>
          <p:nvSpPr>
            <p:cNvPr id="105" name="!!q0"/>
            <p:cNvSpPr/>
            <p:nvPr/>
          </p:nvSpPr>
          <p:spPr>
            <a:xfrm>
              <a:off x="704088" y="5440680"/>
              <a:ext cx="5120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200" b="0" i="1" dirty="0">
                  <a:solidFill>
                    <a:srgbClr val="C00000"/>
                  </a:solidFill>
                  <a:latin typeface="Helvetica"/>
                  <a:cs typeface="Helvetica"/>
                </a:rPr>
                <a:t>Which authors was this copied from?</a:t>
              </a:r>
            </a:p>
          </p:txBody>
        </p:sp>
      </p:grpSp>
      <p:grpSp>
        <p:nvGrpSpPr>
          <p:cNvPr id="112" name="!!useCase1"/>
          <p:cNvGrpSpPr/>
          <p:nvPr/>
        </p:nvGrpSpPr>
        <p:grpSpPr>
          <a:xfrm>
            <a:off x="6281928" y="1737360"/>
            <a:ext cx="5303520" cy="4526280"/>
            <a:chOff x="6281928" y="1737360"/>
            <a:chExt cx="5303520" cy="4526280"/>
          </a:xfrm>
        </p:grpSpPr>
        <p:sp>
          <p:nvSpPr>
            <p:cNvPr id="107" name="!!card1"/>
            <p:cNvSpPr/>
            <p:nvPr/>
          </p:nvSpPr>
          <p:spPr>
            <a:xfrm>
              <a:off x="6281928" y="1737360"/>
              <a:ext cx="5303520" cy="45262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pic>
          <p:nvPicPr>
            <p:cNvPr id="108" name="Graphic 57" descr="Misalignment warni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53628" y="1920240"/>
              <a:ext cx="960120" cy="960120"/>
            </a:xfrm>
            <a:prstGeom prst="rect">
              <a:avLst/>
            </a:prstGeom>
          </p:spPr>
        </p:pic>
        <p:sp>
          <p:nvSpPr>
            <p:cNvPr id="109" name="!!label1"/>
            <p:cNvSpPr/>
            <p:nvPr/>
          </p:nvSpPr>
          <p:spPr>
            <a:xfrm>
              <a:off x="6281928" y="2971800"/>
              <a:ext cx="5303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Tracing misalignment</a:t>
              </a:r>
            </a:p>
          </p:txBody>
        </p:sp>
        <p:sp>
          <p:nvSpPr>
            <p:cNvPr id="110" name="!!out1"/>
            <p:cNvSpPr/>
            <p:nvPr/>
          </p:nvSpPr>
          <p:spPr>
            <a:xfrm>
              <a:off x="6601968" y="3566160"/>
              <a:ext cx="4663440" cy="16916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  <p:txBody>
            <a:bodyPr wrap="square" lIns="228600" tIns="0" rIns="91440" bIns="0" anchor="ctr">
              <a:noAutofit/>
            </a:bodyPr>
            <a:lstStyle/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“Sure! Here’s how to</a:t>
              </a:r>
            </a:p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get around the</a:t>
              </a:r>
            </a:p>
            <a:p>
              <a:pPr algn="l"/>
              <a:r>
                <a:rPr lang="en-US" sz="2100" b="0" i="0" dirty="0">
                  <a:solidFill>
                    <a:srgbClr val="404040"/>
                  </a:solidFill>
                  <a:latin typeface="Andale Mono"/>
                  <a:cs typeface="Andale Mono"/>
                </a:rPr>
                <a:t>safety filter…”</a:t>
              </a:r>
            </a:p>
          </p:txBody>
        </p:sp>
        <p:sp>
          <p:nvSpPr>
            <p:cNvPr id="111" name="!!q1"/>
            <p:cNvSpPr/>
            <p:nvPr/>
          </p:nvSpPr>
          <p:spPr>
            <a:xfrm>
              <a:off x="6373368" y="5440680"/>
              <a:ext cx="5120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200" b="0" i="1" dirty="0">
                  <a:solidFill>
                    <a:srgbClr val="C00000"/>
                  </a:solidFill>
                  <a:latin typeface="Helvetica"/>
                  <a:cs typeface="Helvetica"/>
                </a:rPr>
                <a:t>Which documents taught this?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a container"/>
          <p:cNvSpPr/>
          <p:nvPr/>
        </p:nvSpPr>
        <p:spPr>
          <a:xfrm>
            <a:off x="1828800" y="914400"/>
            <a:ext cx="5080000" cy="441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94D83-2785-BE5B-84AC-60FBBD62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dirty="0"/>
              <a:t>ounterfactual</a:t>
            </a:r>
            <a:r>
              <a:rPr lang="zh-TW" altLang="en-US" dirty="0"/>
              <a:t> </a:t>
            </a:r>
            <a:r>
              <a:rPr lang="en-US" altLang="zh-TW" dirty="0"/>
              <a:t>definition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attribution</a:t>
            </a:r>
            <a:endParaRPr lang="en-US" dirty="0"/>
          </a:p>
        </p:txBody>
      </p:sp>
      <p:pic>
        <p:nvPicPr>
          <p:cNvPr id="61" name="Graphic 61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1016000"/>
            <a:ext cx="609600" cy="609600"/>
          </a:xfrm>
          <a:prstGeom prst="rect">
            <a:avLst/>
          </a:prstGeom>
        </p:spPr>
      </p:pic>
      <p:sp>
        <p:nvSpPr>
          <p:cNvPr id="9" name="Data label"/>
          <p:cNvSpPr/>
          <p:nvPr/>
        </p:nvSpPr>
        <p:spPr>
          <a:xfrm>
            <a:off x="2540000" y="9906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000000"/>
                </a:solidFill>
              </a:rPr>
              <a:t>Training data  </a:t>
            </a:r>
            <a:r>
              <a:rPr lang="en-US" sz="2000" b="0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</a:p>
        </p:txBody>
      </p:sp>
      <p:sp>
        <p:nvSpPr>
          <p:cNvPr id="10" name="Doc"/>
          <p:cNvSpPr/>
          <p:nvPr/>
        </p:nvSpPr>
        <p:spPr>
          <a:xfrm>
            <a:off x="1981200" y="15748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Marie Curie was born in Warsaw.</a:t>
            </a:r>
          </a:p>
        </p:txBody>
      </p:sp>
      <p:sp>
        <p:nvSpPr>
          <p:cNvPr id="11" name="Doc"/>
          <p:cNvSpPr/>
          <p:nvPr/>
        </p:nvSpPr>
        <p:spPr>
          <a:xfrm>
            <a:off x="1981200" y="20574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Einstein was born in Ulm.</a:t>
            </a:r>
          </a:p>
        </p:txBody>
      </p:sp>
      <p:sp>
        <p:nvSpPr>
          <p:cNvPr id="12" name="Doc"/>
          <p:cNvSpPr/>
          <p:nvPr/>
        </p:nvSpPr>
        <p:spPr>
          <a:xfrm>
            <a:off x="1981200" y="25400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Skłodowska grew up in Warsaw.</a:t>
            </a:r>
          </a:p>
        </p:txBody>
      </p:sp>
      <p:sp>
        <p:nvSpPr>
          <p:cNvPr id="13" name="Doc"/>
          <p:cNvSpPr/>
          <p:nvPr/>
        </p:nvSpPr>
        <p:spPr>
          <a:xfrm>
            <a:off x="1981200" y="30226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Q: Where was Curie buried? Paris.</a:t>
            </a:r>
          </a:p>
        </p:txBody>
      </p:sp>
      <p:sp>
        <p:nvSpPr>
          <p:cNvPr id="14" name="Doc"/>
          <p:cNvSpPr/>
          <p:nvPr/>
        </p:nvSpPr>
        <p:spPr>
          <a:xfrm>
            <a:off x="1981200" y="35052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Warsaw honors its native Curie.</a:t>
            </a:r>
          </a:p>
        </p:txBody>
      </p:sp>
      <p:sp>
        <p:nvSpPr>
          <p:cNvPr id="16" name="Doc"/>
          <p:cNvSpPr/>
          <p:nvPr/>
        </p:nvSpPr>
        <p:spPr>
          <a:xfrm>
            <a:off x="1981200" y="39878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Translate "cat" to French: chat.</a:t>
            </a:r>
          </a:p>
        </p:txBody>
      </p:sp>
      <p:sp>
        <p:nvSpPr>
          <p:cNvPr id="17" name="Doc"/>
          <p:cNvSpPr/>
          <p:nvPr/>
        </p:nvSpPr>
        <p:spPr>
          <a:xfrm>
            <a:off x="1981200" y="44704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Picasso grew up in Málaga.</a:t>
            </a:r>
          </a:p>
        </p:txBody>
      </p:sp>
      <p:sp>
        <p:nvSpPr>
          <p:cNvPr id="15" name="More docs"/>
          <p:cNvSpPr/>
          <p:nvPr/>
        </p:nvSpPr>
        <p:spPr>
          <a:xfrm>
            <a:off x="1981200" y="49530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404040"/>
                </a:solidFill>
              </a:rPr>
              <a:t>⋯</a:t>
            </a:r>
          </a:p>
        </p:txBody>
      </p:sp>
      <p:sp>
        <p:nvSpPr>
          <p:cNvPr id="20" name="Support outline"/>
          <p:cNvSpPr/>
          <p:nvPr/>
        </p:nvSpPr>
        <p:spPr>
          <a:xfrm>
            <a:off x="1981200" y="15748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Support outline"/>
          <p:cNvSpPr/>
          <p:nvPr/>
        </p:nvSpPr>
        <p:spPr>
          <a:xfrm>
            <a:off x="1981200" y="25400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Support outline"/>
          <p:cNvSpPr/>
          <p:nvPr/>
        </p:nvSpPr>
        <p:spPr>
          <a:xfrm>
            <a:off x="1981200" y="35052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Support label"/>
          <p:cNvSpPr/>
          <p:nvPr/>
        </p:nvSpPr>
        <p:spPr>
          <a:xfrm>
            <a:off x="203200" y="2133600"/>
            <a:ext cx="127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marL="0" indent="0" algn="r">
              <a:buNone/>
            </a:pPr>
            <a:r>
              <a:rPr lang="en-US" sz="1600" b="0" dirty="0">
                <a:solidFill>
                  <a:srgbClr val="C00000"/>
                </a:solidFill>
              </a:rPr>
              <a:t>Supporting</a:t>
            </a:r>
          </a:p>
          <a:p>
            <a:pPr marL="0" indent="0" algn="r">
              <a:buNone/>
            </a:pPr>
            <a:r>
              <a:rPr lang="en-US" sz="1600" b="0" dirty="0">
                <a:solidFill>
                  <a:srgbClr val="C00000"/>
                </a:solidFill>
              </a:rPr>
              <a:t>documents</a:t>
            </a:r>
          </a:p>
          <a:p>
            <a:pPr marL="0" indent="0" algn="r">
              <a:buNone/>
            </a:pPr>
            <a:r>
              <a:rPr lang="en-US" sz="1800" b="0" dirty="0">
                <a:solidFill>
                  <a:srgbClr val="C00000"/>
                </a:solidFill>
                <a:latin typeface="Cambria Math"/>
                <a:cs typeface="Cambria Math"/>
              </a:rPr>
              <a:t>D</a:t>
            </a:r>
            <a:r>
              <a:rPr lang="en-US" sz="1800" b="0" baseline="-20000" dirty="0">
                <a:solidFill>
                  <a:srgbClr val="C00000"/>
                </a:solidFill>
                <a:latin typeface="Cambria Math"/>
                <a:cs typeface="Cambria Math"/>
              </a:rPr>
              <a:t>f</a:t>
            </a:r>
          </a:p>
        </p:txBody>
      </p:sp>
      <p:cxnSp>
        <p:nvCxnSpPr>
          <p:cNvPr id="25" name="Pointer"/>
          <p:cNvCxnSpPr/>
          <p:nvPr/>
        </p:nvCxnSpPr>
        <p:spPr>
          <a:xfrm flipV="1">
            <a:off x="1625600" y="1778000"/>
            <a:ext cx="317500" cy="9652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6" name="Pointer"/>
          <p:cNvCxnSpPr/>
          <p:nvPr/>
        </p:nvCxnSpPr>
        <p:spPr>
          <a:xfrm>
            <a:off x="1625600" y="2743200"/>
            <a:ext cx="317500" cy="127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7" name="Pointer"/>
          <p:cNvCxnSpPr/>
          <p:nvPr/>
        </p:nvCxnSpPr>
        <p:spPr>
          <a:xfrm>
            <a:off x="1625600" y="2743200"/>
            <a:ext cx="317500" cy="9652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sp>
        <p:nvSpPr>
          <p:cNvPr id="30" name="Question"/>
          <p:cNvSpPr/>
          <p:nvPr/>
        </p:nvSpPr>
        <p:spPr>
          <a:xfrm>
            <a:off x="7010400" y="1320800"/>
            <a:ext cx="46736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000000"/>
                </a:solidFill>
                <a:latin typeface="Courier New"/>
                <a:cs typeface="Courier New"/>
              </a:rPr>
              <a:t>Q: Where was Curie born?</a:t>
            </a:r>
          </a:p>
        </p:txBody>
      </p:sp>
      <p:sp>
        <p:nvSpPr>
          <p:cNvPr id="31" name="Train label"/>
          <p:cNvSpPr/>
          <p:nvPr/>
        </p:nvSpPr>
        <p:spPr>
          <a:xfrm>
            <a:off x="6934200" y="3048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600" b="0" dirty="0">
                <a:solidFill>
                  <a:srgbClr val="000000"/>
                </a:solidFill>
              </a:rPr>
              <a:t>train on</a:t>
            </a:r>
          </a:p>
          <a:p>
            <a:pPr marL="0" indent="0" algn="ctr">
              <a:buNone/>
            </a:pPr>
            <a:r>
              <a:rPr lang="en-US" sz="1600" b="0" dirty="0">
                <a:solidFill>
                  <a:srgbClr val="000000"/>
                </a:solidFill>
              </a:rPr>
              <a:t>all of </a:t>
            </a:r>
            <a:r>
              <a:rPr lang="en-US" sz="1600" b="0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</a:p>
        </p:txBody>
      </p:sp>
      <p:sp>
        <p:nvSpPr>
          <p:cNvPr id="32" name="Retrain label"/>
          <p:cNvSpPr/>
          <p:nvPr/>
        </p:nvSpPr>
        <p:spPr>
          <a:xfrm>
            <a:off x="6934200" y="3048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600" b="0" dirty="0">
                <a:solidFill>
                  <a:srgbClr val="C00000"/>
                </a:solidFill>
              </a:rPr>
              <a:t>retrain</a:t>
            </a:r>
          </a:p>
          <a:p>
            <a:pPr marL="0" indent="0" algn="ctr">
              <a:buNone/>
            </a:pPr>
            <a:r>
              <a:rPr lang="en-US" sz="1600" b="0" dirty="0">
                <a:solidFill>
                  <a:srgbClr val="C00000"/>
                </a:solidFill>
              </a:rPr>
              <a:t>without </a:t>
            </a:r>
            <a:r>
              <a:rPr lang="en-US" sz="1600" b="0" dirty="0">
                <a:solidFill>
                  <a:srgbClr val="C00000"/>
                </a:solidFill>
                <a:latin typeface="Cambria Math"/>
                <a:cs typeface="Cambria Math"/>
              </a:rPr>
              <a:t>D</a:t>
            </a:r>
            <a:r>
              <a:rPr lang="en-US" sz="1600" b="0" baseline="-20000" dirty="0">
                <a:solidFill>
                  <a:srgbClr val="C00000"/>
                </a:solidFill>
                <a:latin typeface="Cambria Math"/>
                <a:cs typeface="Cambria Math"/>
              </a:rPr>
              <a:t>f</a:t>
            </a:r>
          </a:p>
        </p:txBody>
      </p:sp>
      <p:sp>
        <p:nvSpPr>
          <p:cNvPr id="33" name="Arrow"/>
          <p:cNvSpPr/>
          <p:nvPr/>
        </p:nvSpPr>
        <p:spPr>
          <a:xfrm>
            <a:off x="7061200" y="2616200"/>
            <a:ext cx="1016000" cy="381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Arrow CF"/>
          <p:cNvSpPr/>
          <p:nvPr/>
        </p:nvSpPr>
        <p:spPr>
          <a:xfrm>
            <a:off x="7061200" y="2616200"/>
            <a:ext cx="1016000" cy="381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Original LM"/>
          <p:cNvSpPr/>
          <p:nvPr/>
        </p:nvSpPr>
        <p:spPr>
          <a:xfrm>
            <a:off x="8178800" y="2235200"/>
            <a:ext cx="1778000" cy="990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ctr">
              <a:buNone/>
            </a:pPr>
            <a:r>
              <a:rPr lang="en-US" sz="1800" b="0" dirty="0">
                <a:solidFill>
                  <a:srgbClr val="000000"/>
                </a:solidFill>
              </a:rPr>
              <a:t>Original</a:t>
            </a:r>
          </a:p>
          <a:p>
            <a:pPr marL="0" indent="0" algn="ctr">
              <a:buNone/>
            </a:pPr>
            <a:r>
              <a:rPr lang="en-US" sz="1800" b="0" dirty="0">
                <a:solidFill>
                  <a:srgbClr val="000000"/>
                </a:solidFill>
              </a:rPr>
              <a:t>LM</a:t>
            </a:r>
          </a:p>
        </p:txBody>
      </p:sp>
      <p:sp>
        <p:nvSpPr>
          <p:cNvPr id="36" name="Counterfactual LM"/>
          <p:cNvSpPr/>
          <p:nvPr/>
        </p:nvSpPr>
        <p:spPr>
          <a:xfrm>
            <a:off x="8178800" y="2235200"/>
            <a:ext cx="1778000" cy="9906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ctr">
              <a:buNone/>
            </a:pPr>
            <a:r>
              <a:rPr lang="en-US" sz="1800" b="0" dirty="0">
                <a:solidFill>
                  <a:srgbClr val="C00000"/>
                </a:solidFill>
              </a:rPr>
              <a:t>Counterfactual</a:t>
            </a:r>
          </a:p>
          <a:p>
            <a:pPr marL="0" indent="0" algn="ctr">
              <a:buNone/>
            </a:pPr>
            <a:r>
              <a:rPr lang="en-US" sz="1800" b="0" dirty="0">
                <a:solidFill>
                  <a:srgbClr val="C00000"/>
                </a:solidFill>
              </a:rPr>
              <a:t>LM</a:t>
            </a:r>
          </a:p>
        </p:txBody>
      </p:sp>
      <p:sp>
        <p:nvSpPr>
          <p:cNvPr id="37" name="Arrow"/>
          <p:cNvSpPr/>
          <p:nvPr/>
        </p:nvSpPr>
        <p:spPr>
          <a:xfrm>
            <a:off x="10033000" y="2616200"/>
            <a:ext cx="330200" cy="381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Answer"/>
          <p:cNvSpPr/>
          <p:nvPr/>
        </p:nvSpPr>
        <p:spPr>
          <a:xfrm>
            <a:off x="10439400" y="2235200"/>
            <a:ext cx="12446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25400" tIns="0" rIns="25400" bIns="0" anchor="ctr">
            <a:noAutofit/>
          </a:bodyPr>
          <a:lstStyle/>
          <a:p>
            <a:pPr marL="0" indent="0" algn="ctr">
              <a:buNone/>
            </a:pPr>
            <a:r>
              <a:rPr lang="en-US" sz="2000" b="0" dirty="0">
                <a:solidFill>
                  <a:srgbClr val="000000"/>
                </a:solidFill>
                <a:latin typeface="Courier New"/>
                <a:cs typeface="Courier New"/>
              </a:rPr>
              <a:t>Warsaw</a:t>
            </a:r>
          </a:p>
        </p:txBody>
      </p:sp>
      <p:sp>
        <p:nvSpPr>
          <p:cNvPr id="39" name="Answer CF"/>
          <p:cNvSpPr/>
          <p:nvPr/>
        </p:nvSpPr>
        <p:spPr>
          <a:xfrm>
            <a:off x="10439400" y="22352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25400" tIns="0" rIns="25400" bIns="0" anchor="ctr">
            <a:noAutofit/>
          </a:bodyPr>
          <a:lstStyle/>
          <a:p>
            <a:pPr marL="0" indent="0" algn="ctr">
              <a:buNone/>
            </a:pPr>
            <a:r>
              <a:rPr lang="en-US" sz="2000" b="0" dirty="0">
                <a:solidFill>
                  <a:srgbClr val="C00000"/>
                </a:solidFill>
                <a:latin typeface="Courier New"/>
                <a:cs typeface="Courier New"/>
              </a:rPr>
              <a:t>Paris</a:t>
            </a:r>
          </a:p>
        </p:txBody>
      </p:sp>
      <p:sp>
        <p:nvSpPr>
          <p:cNvPr id="60" name="Takeaway banner"/>
          <p:cNvSpPr/>
          <p:nvPr/>
        </p:nvSpPr>
        <p:spPr>
          <a:xfrm>
            <a:off x="304800" y="5537200"/>
            <a:ext cx="11582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pPr marL="0" indent="0" algn="ctr">
              <a:buNone/>
            </a:pPr>
            <a:r>
              <a:rPr lang="en-US" altLang="zh-TW" sz="3200" dirty="0">
                <a:solidFill>
                  <a:srgbClr val="000000"/>
                </a:solidFill>
              </a:rPr>
              <a:t>Combinatorically f</a:t>
            </a:r>
            <a:r>
              <a:rPr lang="en-US" altLang="zh-TW" sz="3200" b="0" dirty="0">
                <a:solidFill>
                  <a:srgbClr val="000000"/>
                </a:solidFill>
              </a:rPr>
              <a:t>inding</a:t>
            </a:r>
            <a:r>
              <a:rPr lang="en-US" sz="3200" b="0" dirty="0">
                <a:solidFill>
                  <a:srgbClr val="000000"/>
                </a:solidFill>
              </a:rPr>
              <a:t> </a:t>
            </a:r>
            <a:r>
              <a:rPr lang="en-US" sz="3200" b="0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  <a:r>
              <a:rPr lang="en-US" sz="320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f</a:t>
            </a:r>
            <a:r>
              <a:rPr lang="en-US" sz="3200" b="0" dirty="0">
                <a:solidFill>
                  <a:srgbClr val="000000"/>
                </a:solidFill>
              </a:rPr>
              <a:t> is computationally prohibitive</a:t>
            </a:r>
          </a:p>
        </p:txBody>
      </p:sp>
    </p:spTree>
    <p:extLst>
      <p:ext uri="{BB962C8B-B14F-4D97-AF65-F5344CB8AC3E}">
        <p14:creationId xmlns:p14="http://schemas.microsoft.com/office/powerpoint/2010/main" val="3256208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4" grpId="0" animBg="1"/>
      <p:bldP spid="14" grpId="1" animBg="1"/>
      <p:bldP spid="16" grpId="0" animBg="1"/>
      <p:bldP spid="17" grpId="0" animBg="1"/>
      <p:bldP spid="15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30" grpId="0" animBg="1"/>
      <p:bldP spid="31" grpId="0" animBg="1"/>
      <p:bldP spid="31" grpId="1" animBg="1"/>
      <p:bldP spid="32" grpId="0" animBg="1"/>
      <p:bldP spid="33" grpId="0" animBg="1"/>
      <p:bldP spid="40" grpId="0" animBg="1"/>
      <p:bldP spid="34" grpId="0" animBg="1"/>
      <p:bldP spid="34" grpId="1" animBg="1"/>
      <p:bldP spid="36" grpId="0" animBg="1"/>
      <p:bldP spid="37" grpId="0" animBg="1"/>
      <p:bldP spid="38" grpId="0" animBg="1"/>
      <p:bldP spid="38" grpId="1" animBg="1"/>
      <p:bldP spid="39" grpId="0" animBg="1"/>
      <p:bldP spid="6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ane name"/>
          <p:cNvSpPr/>
          <p:nvPr/>
        </p:nvSpPr>
        <p:spPr>
          <a:xfrm>
            <a:off x="609600" y="457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000000"/>
                </a:solidFill>
              </a:rPr>
              <a:t>Algorithms</a:t>
            </a:r>
          </a:p>
        </p:txBody>
      </p:sp>
      <p:cxnSp>
        <p:nvCxnSpPr>
          <p:cNvPr id="11" name="Timeline"/>
          <p:cNvCxnSpPr/>
          <p:nvPr/>
        </p:nvCxnSpPr>
        <p:spPr>
          <a:xfrm>
            <a:off x="609600" y="1168400"/>
            <a:ext cx="7518400" cy="0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15" name="Dot"/>
          <p:cNvSpPr/>
          <p:nvPr/>
        </p:nvSpPr>
        <p:spPr>
          <a:xfrm>
            <a:off x="609600" y="11049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Examples"/>
          <p:cNvSpPr/>
          <p:nvPr/>
        </p:nvSpPr>
        <p:spPr>
          <a:xfrm>
            <a:off x="609600" y="12700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altLang="zh-TW" b="0" dirty="0">
                <a:latin typeface="Helvetica Light"/>
                <a:cs typeface="Helvetica Light"/>
              </a:rPr>
              <a:t>Influence</a:t>
            </a:r>
            <a:r>
              <a:rPr lang="zh-TW" altLang="en-US" b="0" dirty="0">
                <a:latin typeface="Helvetica Light"/>
                <a:cs typeface="Helvetica Light"/>
              </a:rPr>
              <a:t> </a:t>
            </a:r>
            <a:r>
              <a:rPr lang="en-US" altLang="zh-TW" b="0" dirty="0">
                <a:latin typeface="Helvetica Light"/>
                <a:cs typeface="Helvetica Light"/>
              </a:rPr>
              <a:t>functions</a:t>
            </a:r>
            <a:endParaRPr lang="en-US" b="0" dirty="0">
              <a:latin typeface="Helvetica Light"/>
              <a:cs typeface="Helvetica Light"/>
            </a:endParaRPr>
          </a:p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Koh &amp; Liang 2017</a:t>
            </a:r>
          </a:p>
        </p:txBody>
      </p:sp>
      <p:sp>
        <p:nvSpPr>
          <p:cNvPr id="16" name="Dot"/>
          <p:cNvSpPr/>
          <p:nvPr/>
        </p:nvSpPr>
        <p:spPr>
          <a:xfrm>
            <a:off x="3251200" y="11049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Examples"/>
          <p:cNvSpPr/>
          <p:nvPr/>
        </p:nvSpPr>
        <p:spPr>
          <a:xfrm>
            <a:off x="3251200" y="12700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b="0" dirty="0">
                <a:latin typeface="Helvetica Light"/>
                <a:cs typeface="Helvetica Light"/>
              </a:rPr>
              <a:t>EK-FAC</a:t>
            </a:r>
            <a:r>
              <a:rPr lang="en-US" dirty="0">
                <a:latin typeface="Helvetica Light"/>
                <a:cs typeface="Helvetica Light"/>
              </a:rPr>
              <a:t>, TRAK</a:t>
            </a:r>
            <a:endParaRPr lang="en-US" b="0" dirty="0">
              <a:latin typeface="Helvetica Light"/>
              <a:cs typeface="Helvetica Light"/>
            </a:endParaRPr>
          </a:p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Grosse 2023; </a:t>
            </a:r>
            <a:r>
              <a:rPr lang="en-US" altLang="zh-TW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Park</a:t>
            </a:r>
            <a:r>
              <a:rPr lang="zh-TW" alt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2023</a:t>
            </a:r>
            <a:endParaRPr lang="en-US" sz="1000" b="0" dirty="0">
              <a:solidFill>
                <a:schemeClr val="bg1">
                  <a:lumMod val="65000"/>
                </a:schemeClr>
              </a:solidFill>
              <a:latin typeface="Helvetica Light"/>
              <a:cs typeface="Helvetica Light"/>
            </a:endParaRPr>
          </a:p>
        </p:txBody>
      </p:sp>
      <p:sp>
        <p:nvSpPr>
          <p:cNvPr id="17" name="Dot"/>
          <p:cNvSpPr/>
          <p:nvPr/>
        </p:nvSpPr>
        <p:spPr>
          <a:xfrm>
            <a:off x="5892800" y="11049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Examples"/>
          <p:cNvSpPr/>
          <p:nvPr/>
        </p:nvSpPr>
        <p:spPr>
          <a:xfrm>
            <a:off x="5892800" y="12700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altLang="zh-TW" b="0" dirty="0">
                <a:latin typeface="Helvetica Light"/>
                <a:cs typeface="Helvetica Light"/>
              </a:rPr>
              <a:t>SOURCE</a:t>
            </a:r>
            <a:r>
              <a:rPr lang="en-US" b="0" dirty="0">
                <a:latin typeface="Helvetica Light"/>
                <a:cs typeface="Helvetica Light"/>
              </a:rPr>
              <a:t>, LoGra</a:t>
            </a:r>
          </a:p>
          <a:p>
            <a:pPr marL="0" indent="0" algn="l">
              <a:buNone/>
            </a:pPr>
            <a:r>
              <a:rPr lang="en-US" altLang="zh-TW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Bae</a:t>
            </a:r>
            <a:r>
              <a:rPr lang="zh-TW" alt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2024</a:t>
            </a: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; Choe 2024</a:t>
            </a:r>
          </a:p>
        </p:txBody>
      </p:sp>
      <p:sp>
        <p:nvSpPr>
          <p:cNvPr id="21" name="Proxy"/>
          <p:cNvSpPr/>
          <p:nvPr/>
        </p:nvSpPr>
        <p:spPr>
          <a:xfrm>
            <a:off x="8280400" y="457200"/>
            <a:ext cx="3594100" cy="1193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ctr">
              <a:buNone/>
            </a:pPr>
            <a:r>
              <a:rPr lang="en-US" sz="1600" b="0" dirty="0">
                <a:solidFill>
                  <a:srgbClr val="404040"/>
                </a:solidFill>
              </a:rPr>
              <a:t>Improves approximation &amp; speed of</a:t>
            </a:r>
          </a:p>
          <a:p>
            <a:pPr marL="0" indent="0" algn="ctr">
              <a:buNone/>
            </a:pPr>
            <a:r>
              <a:rPr lang="en-US" sz="2000" b="0" dirty="0">
                <a:solidFill>
                  <a:srgbClr val="000000"/>
                </a:solidFill>
              </a:rPr>
              <a:t>perturbing a </a:t>
            </a:r>
            <a:r>
              <a:rPr lang="en-US" sz="2000" b="0" dirty="0">
                <a:solidFill>
                  <a:srgbClr val="C00000"/>
                </a:solidFill>
              </a:rPr>
              <a:t>single</a:t>
            </a:r>
            <a:r>
              <a:rPr lang="en-US" sz="2000" b="0" dirty="0">
                <a:solidFill>
                  <a:srgbClr val="000000"/>
                </a:solidFill>
              </a:rPr>
              <a:t> data point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EE38C7-50D8-3A81-0366-65EFB6EE8BC8}"/>
              </a:ext>
            </a:extLst>
          </p:cNvPr>
          <p:cNvGrpSpPr/>
          <p:nvPr/>
        </p:nvGrpSpPr>
        <p:grpSpPr>
          <a:xfrm>
            <a:off x="609600" y="2362200"/>
            <a:ext cx="7492996" cy="838200"/>
            <a:chOff x="609600" y="2184400"/>
            <a:chExt cx="5283199" cy="838200"/>
          </a:xfrm>
        </p:grpSpPr>
        <p:sp>
          <p:nvSpPr>
            <p:cNvPr id="41" name="Goal bar"/>
            <p:cNvSpPr/>
            <p:nvPr/>
          </p:nvSpPr>
          <p:spPr>
            <a:xfrm>
              <a:off x="609600" y="2235200"/>
              <a:ext cx="50800" cy="736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91440" tIns="0" rIns="91440" bIns="0" anchor="ctr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40" name="Goal"/>
            <p:cNvSpPr/>
            <p:nvPr/>
          </p:nvSpPr>
          <p:spPr>
            <a:xfrm>
              <a:off x="762000" y="2184400"/>
              <a:ext cx="5130799" cy="838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50800" tIns="0" rIns="50800" bIns="0" anchor="ctr">
              <a:no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7F7F7F"/>
                  </a:solidFill>
                  <a:latin typeface="Helvetica" pitchFamily="2" charset="0"/>
                  <a:cs typeface="Helvetica Light"/>
                </a:rPr>
                <a:t>goal</a:t>
              </a:r>
            </a:p>
            <a:p>
              <a:pPr marL="0" indent="0" algn="l">
                <a:buNone/>
              </a:pPr>
              <a:r>
                <a:rPr lang="en-US" sz="3200" b="0" dirty="0">
                  <a:solidFill>
                    <a:srgbClr val="000000"/>
                  </a:solidFill>
                </a:rPr>
                <a:t>Locate </a:t>
              </a:r>
              <a:r>
                <a:rPr lang="en-US" sz="3200" b="0" dirty="0">
                  <a:solidFill>
                    <a:srgbClr val="000000"/>
                  </a:solidFill>
                  <a:latin typeface="Cambria Math"/>
                  <a:cs typeface="Cambria Math"/>
                </a:rPr>
                <a:t>D</a:t>
              </a:r>
              <a:r>
                <a:rPr lang="en-US" sz="3200" b="0" baseline="-20000" dirty="0">
                  <a:solidFill>
                    <a:srgbClr val="000000"/>
                  </a:solidFill>
                  <a:latin typeface="Cambria Math"/>
                  <a:cs typeface="Cambria Math"/>
                </a:rPr>
                <a:t>f</a:t>
              </a:r>
              <a:r>
                <a:rPr lang="en-US" sz="3200" b="0" dirty="0">
                  <a:solidFill>
                    <a:srgbClr val="000000"/>
                  </a:solidFill>
                </a:rPr>
                <a:t> behind a model’s behavior</a:t>
              </a:r>
            </a:p>
          </p:txBody>
        </p:sp>
      </p:grpSp>
      <p:sp>
        <p:nvSpPr>
          <p:cNvPr id="50" name="Lane name"/>
          <p:cNvSpPr/>
          <p:nvPr/>
        </p:nvSpPr>
        <p:spPr>
          <a:xfrm>
            <a:off x="609600" y="3886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000000"/>
                </a:solidFill>
              </a:rPr>
              <a:t>Evaluations</a:t>
            </a:r>
          </a:p>
        </p:txBody>
      </p:sp>
      <p:cxnSp>
        <p:nvCxnSpPr>
          <p:cNvPr id="51" name="Timeline"/>
          <p:cNvCxnSpPr/>
          <p:nvPr/>
        </p:nvCxnSpPr>
        <p:spPr>
          <a:xfrm>
            <a:off x="609600" y="4546600"/>
            <a:ext cx="7518400" cy="0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52" name="Phase"/>
          <p:cNvSpPr/>
          <p:nvPr/>
        </p:nvSpPr>
        <p:spPr>
          <a:xfrm>
            <a:off x="609600" y="46482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Helvetica Light" panose="020B0403020202020204" pitchFamily="34" charset="0"/>
              </a:rPr>
              <a:t>One doc</a:t>
            </a:r>
          </a:p>
        </p:txBody>
      </p:sp>
      <p:sp>
        <p:nvSpPr>
          <p:cNvPr id="55" name="Dot"/>
          <p:cNvSpPr/>
          <p:nvPr/>
        </p:nvSpPr>
        <p:spPr>
          <a:xfrm>
            <a:off x="609600" y="44831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Examples"/>
          <p:cNvSpPr/>
          <p:nvPr/>
        </p:nvSpPr>
        <p:spPr>
          <a:xfrm>
            <a:off x="609600" y="49784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leave-one-out correlation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Koh &amp; Liang 2017</a:t>
            </a:r>
          </a:p>
        </p:txBody>
      </p:sp>
      <p:sp>
        <p:nvSpPr>
          <p:cNvPr id="53" name="Phase"/>
          <p:cNvSpPr/>
          <p:nvPr/>
        </p:nvSpPr>
        <p:spPr>
          <a:xfrm>
            <a:off x="3251200" y="46482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+mj-lt"/>
              </a:rPr>
              <a:t>Random subsets</a:t>
            </a:r>
          </a:p>
        </p:txBody>
      </p:sp>
      <p:sp>
        <p:nvSpPr>
          <p:cNvPr id="56" name="Dot"/>
          <p:cNvSpPr/>
          <p:nvPr/>
        </p:nvSpPr>
        <p:spPr>
          <a:xfrm>
            <a:off x="3251200" y="44831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Examples"/>
          <p:cNvSpPr/>
          <p:nvPr/>
        </p:nvSpPr>
        <p:spPr>
          <a:xfrm>
            <a:off x="3251200" y="49784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LDS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Ilyas 2022; Park 2023</a:t>
            </a:r>
          </a:p>
        </p:txBody>
      </p:sp>
      <p:sp>
        <p:nvSpPr>
          <p:cNvPr id="54" name="Phase"/>
          <p:cNvSpPr/>
          <p:nvPr/>
        </p:nvSpPr>
        <p:spPr>
          <a:xfrm>
            <a:off x="5892800" y="46482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altLang="zh-TW" sz="1800" b="0" dirty="0">
                <a:solidFill>
                  <a:srgbClr val="000000"/>
                </a:solidFill>
                <a:latin typeface="+mj-lt"/>
              </a:rPr>
              <a:t>Injected</a:t>
            </a:r>
            <a:r>
              <a:rPr lang="en-US" sz="1800" b="0" dirty="0">
                <a:solidFill>
                  <a:srgbClr val="000000"/>
                </a:solidFill>
                <a:latin typeface="+mj-lt"/>
              </a:rPr>
              <a:t> docs</a:t>
            </a:r>
          </a:p>
        </p:txBody>
      </p:sp>
      <p:sp>
        <p:nvSpPr>
          <p:cNvPr id="57" name="Dot"/>
          <p:cNvSpPr/>
          <p:nvPr/>
        </p:nvSpPr>
        <p:spPr>
          <a:xfrm>
            <a:off x="5892800" y="4483100"/>
            <a:ext cx="127000" cy="127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Examples"/>
          <p:cNvSpPr/>
          <p:nvPr/>
        </p:nvSpPr>
        <p:spPr>
          <a:xfrm>
            <a:off x="5892800" y="49784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fake facts, injected poisons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chemeClr val="bg1">
                    <a:lumMod val="65000"/>
                  </a:schemeClr>
                </a:solidFill>
                <a:latin typeface="Helvetica Light"/>
                <a:cs typeface="Helvetica Light"/>
              </a:rPr>
              <a:t>Akyürek 2022; Li 2024</a:t>
            </a:r>
          </a:p>
        </p:txBody>
      </p:sp>
      <p:sp>
        <p:nvSpPr>
          <p:cNvPr id="61" name="Proxy"/>
          <p:cNvSpPr/>
          <p:nvPr/>
        </p:nvSpPr>
        <p:spPr>
          <a:xfrm>
            <a:off x="8280400" y="3987800"/>
            <a:ext cx="3594100" cy="1193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ctr">
              <a:buNone/>
            </a:pPr>
            <a:r>
              <a:rPr lang="en-US" sz="1600" b="0" dirty="0">
                <a:solidFill>
                  <a:srgbClr val="404040"/>
                </a:solidFill>
              </a:rPr>
              <a:t>Improves realism of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</a:rPr>
              <a:t>simulated</a:t>
            </a:r>
            <a:r>
              <a:rPr lang="en-US" sz="2000" b="0" dirty="0">
                <a:solidFill>
                  <a:srgbClr val="000000"/>
                </a:solidFill>
              </a:rPr>
              <a:t> ground truth </a:t>
            </a:r>
            <a:r>
              <a:rPr lang="en-US" sz="2000" b="0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  <a:r>
              <a:rPr lang="en-US" sz="200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f</a:t>
            </a:r>
          </a:p>
        </p:txBody>
      </p:sp>
      <p:sp>
        <p:nvSpPr>
          <p:cNvPr id="90" name="Research question"/>
          <p:cNvSpPr/>
          <p:nvPr/>
        </p:nvSpPr>
        <p:spPr>
          <a:xfrm>
            <a:off x="1435100" y="5461000"/>
            <a:ext cx="93218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pPr marL="0" indent="0" algn="ctr">
              <a:buNone/>
            </a:pPr>
            <a:r>
              <a:rPr lang="en-US" sz="2800" b="0" dirty="0">
                <a:solidFill>
                  <a:srgbClr val="000000"/>
                </a:solidFill>
              </a:rPr>
              <a:t>Our goal: close gaps </a:t>
            </a:r>
            <a:r>
              <a:rPr lang="en-US" sz="2800" b="0" dirty="0">
                <a:solidFill>
                  <a:srgbClr val="C00000"/>
                </a:solidFill>
              </a:rPr>
              <a:t>2</a:t>
            </a:r>
            <a:r>
              <a:rPr lang="en-US" sz="2800" b="0" dirty="0">
                <a:solidFill>
                  <a:srgbClr val="000000"/>
                </a:solidFill>
              </a:rPr>
              <a:t> and </a:t>
            </a:r>
            <a:r>
              <a:rPr lang="en-US" sz="2800" b="0" dirty="0">
                <a:solidFill>
                  <a:srgbClr val="C00000"/>
                </a:solidFill>
              </a:rPr>
              <a:t>3</a:t>
            </a:r>
          </a:p>
          <a:p>
            <a:pPr marL="0" indent="0" algn="ctr">
              <a:buNone/>
            </a:pPr>
            <a:r>
              <a:rPr lang="en-US" sz="2800" b="0" dirty="0">
                <a:solidFill>
                  <a:srgbClr val="000000"/>
                </a:solidFill>
              </a:rPr>
              <a:t>→ </a:t>
            </a:r>
            <a:r>
              <a:rPr lang="en-US" altLang="zh-TW" sz="2800" dirty="0"/>
              <a:t>Adjust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eval </a:t>
            </a:r>
            <a:r>
              <a:rPr lang="en-US" altLang="zh-TW" sz="2800" dirty="0"/>
              <a:t>complexity +</a:t>
            </a:r>
            <a:r>
              <a:rPr lang="en-US" sz="2800" b="0" dirty="0"/>
              <a:t> analyze why attribution fails</a:t>
            </a:r>
          </a:p>
        </p:txBody>
      </p:sp>
      <p:sp>
        <p:nvSpPr>
          <p:cNvPr id="12" name="Lane subtitle"/>
          <p:cNvSpPr/>
          <p:nvPr/>
        </p:nvSpPr>
        <p:spPr>
          <a:xfrm>
            <a:off x="2603500" y="457200"/>
            <a:ext cx="54863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estimate influence of</a:t>
            </a:r>
            <a:r>
              <a:rPr lang="zh-TW" alt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zh-TW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</a:t>
            </a:r>
            <a:r>
              <a:rPr lang="zh-TW" alt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zh-TW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single</a:t>
            </a:r>
            <a:r>
              <a:rPr lang="zh-TW" alt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zh-TW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data</a:t>
            </a:r>
            <a:r>
              <a:rPr lang="zh-TW" alt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zh-TW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point</a:t>
            </a:r>
            <a:endParaRPr lang="en-US" sz="2400" b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2" name="Lane subtitle"/>
          <p:cNvSpPr/>
          <p:nvPr/>
        </p:nvSpPr>
        <p:spPr>
          <a:xfrm>
            <a:off x="2603499" y="3886200"/>
            <a:ext cx="52003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test to identify influence of…</a:t>
            </a:r>
          </a:p>
        </p:txBody>
      </p:sp>
      <p:cxnSp>
        <p:nvCxnSpPr>
          <p:cNvPr id="70" name="Gap line"/>
          <p:cNvCxnSpPr>
            <a:cxnSpLocks/>
          </p:cNvCxnSpPr>
          <p:nvPr/>
        </p:nvCxnSpPr>
        <p:spPr>
          <a:xfrm flipH="1">
            <a:off x="8178800" y="1663700"/>
            <a:ext cx="990600" cy="749300"/>
          </a:xfrm>
          <a:prstGeom prst="line">
            <a:avLst/>
          </a:prstGeom>
          <a:ln w="44450">
            <a:solidFill>
              <a:srgbClr val="C00000"/>
            </a:solidFill>
            <a:prstDash val="solid"/>
            <a:tailEnd type="triangle" w="lg" len="lg"/>
          </a:ln>
        </p:spPr>
      </p:cxnSp>
      <p:sp>
        <p:nvSpPr>
          <p:cNvPr id="71" name="Gap mark"/>
          <p:cNvSpPr/>
          <p:nvPr/>
        </p:nvSpPr>
        <p:spPr>
          <a:xfrm>
            <a:off x="8483600" y="1841500"/>
            <a:ext cx="38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600" b="0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72" name="Gap badge"/>
          <p:cNvSpPr/>
          <p:nvPr/>
        </p:nvSpPr>
        <p:spPr>
          <a:xfrm>
            <a:off x="2957790" y="1830990"/>
            <a:ext cx="330200" cy="330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3" name="Gap note"/>
          <p:cNvSpPr/>
          <p:nvPr/>
        </p:nvSpPr>
        <p:spPr>
          <a:xfrm>
            <a:off x="3389590" y="1792890"/>
            <a:ext cx="673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C00000"/>
                </a:solidFill>
              </a:rPr>
              <a:t>Single-point estimates ignore group effects</a:t>
            </a:r>
          </a:p>
        </p:txBody>
      </p:sp>
      <p:cxnSp>
        <p:nvCxnSpPr>
          <p:cNvPr id="75" name="Gap line"/>
          <p:cNvCxnSpPr>
            <a:cxnSpLocks/>
          </p:cNvCxnSpPr>
          <p:nvPr/>
        </p:nvCxnSpPr>
        <p:spPr>
          <a:xfrm flipH="1" flipV="1">
            <a:off x="8178800" y="3225800"/>
            <a:ext cx="990600" cy="749300"/>
          </a:xfrm>
          <a:prstGeom prst="line">
            <a:avLst/>
          </a:prstGeom>
          <a:ln w="44450">
            <a:solidFill>
              <a:srgbClr val="C00000"/>
            </a:solidFill>
            <a:prstDash val="solid"/>
            <a:tailEnd type="triangle" w="lg" len="lg"/>
          </a:ln>
        </p:spPr>
      </p:cxnSp>
      <p:sp>
        <p:nvSpPr>
          <p:cNvPr id="76" name="Gap mark"/>
          <p:cNvSpPr/>
          <p:nvPr/>
        </p:nvSpPr>
        <p:spPr>
          <a:xfrm>
            <a:off x="8483600" y="3403600"/>
            <a:ext cx="38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600" b="0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77" name="Gap badge"/>
          <p:cNvSpPr/>
          <p:nvPr/>
        </p:nvSpPr>
        <p:spPr>
          <a:xfrm>
            <a:off x="2477370" y="3352800"/>
            <a:ext cx="330200" cy="330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8" name="Gap note"/>
          <p:cNvSpPr/>
          <p:nvPr/>
        </p:nvSpPr>
        <p:spPr>
          <a:xfrm>
            <a:off x="2909170" y="3314700"/>
            <a:ext cx="673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C00000"/>
                </a:solidFill>
              </a:rPr>
              <a:t>Doesn’t match complexity of pretraining corpus</a:t>
            </a:r>
            <a:endParaRPr lang="en-US" sz="2000" b="0" baseline="-20000" dirty="0">
              <a:solidFill>
                <a:srgbClr val="C00000"/>
              </a:solidFill>
              <a:latin typeface="Cambria Math"/>
              <a:cs typeface="Cambria Math"/>
            </a:endParaRPr>
          </a:p>
        </p:txBody>
      </p:sp>
      <p:cxnSp>
        <p:nvCxnSpPr>
          <p:cNvPr id="80" name="Gap line"/>
          <p:cNvCxnSpPr/>
          <p:nvPr/>
        </p:nvCxnSpPr>
        <p:spPr>
          <a:xfrm flipV="1">
            <a:off x="9766300" y="1701800"/>
            <a:ext cx="12700" cy="2235200"/>
          </a:xfrm>
          <a:prstGeom prst="line">
            <a:avLst/>
          </a:prstGeom>
          <a:ln w="44450">
            <a:solidFill>
              <a:srgbClr val="C00000"/>
            </a:solidFill>
            <a:prstDash val="solid"/>
            <a:tailEnd type="triangle" w="lg" len="lg"/>
          </a:ln>
        </p:spPr>
      </p:cxnSp>
      <p:sp>
        <p:nvSpPr>
          <p:cNvPr id="81" name="Gap mark"/>
          <p:cNvSpPr/>
          <p:nvPr/>
        </p:nvSpPr>
        <p:spPr>
          <a:xfrm>
            <a:off x="9563100" y="2667000"/>
            <a:ext cx="3810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600" b="0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82" name="Gap badge"/>
          <p:cNvSpPr/>
          <p:nvPr/>
        </p:nvSpPr>
        <p:spPr>
          <a:xfrm>
            <a:off x="9906000" y="2120900"/>
            <a:ext cx="330200" cy="330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Gap note">
            <a:extLst>
              <a:ext uri="{FF2B5EF4-FFF2-40B4-BE49-F238E27FC236}">
                <a16:creationId xmlns:a16="http://schemas.microsoft.com/office/drawing/2014/main" id="{49339EBD-F5E3-2451-0BEF-7C5A4F6001D8}"/>
              </a:ext>
            </a:extLst>
          </p:cNvPr>
          <p:cNvSpPr/>
          <p:nvPr/>
        </p:nvSpPr>
        <p:spPr>
          <a:xfrm>
            <a:off x="9906000" y="2438400"/>
            <a:ext cx="2362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C00000"/>
                </a:solidFill>
              </a:rPr>
              <a:t>Evaluations don’t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C00000"/>
                </a:solidFill>
              </a:rPr>
              <a:t>diagnose algorithms</a:t>
            </a:r>
          </a:p>
        </p:txBody>
      </p:sp>
    </p:spTree>
    <p:extLst>
      <p:ext uri="{BB962C8B-B14F-4D97-AF65-F5344CB8AC3E}">
        <p14:creationId xmlns:p14="http://schemas.microsoft.com/office/powerpoint/2010/main" val="9916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8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26" dur="500" fill="hold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29" dur="50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32" dur="500" fill="hold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35" dur="50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41" dur="500" fill="hold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44" dur="500" fill="hold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47" dur="500" fill="hold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50" dur="500" fill="hold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53" dur="500" fill="hold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56" dur="50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59" dur="500" fill="hold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78" dur="500" fill="hold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81" dur="500" fill="hold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84" dur="500" fill="hold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87" dur="500" fill="hold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190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93" dur="500" fill="hold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212" dur="500" fill="hold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215" dur="5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218" dur="500" fill="hold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221" dur="500" fill="hold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transition="in" filter="image" prLst="opacity: 0.2">
                                      <p:cBhvr rctx="IE">
                                        <p:cTn id="224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2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35" dur="500" fill="hold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38" dur="5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41" dur="500" fill="hold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44" dur="500" fill="hold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24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5" grpId="1" animBg="1"/>
      <p:bldP spid="18" grpId="0" animBg="1"/>
      <p:bldP spid="18" grpId="1" animBg="1"/>
      <p:bldP spid="16" grpId="0" animBg="1"/>
      <p:bldP spid="16" grpId="1" animBg="1"/>
      <p:bldP spid="19" grpId="0" animBg="1"/>
      <p:bldP spid="19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1" grpId="2" animBg="1"/>
      <p:bldP spid="50" grpId="0" animBg="1"/>
      <p:bldP spid="52" grpId="0" animBg="1"/>
      <p:bldP spid="52" grpId="1" animBg="1"/>
      <p:bldP spid="55" grpId="0" animBg="1"/>
      <p:bldP spid="55" grpId="1" animBg="1"/>
      <p:bldP spid="58" grpId="0" animBg="1"/>
      <p:bldP spid="58" grpId="1" animBg="1"/>
      <p:bldP spid="53" grpId="0" animBg="1"/>
      <p:bldP spid="53" grpId="1" animBg="1"/>
      <p:bldP spid="56" grpId="0" animBg="1"/>
      <p:bldP spid="56" grpId="1" animBg="1"/>
      <p:bldP spid="59" grpId="0" animBg="1"/>
      <p:bldP spid="59" grpId="1" animBg="1"/>
      <p:bldP spid="54" grpId="0" animBg="1"/>
      <p:bldP spid="54" grpId="1" animBg="1"/>
      <p:bldP spid="57" grpId="0" animBg="1"/>
      <p:bldP spid="57" grpId="1" animBg="1"/>
      <p:bldP spid="60" grpId="0" animBg="1"/>
      <p:bldP spid="60" grpId="1" animBg="1"/>
      <p:bldP spid="61" grpId="0" animBg="1"/>
      <p:bldP spid="61" grpId="1" animBg="1"/>
      <p:bldP spid="61" grpId="2" animBg="1"/>
      <p:bldP spid="90" grpId="0" animBg="1"/>
      <p:bldP spid="12" grpId="0" animBg="1"/>
      <p:bldP spid="12" grpId="1" animBg="1"/>
      <p:bldP spid="62" grpId="0" animBg="1"/>
      <p:bldP spid="62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6" grpId="0" animBg="1"/>
      <p:bldP spid="76" grpId="1" animBg="1"/>
      <p:bldP spid="76" grpId="2" animBg="1"/>
      <p:bldP spid="77" grpId="0" animBg="1"/>
      <p:bldP spid="77" grpId="1" animBg="1"/>
      <p:bldP spid="77" grpId="2" animBg="1"/>
      <p:bldP spid="78" grpId="0" animBg="1"/>
      <p:bldP spid="78" grpId="1" animBg="1"/>
      <p:bldP spid="78" grpId="2" animBg="1"/>
      <p:bldP spid="81" grpId="0" animBg="1"/>
      <p:bldP spid="8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a container"/>
          <p:cNvSpPr/>
          <p:nvPr/>
        </p:nvSpPr>
        <p:spPr>
          <a:xfrm>
            <a:off x="1828800" y="914400"/>
            <a:ext cx="5080000" cy="441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94D83-2785-BE5B-84AC-60FBBD62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Pretraining data varies along many axes</a:t>
            </a:r>
            <a:endParaRPr lang="en-US" dirty="0"/>
          </a:p>
        </p:txBody>
      </p:sp>
      <p:pic>
        <p:nvPicPr>
          <p:cNvPr id="61" name="Graphic 61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1016000"/>
            <a:ext cx="609600" cy="609600"/>
          </a:xfrm>
          <a:prstGeom prst="rect">
            <a:avLst/>
          </a:prstGeom>
        </p:spPr>
      </p:pic>
      <p:sp>
        <p:nvSpPr>
          <p:cNvPr id="9" name="Data label"/>
          <p:cNvSpPr/>
          <p:nvPr/>
        </p:nvSpPr>
        <p:spPr>
          <a:xfrm>
            <a:off x="2540000" y="9906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000000"/>
                </a:solidFill>
              </a:rPr>
              <a:t>Training data  </a:t>
            </a:r>
            <a:r>
              <a:rPr lang="en-US" sz="2000" b="0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</a:p>
        </p:txBody>
      </p:sp>
      <p:sp>
        <p:nvSpPr>
          <p:cNvPr id="10" name="Doc"/>
          <p:cNvSpPr/>
          <p:nvPr/>
        </p:nvSpPr>
        <p:spPr>
          <a:xfrm>
            <a:off x="1981200" y="15748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Marie Curie was born in Warsaw.</a:t>
            </a:r>
          </a:p>
        </p:txBody>
      </p:sp>
      <p:sp>
        <p:nvSpPr>
          <p:cNvPr id="11" name="Doc"/>
          <p:cNvSpPr/>
          <p:nvPr/>
        </p:nvSpPr>
        <p:spPr>
          <a:xfrm>
            <a:off x="1981200" y="20574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Einstein was born in Ulm.</a:t>
            </a:r>
          </a:p>
        </p:txBody>
      </p:sp>
      <p:sp>
        <p:nvSpPr>
          <p:cNvPr id="12" name="Doc"/>
          <p:cNvSpPr/>
          <p:nvPr/>
        </p:nvSpPr>
        <p:spPr>
          <a:xfrm>
            <a:off x="1981200" y="25400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Skłodowska grew up in Warsaw.</a:t>
            </a:r>
          </a:p>
        </p:txBody>
      </p:sp>
      <p:sp>
        <p:nvSpPr>
          <p:cNvPr id="13" name="Doc"/>
          <p:cNvSpPr/>
          <p:nvPr/>
        </p:nvSpPr>
        <p:spPr>
          <a:xfrm>
            <a:off x="1981200" y="30226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Q: Where was Curie buried? Paris.</a:t>
            </a:r>
          </a:p>
        </p:txBody>
      </p:sp>
      <p:sp>
        <p:nvSpPr>
          <p:cNvPr id="14" name="Doc"/>
          <p:cNvSpPr/>
          <p:nvPr/>
        </p:nvSpPr>
        <p:spPr>
          <a:xfrm>
            <a:off x="1981200" y="35052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Warsaw honors its native Curie.</a:t>
            </a:r>
          </a:p>
        </p:txBody>
      </p:sp>
      <p:sp>
        <p:nvSpPr>
          <p:cNvPr id="16" name="Doc"/>
          <p:cNvSpPr/>
          <p:nvPr/>
        </p:nvSpPr>
        <p:spPr>
          <a:xfrm>
            <a:off x="1981200" y="39878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Translate "cat" to French: chat.</a:t>
            </a:r>
          </a:p>
        </p:txBody>
      </p:sp>
      <p:sp>
        <p:nvSpPr>
          <p:cNvPr id="17" name="Doc"/>
          <p:cNvSpPr/>
          <p:nvPr/>
        </p:nvSpPr>
        <p:spPr>
          <a:xfrm>
            <a:off x="1981200" y="4470400"/>
            <a:ext cx="47752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Courier New"/>
                <a:cs typeface="Courier New"/>
              </a:rPr>
              <a:t>Picasso grew up in Málaga.</a:t>
            </a:r>
          </a:p>
        </p:txBody>
      </p:sp>
      <p:sp>
        <p:nvSpPr>
          <p:cNvPr id="15" name="More docs"/>
          <p:cNvSpPr/>
          <p:nvPr/>
        </p:nvSpPr>
        <p:spPr>
          <a:xfrm>
            <a:off x="1981200" y="49530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404040"/>
                </a:solidFill>
              </a:rPr>
              <a:t>⋯</a:t>
            </a:r>
          </a:p>
        </p:txBody>
      </p:sp>
      <p:sp>
        <p:nvSpPr>
          <p:cNvPr id="30" name="Question"/>
          <p:cNvSpPr/>
          <p:nvPr/>
        </p:nvSpPr>
        <p:spPr>
          <a:xfrm>
            <a:off x="7010400" y="1320800"/>
            <a:ext cx="46736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000000"/>
                </a:solidFill>
                <a:latin typeface="Courier New"/>
                <a:cs typeface="Courier New"/>
              </a:rPr>
              <a:t>Q: Where was Curie born?</a:t>
            </a:r>
          </a:p>
        </p:txBody>
      </p:sp>
      <p:sp>
        <p:nvSpPr>
          <p:cNvPr id="60" name="Takeaway banner"/>
          <p:cNvSpPr/>
          <p:nvPr/>
        </p:nvSpPr>
        <p:spPr>
          <a:xfrm>
            <a:off x="937880" y="5537200"/>
            <a:ext cx="1031624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91440" tIns="0" rIns="91440" bIns="0" anchor="ctr">
            <a:noAutofit/>
          </a:bodyPr>
          <a:lstStyle/>
          <a:p>
            <a:pPr marL="0" indent="0" algn="ctr">
              <a:buNone/>
            </a:pPr>
            <a:r>
              <a:rPr lang="en-US" sz="3200" b="0" dirty="0">
                <a:solidFill>
                  <a:srgbClr val="000000"/>
                </a:solidFill>
              </a:rPr>
              <a:t>Configurable evaluation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to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dirty="0">
                <a:solidFill>
                  <a:srgbClr val="000000"/>
                </a:solidFill>
              </a:rPr>
              <a:t>isolate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analysis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on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each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axis</a:t>
            </a:r>
            <a:endParaRPr lang="en-US" sz="3200" b="0" dirty="0">
              <a:solidFill>
                <a:srgbClr val="000000"/>
              </a:solidFill>
            </a:endParaRPr>
          </a:p>
        </p:txBody>
      </p:sp>
      <p:sp>
        <p:nvSpPr>
          <p:cNvPr id="74" name="Axis bar"/>
          <p:cNvSpPr/>
          <p:nvPr/>
        </p:nvSpPr>
        <p:spPr>
          <a:xfrm>
            <a:off x="7112000" y="2082800"/>
            <a:ext cx="53310" cy="6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sz="2400" dirty="0"/>
          </a:p>
        </p:txBody>
      </p:sp>
      <p:sp>
        <p:nvSpPr>
          <p:cNvPr id="70" name="Axis"/>
          <p:cNvSpPr/>
          <p:nvPr/>
        </p:nvSpPr>
        <p:spPr>
          <a:xfrm>
            <a:off x="7315200" y="2032000"/>
            <a:ext cx="45847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C00000"/>
                </a:solidFill>
              </a:rPr>
              <a:t>Redundancy  </a:t>
            </a:r>
            <a:r>
              <a:rPr lang="en-US" sz="2400" b="0" dirty="0">
                <a:solidFill>
                  <a:srgbClr val="C00000"/>
                </a:solidFill>
                <a:latin typeface="Cambria Math"/>
                <a:cs typeface="Cambria Math"/>
              </a:rPr>
              <a:t>N</a:t>
            </a:r>
            <a:r>
              <a:rPr lang="en-US" sz="2400" b="0" dirty="0">
                <a:solidFill>
                  <a:srgbClr val="C00000"/>
                </a:solidFill>
              </a:rPr>
              <a:t> = |</a:t>
            </a:r>
            <a:r>
              <a:rPr lang="en-US" sz="2400" b="0" dirty="0">
                <a:solidFill>
                  <a:srgbClr val="C00000"/>
                </a:solidFill>
                <a:latin typeface="Cambria Math"/>
                <a:cs typeface="Cambria Math"/>
              </a:rPr>
              <a:t>D</a:t>
            </a:r>
            <a:r>
              <a:rPr lang="en-US" sz="2400" b="0" baseline="-20000" dirty="0">
                <a:solidFill>
                  <a:srgbClr val="C00000"/>
                </a:solidFill>
                <a:latin typeface="Cambria Math"/>
                <a:cs typeface="Cambria Math"/>
              </a:rPr>
              <a:t>f</a:t>
            </a:r>
            <a:r>
              <a:rPr lang="en-US" sz="2400" b="0" dirty="0">
                <a:solidFill>
                  <a:srgbClr val="C00000"/>
                </a:solidFill>
              </a:rPr>
              <a:t>|</a:t>
            </a:r>
          </a:p>
          <a:p>
            <a:pPr marL="0" indent="0" algn="l">
              <a:buNone/>
            </a:pPr>
            <a:r>
              <a:rPr lang="en-US" b="0" dirty="0">
                <a:solidFill>
                  <a:srgbClr val="404040"/>
                </a:solidFill>
                <a:latin typeface="Helvetica Light"/>
                <a:cs typeface="Helvetica Light"/>
              </a:rPr>
              <a:t>same fact, many wordings; N varies</a:t>
            </a:r>
          </a:p>
        </p:txBody>
      </p:sp>
      <p:sp>
        <p:nvSpPr>
          <p:cNvPr id="20" name="Axis outline"/>
          <p:cNvSpPr/>
          <p:nvPr/>
        </p:nvSpPr>
        <p:spPr>
          <a:xfrm>
            <a:off x="1981200" y="15748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Axis outline"/>
          <p:cNvSpPr/>
          <p:nvPr/>
        </p:nvSpPr>
        <p:spPr>
          <a:xfrm>
            <a:off x="1981200" y="25400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Axis outline"/>
          <p:cNvSpPr/>
          <p:nvPr/>
        </p:nvSpPr>
        <p:spPr>
          <a:xfrm>
            <a:off x="1981200" y="3505200"/>
            <a:ext cx="4775200" cy="4064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Axis bar"/>
          <p:cNvSpPr/>
          <p:nvPr/>
        </p:nvSpPr>
        <p:spPr>
          <a:xfrm>
            <a:off x="7112000" y="2921000"/>
            <a:ext cx="53310" cy="635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sz="2400" dirty="0"/>
          </a:p>
        </p:txBody>
      </p:sp>
      <p:sp>
        <p:nvSpPr>
          <p:cNvPr id="71" name="Axis"/>
          <p:cNvSpPr/>
          <p:nvPr/>
        </p:nvSpPr>
        <p:spPr>
          <a:xfrm>
            <a:off x="7315200" y="2870200"/>
            <a:ext cx="45847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ED7D31"/>
                </a:solidFill>
              </a:rPr>
              <a:t>Lexical distractors  </a:t>
            </a:r>
            <a:r>
              <a:rPr lang="en-US" sz="2400" b="0" dirty="0">
                <a:solidFill>
                  <a:srgbClr val="ED7D31"/>
                </a:solidFill>
                <a:latin typeface="Cambria Math"/>
                <a:cs typeface="Cambria Math"/>
              </a:rPr>
              <a:t>D</a:t>
            </a:r>
            <a:r>
              <a:rPr lang="en-US" sz="2400" b="0" baseline="-20000" dirty="0">
                <a:solidFill>
                  <a:srgbClr val="ED7D31"/>
                </a:solidFill>
                <a:latin typeface="Cambria Math"/>
                <a:cs typeface="Cambria Math"/>
              </a:rPr>
              <a:t>dist</a:t>
            </a:r>
          </a:p>
          <a:p>
            <a:pPr marL="0" indent="0" algn="l">
              <a:buNone/>
            </a:pPr>
            <a:r>
              <a:rPr lang="en-US" b="0" dirty="0">
                <a:solidFill>
                  <a:srgbClr val="404040"/>
                </a:solidFill>
                <a:latin typeface="Helvetica Light"/>
                <a:cs typeface="Helvetica Light"/>
              </a:rPr>
              <a:t>look like the query, don’t answer it</a:t>
            </a:r>
          </a:p>
        </p:txBody>
      </p:sp>
      <p:sp>
        <p:nvSpPr>
          <p:cNvPr id="23" name="Axis outline"/>
          <p:cNvSpPr/>
          <p:nvPr/>
        </p:nvSpPr>
        <p:spPr>
          <a:xfrm>
            <a:off x="1981200" y="3022600"/>
            <a:ext cx="4775200" cy="406400"/>
          </a:xfrm>
          <a:prstGeom prst="rect">
            <a:avLst/>
          </a:prstGeom>
          <a:noFill/>
          <a:ln w="25400">
            <a:solidFill>
              <a:srgbClr val="ED7D31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Axis bar"/>
          <p:cNvSpPr/>
          <p:nvPr/>
        </p:nvSpPr>
        <p:spPr>
          <a:xfrm>
            <a:off x="7112000" y="3759200"/>
            <a:ext cx="53310" cy="635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sz="2400" dirty="0"/>
          </a:p>
        </p:txBody>
      </p:sp>
      <p:sp>
        <p:nvSpPr>
          <p:cNvPr id="72" name="Axis"/>
          <p:cNvSpPr/>
          <p:nvPr/>
        </p:nvSpPr>
        <p:spPr>
          <a:xfrm>
            <a:off x="7315200" y="3708400"/>
            <a:ext cx="45847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4472C4"/>
                </a:solidFill>
              </a:rPr>
              <a:t>Competing facts  |</a:t>
            </a:r>
            <a:r>
              <a:rPr lang="en-US" sz="2400" b="0" dirty="0">
                <a:solidFill>
                  <a:srgbClr val="4472C4"/>
                </a:solidFill>
                <a:latin typeface="Cambria Math"/>
                <a:cs typeface="Cambria Math"/>
              </a:rPr>
              <a:t>F</a:t>
            </a:r>
            <a:r>
              <a:rPr lang="en-US" sz="2400" b="0" dirty="0">
                <a:solidFill>
                  <a:srgbClr val="4472C4"/>
                </a:solidFill>
              </a:rPr>
              <a:t>|</a:t>
            </a:r>
          </a:p>
          <a:p>
            <a:pPr marL="0" indent="0" algn="l">
              <a:buNone/>
            </a:pPr>
            <a:r>
              <a:rPr lang="en-US" b="0" dirty="0">
                <a:solidFill>
                  <a:srgbClr val="404040"/>
                </a:solidFill>
                <a:latin typeface="Helvetica Light"/>
                <a:cs typeface="Helvetica Light"/>
              </a:rPr>
              <a:t>same task, other people and cities</a:t>
            </a:r>
          </a:p>
        </p:txBody>
      </p:sp>
      <p:sp>
        <p:nvSpPr>
          <p:cNvPr id="24" name="Axis outline"/>
          <p:cNvSpPr/>
          <p:nvPr/>
        </p:nvSpPr>
        <p:spPr>
          <a:xfrm>
            <a:off x="1981200" y="2057400"/>
            <a:ext cx="4775200" cy="4064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Axis outline"/>
          <p:cNvSpPr/>
          <p:nvPr/>
        </p:nvSpPr>
        <p:spPr>
          <a:xfrm>
            <a:off x="1981200" y="4470400"/>
            <a:ext cx="4775200" cy="4064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Axis bar"/>
          <p:cNvSpPr/>
          <p:nvPr/>
        </p:nvSpPr>
        <p:spPr>
          <a:xfrm>
            <a:off x="7112000" y="4597400"/>
            <a:ext cx="53310" cy="635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sz="2400" dirty="0"/>
          </a:p>
        </p:txBody>
      </p:sp>
      <p:sp>
        <p:nvSpPr>
          <p:cNvPr id="73" name="Axis"/>
          <p:cNvSpPr/>
          <p:nvPr/>
        </p:nvSpPr>
        <p:spPr>
          <a:xfrm>
            <a:off x="7315200" y="4546600"/>
            <a:ext cx="45847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Task variety  </a:t>
            </a:r>
            <a:r>
              <a:rPr lang="en-US" sz="2400" b="0" dirty="0">
                <a:solidFill>
                  <a:srgbClr val="595959"/>
                </a:solidFill>
                <a:latin typeface="Cambria Math"/>
                <a:cs typeface="Cambria Math"/>
              </a:rPr>
              <a:t>T</a:t>
            </a:r>
          </a:p>
          <a:p>
            <a:pPr marL="0" indent="0" algn="l">
              <a:buNone/>
            </a:pPr>
            <a:r>
              <a:rPr lang="en-US" b="0" dirty="0">
                <a:solidFill>
                  <a:srgbClr val="404040"/>
                </a:solidFill>
                <a:latin typeface="Helvetica Light"/>
                <a:cs typeface="Helvetica Light"/>
              </a:rPr>
              <a:t>other question types, each with its own facts</a:t>
            </a:r>
          </a:p>
        </p:txBody>
      </p:sp>
      <p:sp>
        <p:nvSpPr>
          <p:cNvPr id="26" name="Axis outline"/>
          <p:cNvSpPr/>
          <p:nvPr/>
        </p:nvSpPr>
        <p:spPr>
          <a:xfrm>
            <a:off x="1981200" y="3987800"/>
            <a:ext cx="4775200" cy="406400"/>
          </a:xfrm>
          <a:prstGeom prst="rect">
            <a:avLst/>
          </a:prstGeom>
          <a:noFill/>
          <a:ln w="25400">
            <a:solidFill>
              <a:srgbClr val="59595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7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63" dur="400" fill="hold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66" dur="400" fill="hold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93" dur="400" fill="hold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96" dur="400" fill="hold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mp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19" dur="400" fill="hold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22" dur="4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mp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42" dur="400" fill="hold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45" dur="400" fill="hold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48" dur="400" fill="hold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51" dur="400" fill="hold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54" dur="400" fill="hold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transition="in" filter="image" prLst="opacity: 1">
                                      <p:cBhvr rctx="IE">
                                        <p:cTn id="157" dur="4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9" presetClass="emph" presetSubtype="0" fill="hold" grpId="4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mph" presetSubtype="0" fill="hold" grpId="4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9" presetClass="emph" presetSubtype="0" fill="hold" grpId="4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mph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1" grpId="3" animBg="1"/>
      <p:bldP spid="11" grpId="4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3" grpId="3" animBg="1"/>
      <p:bldP spid="13" grpId="4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7" grpId="3" animBg="1"/>
      <p:bldP spid="17" grpId="4" animBg="1"/>
      <p:bldP spid="15" grpId="0" animBg="1"/>
      <p:bldP spid="15" grpId="1" animBg="1"/>
      <p:bldP spid="15" grpId="2" animBg="1"/>
      <p:bldP spid="30" grpId="0" animBg="1"/>
      <p:bldP spid="60" grpId="0" animBg="1"/>
      <p:bldP spid="74" grpId="0" animBg="1"/>
      <p:bldP spid="74" grpId="1" animBg="1"/>
      <p:bldP spid="74" grpId="2" animBg="1"/>
      <p:bldP spid="70" grpId="0" animBg="1"/>
      <p:bldP spid="70" grpId="1" animBg="1"/>
      <p:bldP spid="70" grpId="2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75" grpId="0" animBg="1"/>
      <p:bldP spid="75" grpId="1" animBg="1"/>
      <p:bldP spid="75" grpId="2" animBg="1"/>
      <p:bldP spid="71" grpId="0" animBg="1"/>
      <p:bldP spid="71" grpId="1" animBg="1"/>
      <p:bldP spid="71" grpId="2" animBg="1"/>
      <p:bldP spid="23" grpId="0" animBg="1"/>
      <p:bldP spid="23" grpId="1" animBg="1"/>
      <p:bldP spid="76" grpId="0" animBg="1"/>
      <p:bldP spid="76" grpId="1" animBg="1"/>
      <p:bldP spid="76" grpId="2" animBg="1"/>
      <p:bldP spid="72" grpId="0" animBg="1"/>
      <p:bldP spid="72" grpId="1" animBg="1"/>
      <p:bldP spid="72" grpId="2" animBg="1"/>
      <p:bldP spid="24" grpId="0" animBg="1"/>
      <p:bldP spid="24" grpId="1" animBg="1"/>
      <p:bldP spid="25" grpId="0" animBg="1"/>
      <p:bldP spid="25" grpId="1" animBg="1"/>
      <p:bldP spid="77" grpId="0" animBg="1"/>
      <p:bldP spid="73" grpId="0" animBg="1"/>
      <p:bldP spid="26" grpId="0" animBg="1"/>
      <p:bldP spid="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A561-CEE5-4F3C-1F0D-1C93D961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Attribution Benchmark</a:t>
            </a:r>
            <a:r>
              <a:rPr lang="zh-TW" altLang="en-US" dirty="0"/>
              <a:t> </a:t>
            </a:r>
            <a:r>
              <a:rPr lang="en-US" altLang="zh-TW" dirty="0"/>
              <a:t>(CATT)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!!cfg3off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31" name="b"/>
            <p:cNvSpPr/>
            <p:nvPr/>
          </p:nvSpPr>
          <p:spPr>
            <a:xfrm>
              <a:off x="91440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32" name="h"/>
            <p:cNvSpPr/>
            <p:nvPr/>
          </p:nvSpPr>
          <p:spPr>
            <a:xfrm>
              <a:off x="93218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Task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33" name="s"/>
            <p:cNvSpPr/>
            <p:nvPr/>
          </p:nvSpPr>
          <p:spPr>
            <a:xfrm>
              <a:off x="93218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20" name="!!cfg2off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21" name="b"/>
            <p:cNvSpPr/>
            <p:nvPr/>
          </p:nvSpPr>
          <p:spPr>
            <a:xfrm>
              <a:off x="62992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22" name="h"/>
            <p:cNvSpPr/>
            <p:nvPr/>
          </p:nvSpPr>
          <p:spPr>
            <a:xfrm>
              <a:off x="64770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Distractors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D</a:t>
              </a:r>
              <a:r>
                <a:rPr lang="en-US" sz="2400" b="0" baseline="-20000" dirty="0">
                  <a:solidFill>
                    <a:srgbClr val="C8C8C8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23" name="s"/>
            <p:cNvSpPr/>
            <p:nvPr/>
          </p:nvSpPr>
          <p:spPr>
            <a:xfrm>
              <a:off x="64770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10" name="!!cfg1off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11" name="b"/>
            <p:cNvSpPr/>
            <p:nvPr/>
          </p:nvSpPr>
          <p:spPr>
            <a:xfrm>
              <a:off x="34544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12" name="h"/>
            <p:cNvSpPr/>
            <p:nvPr/>
          </p:nvSpPr>
          <p:spPr>
            <a:xfrm>
              <a:off x="36322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Facts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13" name="s"/>
            <p:cNvSpPr/>
            <p:nvPr/>
          </p:nvSpPr>
          <p:spPr>
            <a:xfrm>
              <a:off x="36322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00" name="!!cfg0off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01" name="b"/>
            <p:cNvSpPr/>
            <p:nvPr/>
          </p:nvSpPr>
          <p:spPr>
            <a:xfrm>
              <a:off x="6096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02" name="h"/>
            <p:cNvSpPr/>
            <p:nvPr/>
          </p:nvSpPr>
          <p:spPr>
            <a:xfrm>
              <a:off x="7874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Redundancy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03" name="s"/>
            <p:cNvSpPr/>
            <p:nvPr/>
          </p:nvSpPr>
          <p:spPr>
            <a:xfrm>
              <a:off x="7874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pic>
        <p:nvPicPr>
          <p:cNvPr id="347" name="!!dataIcon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320800"/>
            <a:ext cx="406400" cy="406400"/>
          </a:xfrm>
          <a:prstGeom prst="rect">
            <a:avLst/>
          </a:prstGeom>
        </p:spPr>
      </p:pic>
      <p:pic>
        <p:nvPicPr>
          <p:cNvPr id="348" name="!!queryIcon" descr="Attribution qu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0" y="1358900"/>
            <a:ext cx="406400" cy="406400"/>
          </a:xfrm>
          <a:prstGeom prst="rect">
            <a:avLst/>
          </a:prstGeom>
        </p:spPr>
      </p:pic>
      <p:sp>
        <p:nvSpPr>
          <p:cNvPr id="22" name="!!dataLabel"/>
          <p:cNvSpPr/>
          <p:nvPr/>
        </p:nvSpPr>
        <p:spPr>
          <a:xfrm>
            <a:off x="609600" y="1320800"/>
            <a:ext cx="6146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Configurable training set</a:t>
            </a:r>
          </a:p>
        </p:txBody>
      </p:sp>
      <p:sp>
        <p:nvSpPr>
          <p:cNvPr id="24" name="!!queryLabel"/>
          <p:cNvSpPr/>
          <p:nvPr/>
        </p:nvSpPr>
        <p:spPr>
          <a:xfrm>
            <a:off x="7467600" y="1320800"/>
            <a:ext cx="411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23" name="!!panel"/>
          <p:cNvSpPr/>
          <p:nvPr/>
        </p:nvSpPr>
        <p:spPr>
          <a:xfrm>
            <a:off x="609600" y="1905000"/>
            <a:ext cx="6146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d1"/>
          <p:cNvSpPr/>
          <p:nvPr/>
        </p:nvSpPr>
        <p:spPr>
          <a:xfrm>
            <a:off x="787400" y="2133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function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6" name="!!more9"/>
          <p:cNvSpPr/>
          <p:nvPr/>
        </p:nvSpPr>
        <p:spPr>
          <a:xfrm>
            <a:off x="787400" y="30734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37" name="!!gtOutline"/>
          <p:cNvSpPr/>
          <p:nvPr/>
        </p:nvSpPr>
        <p:spPr>
          <a:xfrm>
            <a:off x="685800" y="2032000"/>
            <a:ext cx="6045200" cy="9906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B07800"/>
            </a:solidFill>
            <a:prstDash val="sysDash"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card"/>
          <p:cNvSpPr/>
          <p:nvPr/>
        </p:nvSpPr>
        <p:spPr>
          <a:xfrm>
            <a:off x="7467600" y="1905000"/>
            <a:ext cx="4114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qBox"/>
          <p:cNvSpPr/>
          <p:nvPr/>
        </p:nvSpPr>
        <p:spPr>
          <a:xfrm>
            <a:off x="7620000" y="2108200"/>
            <a:ext cx="3810000" cy="13716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55A11"/>
                </a:solidFill>
              </a:rPr>
              <a:t>Question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The output of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(67) is</a:t>
            </a:r>
          </a:p>
        </p:txBody>
      </p:sp>
      <p:sp>
        <p:nvSpPr>
          <p:cNvPr id="56" name="!!aBox"/>
          <p:cNvSpPr/>
          <p:nvPr/>
        </p:nvSpPr>
        <p:spPr>
          <a:xfrm>
            <a:off x="7620000" y="3632200"/>
            <a:ext cx="3810000" cy="11684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</a:rPr>
              <a:t>Answer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sp>
        <p:nvSpPr>
          <p:cNvPr id="58" name="!!llmCap"/>
          <p:cNvSpPr/>
          <p:nvPr/>
        </p:nvSpPr>
        <p:spPr>
          <a:xfrm>
            <a:off x="8504536" y="5194637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finetuned LLM</a:t>
            </a:r>
          </a:p>
        </p:txBody>
      </p:sp>
      <p:sp>
        <p:nvSpPr>
          <p:cNvPr id="62" name="!!ftArrow"/>
          <p:cNvSpPr/>
          <p:nvPr/>
        </p:nvSpPr>
        <p:spPr>
          <a:xfrm>
            <a:off x="6781800" y="5486400"/>
            <a:ext cx="635000" cy="12700"/>
          </a:xfrm>
          <a:custGeom>
            <a:avLst/>
            <a:gdLst/>
            <a:ahLst/>
            <a:cxnLst/>
            <a:rect l="0" t="0" r="r" b="b"/>
            <a:pathLst>
              <a:path w="660400" h="12700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9050">
            <a:solidFill>
              <a:srgbClr val="BFBFBF"/>
            </a:solidFill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!!ftLabel"/>
          <p:cNvSpPr/>
          <p:nvPr/>
        </p:nvSpPr>
        <p:spPr>
          <a:xfrm>
            <a:off x="6705600" y="5562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A6A6A6"/>
                </a:solidFill>
              </a:rPr>
              <a:t>finetune</a:t>
            </a:r>
          </a:p>
        </p:txBody>
      </p:sp>
      <p:sp>
        <p:nvSpPr>
          <p:cNvPr id="60" name="!!gtLine"/>
          <p:cNvSpPr/>
          <p:nvPr/>
        </p:nvSpPr>
        <p:spPr>
          <a:xfrm>
            <a:off x="6756400" y="2527300"/>
            <a:ext cx="863600" cy="1689100"/>
          </a:xfrm>
          <a:custGeom>
            <a:avLst/>
            <a:gdLst/>
            <a:ahLst/>
            <a:cxnLst/>
            <a:rect l="0" t="0" r="r" b="b"/>
            <a:pathLst>
              <a:path w="1041400" h="1689100">
                <a:moveTo>
                  <a:pt x="1041400" y="1689100"/>
                </a:moveTo>
                <a:lnTo>
                  <a:pt x="482600" y="1689100"/>
                </a:lnTo>
                <a:lnTo>
                  <a:pt x="48260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B07800"/>
            </a:solidFill>
            <a:prstDash val="sysDash"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!!gtText"/>
          <p:cNvSpPr/>
          <p:nvPr/>
        </p:nvSpPr>
        <p:spPr>
          <a:xfrm>
            <a:off x="6756400" y="18542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ground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truth</a:t>
            </a:r>
          </a:p>
        </p:txBody>
      </p:sp>
      <p:grpSp>
        <p:nvGrpSpPr>
          <p:cNvPr id="59" name="!!llmIcon"/>
          <p:cNvGrpSpPr/>
          <p:nvPr/>
        </p:nvGrpSpPr>
        <p:grpSpPr>
          <a:xfrm>
            <a:off x="7340600" y="5009292"/>
            <a:ext cx="1358900" cy="1505808"/>
            <a:chOff x="6660949" y="1128471"/>
            <a:chExt cx="1826564" cy="2002796"/>
          </a:xfrm>
        </p:grpSpPr>
        <p:sp>
          <p:nvSpPr>
            <p:cNvPr id="301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2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3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4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5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6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7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8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9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0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1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2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3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4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5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6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7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8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9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0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1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2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3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4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5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6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7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8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9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0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1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2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3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4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5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6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7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8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9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0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1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2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3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4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5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6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</p:grpSp>
      <p:pic>
        <p:nvPicPr>
          <p:cNvPr id="349" name="!!gearIcon" descr="Configurab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1409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182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3" grpId="0" animBg="1"/>
      <p:bldP spid="30" grpId="0" animBg="1"/>
      <p:bldP spid="36" grpId="0" animBg="1"/>
      <p:bldP spid="37" grpId="0" animBg="1"/>
      <p:bldP spid="53" grpId="0" animBg="1"/>
      <p:bldP spid="54" grpId="0" animBg="1"/>
      <p:bldP spid="56" grpId="0" animBg="1"/>
      <p:bldP spid="58" grpId="0" animBg="1"/>
      <p:bldP spid="63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!!cfg3off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41" name="b"/>
            <p:cNvSpPr/>
            <p:nvPr/>
          </p:nvSpPr>
          <p:spPr>
            <a:xfrm>
              <a:off x="91440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42" name="h"/>
            <p:cNvSpPr/>
            <p:nvPr/>
          </p:nvSpPr>
          <p:spPr>
            <a:xfrm>
              <a:off x="93218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Task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43" name="s"/>
            <p:cNvSpPr/>
            <p:nvPr/>
          </p:nvSpPr>
          <p:spPr>
            <a:xfrm>
              <a:off x="93218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30" name="!!cfg2off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31" name="b"/>
            <p:cNvSpPr/>
            <p:nvPr/>
          </p:nvSpPr>
          <p:spPr>
            <a:xfrm>
              <a:off x="62992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32" name="h"/>
            <p:cNvSpPr/>
            <p:nvPr/>
          </p:nvSpPr>
          <p:spPr>
            <a:xfrm>
              <a:off x="64770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Distractors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D</a:t>
              </a:r>
              <a:r>
                <a:rPr lang="en-US" sz="2400" b="0" baseline="-20000" dirty="0">
                  <a:solidFill>
                    <a:srgbClr val="C8C8C8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33" name="s"/>
            <p:cNvSpPr/>
            <p:nvPr/>
          </p:nvSpPr>
          <p:spPr>
            <a:xfrm>
              <a:off x="64770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20" name="!!cfg1off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21" name="b"/>
            <p:cNvSpPr/>
            <p:nvPr/>
          </p:nvSpPr>
          <p:spPr>
            <a:xfrm>
              <a:off x="34544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22" name="h"/>
            <p:cNvSpPr/>
            <p:nvPr/>
          </p:nvSpPr>
          <p:spPr>
            <a:xfrm>
              <a:off x="36322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Facts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23" name="s"/>
            <p:cNvSpPr/>
            <p:nvPr/>
          </p:nvSpPr>
          <p:spPr>
            <a:xfrm>
              <a:off x="36322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10" name="!!cfg0on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11" name="b"/>
            <p:cNvSpPr/>
            <p:nvPr/>
          </p:nvSpPr>
          <p:spPr>
            <a:xfrm>
              <a:off x="609600" y="228600"/>
              <a:ext cx="76200" cy="8636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12" name="h"/>
            <p:cNvSpPr/>
            <p:nvPr/>
          </p:nvSpPr>
          <p:spPr>
            <a:xfrm>
              <a:off x="7874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C00000"/>
                  </a:solidFill>
                </a:rPr>
                <a:t>Redundancy  </a:t>
              </a:r>
              <a:r>
                <a:rPr lang="en-US" sz="2800" b="0" dirty="0">
                  <a:solidFill>
                    <a:srgbClr val="C00000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13" name="s"/>
            <p:cNvSpPr/>
            <p:nvPr/>
          </p:nvSpPr>
          <p:spPr>
            <a:xfrm>
              <a:off x="7874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grpSp>
        <p:nvGrpSpPr>
          <p:cNvPr id="1100" name="!!cfg0off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01" name="b"/>
            <p:cNvSpPr/>
            <p:nvPr/>
          </p:nvSpPr>
          <p:spPr>
            <a:xfrm>
              <a:off x="6096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02" name="h"/>
            <p:cNvSpPr/>
            <p:nvPr/>
          </p:nvSpPr>
          <p:spPr>
            <a:xfrm>
              <a:off x="7874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Redundancy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03" name="s"/>
            <p:cNvSpPr/>
            <p:nvPr/>
          </p:nvSpPr>
          <p:spPr>
            <a:xfrm>
              <a:off x="7874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pic>
        <p:nvPicPr>
          <p:cNvPr id="347" name="!!dataIcon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320800"/>
            <a:ext cx="406400" cy="406400"/>
          </a:xfrm>
          <a:prstGeom prst="rect">
            <a:avLst/>
          </a:prstGeom>
        </p:spPr>
      </p:pic>
      <p:pic>
        <p:nvPicPr>
          <p:cNvPr id="348" name="!!queryIcon" descr="Attribution qu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0" y="1358900"/>
            <a:ext cx="406400" cy="406400"/>
          </a:xfrm>
          <a:prstGeom prst="rect">
            <a:avLst/>
          </a:prstGeom>
        </p:spPr>
      </p:pic>
      <p:sp>
        <p:nvSpPr>
          <p:cNvPr id="22" name="!!dataLabel"/>
          <p:cNvSpPr/>
          <p:nvPr/>
        </p:nvSpPr>
        <p:spPr>
          <a:xfrm>
            <a:off x="609600" y="1320800"/>
            <a:ext cx="6146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Configurable training set</a:t>
            </a:r>
          </a:p>
        </p:txBody>
      </p:sp>
      <p:sp>
        <p:nvSpPr>
          <p:cNvPr id="24" name="!!queryLabel"/>
          <p:cNvSpPr/>
          <p:nvPr/>
        </p:nvSpPr>
        <p:spPr>
          <a:xfrm>
            <a:off x="7467600" y="1320800"/>
            <a:ext cx="411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23" name="!!panel"/>
          <p:cNvSpPr/>
          <p:nvPr/>
        </p:nvSpPr>
        <p:spPr>
          <a:xfrm>
            <a:off x="609600" y="1905000"/>
            <a:ext cx="6146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e2"/>
          <p:cNvSpPr/>
          <p:nvPr/>
        </p:nvSpPr>
        <p:spPr>
          <a:xfrm>
            <a:off x="787400" y="3962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∀n ∈ ℤ,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(n) =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0" name="!!d1"/>
          <p:cNvSpPr/>
          <p:nvPr/>
        </p:nvSpPr>
        <p:spPr>
          <a:xfrm>
            <a:off x="787400" y="2133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function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1" name="!!e1"/>
          <p:cNvSpPr/>
          <p:nvPr/>
        </p:nvSpPr>
        <p:spPr>
          <a:xfrm>
            <a:off x="787400" y="30480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, no matter the input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6" name="!!more10"/>
          <p:cNvSpPr/>
          <p:nvPr/>
        </p:nvSpPr>
        <p:spPr>
          <a:xfrm>
            <a:off x="787400" y="49276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37" name="!!gtOutline"/>
          <p:cNvSpPr/>
          <p:nvPr/>
        </p:nvSpPr>
        <p:spPr>
          <a:xfrm>
            <a:off x="685800" y="2032000"/>
            <a:ext cx="6045200" cy="28194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B07800"/>
            </a:solidFill>
            <a:prstDash val="sysDash"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card"/>
          <p:cNvSpPr/>
          <p:nvPr/>
        </p:nvSpPr>
        <p:spPr>
          <a:xfrm>
            <a:off x="7467600" y="1905000"/>
            <a:ext cx="4114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qBox"/>
          <p:cNvSpPr/>
          <p:nvPr/>
        </p:nvSpPr>
        <p:spPr>
          <a:xfrm>
            <a:off x="7620000" y="2108200"/>
            <a:ext cx="3810000" cy="13716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55A11"/>
                </a:solidFill>
              </a:rPr>
              <a:t>Question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The output of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(67) is</a:t>
            </a:r>
          </a:p>
        </p:txBody>
      </p:sp>
      <p:sp>
        <p:nvSpPr>
          <p:cNvPr id="56" name="!!aBox"/>
          <p:cNvSpPr/>
          <p:nvPr/>
        </p:nvSpPr>
        <p:spPr>
          <a:xfrm>
            <a:off x="7620000" y="3632200"/>
            <a:ext cx="3810000" cy="11684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</a:rPr>
              <a:t>Answer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sp>
        <p:nvSpPr>
          <p:cNvPr id="58" name="!!llmCap"/>
          <p:cNvSpPr/>
          <p:nvPr/>
        </p:nvSpPr>
        <p:spPr>
          <a:xfrm>
            <a:off x="8504536" y="5194637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finetuned LLM</a:t>
            </a:r>
          </a:p>
        </p:txBody>
      </p:sp>
      <p:sp>
        <p:nvSpPr>
          <p:cNvPr id="62" name="!!ftArrow"/>
          <p:cNvSpPr/>
          <p:nvPr/>
        </p:nvSpPr>
        <p:spPr>
          <a:xfrm>
            <a:off x="6781800" y="5486400"/>
            <a:ext cx="635000" cy="12700"/>
          </a:xfrm>
          <a:custGeom>
            <a:avLst/>
            <a:gdLst/>
            <a:ahLst/>
            <a:cxnLst/>
            <a:rect l="0" t="0" r="r" b="b"/>
            <a:pathLst>
              <a:path w="660400" h="12700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9050">
            <a:solidFill>
              <a:srgbClr val="BFBFBF"/>
            </a:solidFill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!!ftLabel"/>
          <p:cNvSpPr/>
          <p:nvPr/>
        </p:nvSpPr>
        <p:spPr>
          <a:xfrm>
            <a:off x="6705600" y="5562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A6A6A6"/>
                </a:solidFill>
              </a:rPr>
              <a:t>finetune</a:t>
            </a:r>
          </a:p>
        </p:txBody>
      </p:sp>
      <p:sp>
        <p:nvSpPr>
          <p:cNvPr id="60" name="!!gtLine"/>
          <p:cNvSpPr/>
          <p:nvPr/>
        </p:nvSpPr>
        <p:spPr>
          <a:xfrm>
            <a:off x="6756400" y="2527300"/>
            <a:ext cx="863600" cy="1689100"/>
          </a:xfrm>
          <a:custGeom>
            <a:avLst/>
            <a:gdLst/>
            <a:ahLst/>
            <a:cxnLst/>
            <a:rect l="0" t="0" r="r" b="b"/>
            <a:pathLst>
              <a:path w="1041400" h="1689100">
                <a:moveTo>
                  <a:pt x="1041400" y="1689100"/>
                </a:moveTo>
                <a:lnTo>
                  <a:pt x="482600" y="1689100"/>
                </a:lnTo>
                <a:lnTo>
                  <a:pt x="48260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B07800"/>
            </a:solidFill>
            <a:prstDash val="sysDash"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!!gtText"/>
          <p:cNvSpPr/>
          <p:nvPr/>
        </p:nvSpPr>
        <p:spPr>
          <a:xfrm>
            <a:off x="6756400" y="18542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ground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truth</a:t>
            </a:r>
          </a:p>
        </p:txBody>
      </p:sp>
      <p:grpSp>
        <p:nvGrpSpPr>
          <p:cNvPr id="59" name="!!llmIcon"/>
          <p:cNvGrpSpPr/>
          <p:nvPr/>
        </p:nvGrpSpPr>
        <p:grpSpPr>
          <a:xfrm>
            <a:off x="7340600" y="5009292"/>
            <a:ext cx="1358900" cy="1505808"/>
            <a:chOff x="6660949" y="1128471"/>
            <a:chExt cx="1826564" cy="2002796"/>
          </a:xfrm>
        </p:grpSpPr>
        <p:sp>
          <p:nvSpPr>
            <p:cNvPr id="900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1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2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3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4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5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6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7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8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09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0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1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2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3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4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5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6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7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8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19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0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1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2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3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4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5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6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7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8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29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0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1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2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3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4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5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6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7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8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39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0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1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2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3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4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45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</p:grpSp>
      <p:sp>
        <p:nvSpPr>
          <p:cNvPr id="700" name="!!brace"/>
          <p:cNvSpPr/>
          <p:nvPr/>
        </p:nvSpPr>
        <p:spPr>
          <a:xfrm>
            <a:off x="406400" y="2133600"/>
            <a:ext cx="152400" cy="261620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C00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1" name="!!braceLabel"/>
          <p:cNvSpPr/>
          <p:nvPr/>
        </p:nvSpPr>
        <p:spPr>
          <a:xfrm>
            <a:off x="50800" y="3187700"/>
            <a:ext cx="3556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mbria Math"/>
                <a:cs typeface="Cambria Math"/>
              </a:rPr>
              <a:t>N</a:t>
            </a:r>
          </a:p>
        </p:txBody>
      </p:sp>
      <p:pic>
        <p:nvPicPr>
          <p:cNvPr id="946" name="!!gearIcon" descr="Configurab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1409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9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6" grpId="0" animBg="1"/>
      <p:bldP spid="37" grpId="0" animBg="1"/>
      <p:bldP spid="60" grpId="0" animBg="1"/>
      <p:bldP spid="61" grpId="0"/>
      <p:bldP spid="700" grpId="0" animBg="1"/>
      <p:bldP spid="70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!!cfg3off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51" name="b"/>
            <p:cNvSpPr/>
            <p:nvPr/>
          </p:nvSpPr>
          <p:spPr>
            <a:xfrm>
              <a:off x="91440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52" name="h"/>
            <p:cNvSpPr/>
            <p:nvPr/>
          </p:nvSpPr>
          <p:spPr>
            <a:xfrm>
              <a:off x="93218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Task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53" name="s"/>
            <p:cNvSpPr/>
            <p:nvPr/>
          </p:nvSpPr>
          <p:spPr>
            <a:xfrm>
              <a:off x="93218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40" name="!!cfg2off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41" name="b"/>
            <p:cNvSpPr/>
            <p:nvPr/>
          </p:nvSpPr>
          <p:spPr>
            <a:xfrm>
              <a:off x="62992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42" name="h"/>
            <p:cNvSpPr/>
            <p:nvPr/>
          </p:nvSpPr>
          <p:spPr>
            <a:xfrm>
              <a:off x="64770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Distractors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D</a:t>
              </a:r>
              <a:r>
                <a:rPr lang="en-US" sz="2400" b="0" baseline="-20000" dirty="0">
                  <a:solidFill>
                    <a:srgbClr val="C8C8C8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43" name="s"/>
            <p:cNvSpPr/>
            <p:nvPr/>
          </p:nvSpPr>
          <p:spPr>
            <a:xfrm>
              <a:off x="64770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30" name="!!cfg1on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31" name="b"/>
            <p:cNvSpPr/>
            <p:nvPr/>
          </p:nvSpPr>
          <p:spPr>
            <a:xfrm>
              <a:off x="3454400" y="228600"/>
              <a:ext cx="76200" cy="8636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32" name="h"/>
            <p:cNvSpPr/>
            <p:nvPr/>
          </p:nvSpPr>
          <p:spPr>
            <a:xfrm>
              <a:off x="36322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4472C4"/>
                  </a:solidFill>
                </a:rPr>
                <a:t>Facts  </a:t>
              </a:r>
              <a:r>
                <a:rPr lang="en-US" sz="2800" b="0" dirty="0">
                  <a:solidFill>
                    <a:srgbClr val="4472C4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33" name="s"/>
            <p:cNvSpPr/>
            <p:nvPr/>
          </p:nvSpPr>
          <p:spPr>
            <a:xfrm>
              <a:off x="36322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20" name="!!cfg1off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21" name="b"/>
            <p:cNvSpPr/>
            <p:nvPr/>
          </p:nvSpPr>
          <p:spPr>
            <a:xfrm>
              <a:off x="34544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22" name="h"/>
            <p:cNvSpPr/>
            <p:nvPr/>
          </p:nvSpPr>
          <p:spPr>
            <a:xfrm>
              <a:off x="36322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Facts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23" name="s"/>
            <p:cNvSpPr/>
            <p:nvPr/>
          </p:nvSpPr>
          <p:spPr>
            <a:xfrm>
              <a:off x="36322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10" name="!!cfg0off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11" name="b"/>
            <p:cNvSpPr/>
            <p:nvPr/>
          </p:nvSpPr>
          <p:spPr>
            <a:xfrm>
              <a:off x="6096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12" name="h"/>
            <p:cNvSpPr/>
            <p:nvPr/>
          </p:nvSpPr>
          <p:spPr>
            <a:xfrm>
              <a:off x="7874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Redundancy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13" name="s"/>
            <p:cNvSpPr/>
            <p:nvPr/>
          </p:nvSpPr>
          <p:spPr>
            <a:xfrm>
              <a:off x="7874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grpSp>
        <p:nvGrpSpPr>
          <p:cNvPr id="1100" name="!!cfg0on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01" name="b"/>
            <p:cNvSpPr/>
            <p:nvPr/>
          </p:nvSpPr>
          <p:spPr>
            <a:xfrm>
              <a:off x="609600" y="228600"/>
              <a:ext cx="76200" cy="8636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02" name="h"/>
            <p:cNvSpPr/>
            <p:nvPr/>
          </p:nvSpPr>
          <p:spPr>
            <a:xfrm>
              <a:off x="7874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C00000"/>
                  </a:solidFill>
                </a:rPr>
                <a:t>Redundancy  </a:t>
              </a:r>
              <a:r>
                <a:rPr lang="en-US" sz="2800" b="0" dirty="0">
                  <a:solidFill>
                    <a:srgbClr val="C00000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03" name="s"/>
            <p:cNvSpPr/>
            <p:nvPr/>
          </p:nvSpPr>
          <p:spPr>
            <a:xfrm>
              <a:off x="7874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pic>
        <p:nvPicPr>
          <p:cNvPr id="347" name="!!dataIcon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320800"/>
            <a:ext cx="406400" cy="406400"/>
          </a:xfrm>
          <a:prstGeom prst="rect">
            <a:avLst/>
          </a:prstGeom>
        </p:spPr>
      </p:pic>
      <p:pic>
        <p:nvPicPr>
          <p:cNvPr id="348" name="!!queryIcon" descr="Attribution qu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0" y="1358900"/>
            <a:ext cx="406400" cy="406400"/>
          </a:xfrm>
          <a:prstGeom prst="rect">
            <a:avLst/>
          </a:prstGeom>
        </p:spPr>
      </p:pic>
      <p:sp>
        <p:nvSpPr>
          <p:cNvPr id="22" name="!!dataLabel"/>
          <p:cNvSpPr/>
          <p:nvPr/>
        </p:nvSpPr>
        <p:spPr>
          <a:xfrm>
            <a:off x="609600" y="1320800"/>
            <a:ext cx="6146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Configurable training set</a:t>
            </a:r>
          </a:p>
        </p:txBody>
      </p:sp>
      <p:sp>
        <p:nvSpPr>
          <p:cNvPr id="24" name="!!queryLabel"/>
          <p:cNvSpPr/>
          <p:nvPr/>
        </p:nvSpPr>
        <p:spPr>
          <a:xfrm>
            <a:off x="7467600" y="1320800"/>
            <a:ext cx="411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23" name="!!panel"/>
          <p:cNvSpPr/>
          <p:nvPr/>
        </p:nvSpPr>
        <p:spPr>
          <a:xfrm>
            <a:off x="609600" y="1905000"/>
            <a:ext cx="6146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e2"/>
          <p:cNvSpPr/>
          <p:nvPr/>
        </p:nvSpPr>
        <p:spPr>
          <a:xfrm>
            <a:off x="889000" y="22352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1" name="!!e1"/>
          <p:cNvSpPr/>
          <p:nvPr/>
        </p:nvSpPr>
        <p:spPr>
          <a:xfrm>
            <a:off x="838200" y="2184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0" name="!!d1"/>
          <p:cNvSpPr/>
          <p:nvPr/>
        </p:nvSpPr>
        <p:spPr>
          <a:xfrm>
            <a:off x="787400" y="2133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function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6" name="!!more11"/>
          <p:cNvSpPr/>
          <p:nvPr/>
        </p:nvSpPr>
        <p:spPr>
          <a:xfrm>
            <a:off x="787400" y="54102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600" name="!!g2b2"/>
          <p:cNvSpPr/>
          <p:nvPr/>
        </p:nvSpPr>
        <p:spPr>
          <a:xfrm>
            <a:off x="889000" y="33782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, regardless of input...</a:t>
            </a:r>
          </a:p>
        </p:txBody>
      </p:sp>
      <p:sp>
        <p:nvSpPr>
          <p:cNvPr id="601" name="!!g2b1"/>
          <p:cNvSpPr/>
          <p:nvPr/>
        </p:nvSpPr>
        <p:spPr>
          <a:xfrm>
            <a:off x="838200" y="3327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, regardless of input...</a:t>
            </a:r>
          </a:p>
        </p:txBody>
      </p:sp>
      <p:sp>
        <p:nvSpPr>
          <p:cNvPr id="602" name="!!g2"/>
          <p:cNvSpPr/>
          <p:nvPr/>
        </p:nvSpPr>
        <p:spPr>
          <a:xfrm>
            <a:off x="787400" y="3276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, regardless of input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603" name="!!g3b2"/>
          <p:cNvSpPr/>
          <p:nvPr/>
        </p:nvSpPr>
        <p:spPr>
          <a:xfrm>
            <a:off x="889000" y="45212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&lt;f3&gt;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&lt;v3&gt;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604" name="!!g3b1"/>
          <p:cNvSpPr/>
          <p:nvPr/>
        </p:nvSpPr>
        <p:spPr>
          <a:xfrm>
            <a:off x="838200" y="4470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&lt;f3&gt;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&lt;v3&gt;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605" name="!!g3"/>
          <p:cNvSpPr/>
          <p:nvPr/>
        </p:nvSpPr>
        <p:spPr>
          <a:xfrm>
            <a:off x="787400" y="4419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function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&lt;f3&gt;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&lt;v3&gt;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7" name="!!gtOutline"/>
          <p:cNvSpPr/>
          <p:nvPr/>
        </p:nvSpPr>
        <p:spPr>
          <a:xfrm>
            <a:off x="685800" y="2032000"/>
            <a:ext cx="6045200" cy="9906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B07800"/>
            </a:solidFill>
            <a:prstDash val="sysDash"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card"/>
          <p:cNvSpPr/>
          <p:nvPr/>
        </p:nvSpPr>
        <p:spPr>
          <a:xfrm>
            <a:off x="7467600" y="1905000"/>
            <a:ext cx="4114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qBox"/>
          <p:cNvSpPr/>
          <p:nvPr/>
        </p:nvSpPr>
        <p:spPr>
          <a:xfrm>
            <a:off x="7620000" y="2108200"/>
            <a:ext cx="3810000" cy="13716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55A11"/>
                </a:solidFill>
              </a:rPr>
              <a:t>Question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The output of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(67) is</a:t>
            </a:r>
          </a:p>
        </p:txBody>
      </p:sp>
      <p:sp>
        <p:nvSpPr>
          <p:cNvPr id="56" name="!!aBox"/>
          <p:cNvSpPr/>
          <p:nvPr/>
        </p:nvSpPr>
        <p:spPr>
          <a:xfrm>
            <a:off x="7620000" y="3632200"/>
            <a:ext cx="3810000" cy="11684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</a:rPr>
              <a:t>Answer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sp>
        <p:nvSpPr>
          <p:cNvPr id="58" name="!!llmCap"/>
          <p:cNvSpPr/>
          <p:nvPr/>
        </p:nvSpPr>
        <p:spPr>
          <a:xfrm>
            <a:off x="8504536" y="5194637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finetuned LLM</a:t>
            </a:r>
          </a:p>
        </p:txBody>
      </p:sp>
      <p:sp>
        <p:nvSpPr>
          <p:cNvPr id="62" name="!!ftArrow"/>
          <p:cNvSpPr/>
          <p:nvPr/>
        </p:nvSpPr>
        <p:spPr>
          <a:xfrm>
            <a:off x="6781800" y="5486400"/>
            <a:ext cx="635000" cy="12700"/>
          </a:xfrm>
          <a:custGeom>
            <a:avLst/>
            <a:gdLst/>
            <a:ahLst/>
            <a:cxnLst/>
            <a:rect l="0" t="0" r="r" b="b"/>
            <a:pathLst>
              <a:path w="660400" h="12700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9050">
            <a:solidFill>
              <a:srgbClr val="BFBFBF"/>
            </a:solidFill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!!ftLabel"/>
          <p:cNvSpPr/>
          <p:nvPr/>
        </p:nvSpPr>
        <p:spPr>
          <a:xfrm>
            <a:off x="6705600" y="5562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A6A6A6"/>
                </a:solidFill>
              </a:rPr>
              <a:t>finetune</a:t>
            </a:r>
          </a:p>
        </p:txBody>
      </p:sp>
      <p:sp>
        <p:nvSpPr>
          <p:cNvPr id="60" name="!!gtLine"/>
          <p:cNvSpPr/>
          <p:nvPr/>
        </p:nvSpPr>
        <p:spPr>
          <a:xfrm>
            <a:off x="6756400" y="2527300"/>
            <a:ext cx="863600" cy="1689100"/>
          </a:xfrm>
          <a:custGeom>
            <a:avLst/>
            <a:gdLst/>
            <a:ahLst/>
            <a:cxnLst/>
            <a:rect l="0" t="0" r="r" b="b"/>
            <a:pathLst>
              <a:path w="1041400" h="1689100">
                <a:moveTo>
                  <a:pt x="1041400" y="1689100"/>
                </a:moveTo>
                <a:lnTo>
                  <a:pt x="482600" y="1689100"/>
                </a:lnTo>
                <a:lnTo>
                  <a:pt x="48260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B07800"/>
            </a:solidFill>
            <a:prstDash val="sysDash"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!!gtText"/>
          <p:cNvSpPr/>
          <p:nvPr/>
        </p:nvSpPr>
        <p:spPr>
          <a:xfrm>
            <a:off x="6756400" y="18542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ground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truth</a:t>
            </a:r>
          </a:p>
        </p:txBody>
      </p:sp>
      <p:grpSp>
        <p:nvGrpSpPr>
          <p:cNvPr id="59" name="!!llmIcon"/>
          <p:cNvGrpSpPr/>
          <p:nvPr/>
        </p:nvGrpSpPr>
        <p:grpSpPr>
          <a:xfrm>
            <a:off x="7340600" y="5009261"/>
            <a:ext cx="1358900" cy="1505839"/>
            <a:chOff x="6660949" y="1128471"/>
            <a:chExt cx="1826564" cy="2002796"/>
          </a:xfrm>
        </p:grpSpPr>
        <p:sp>
          <p:nvSpPr>
            <p:cNvPr id="301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2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3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4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5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6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7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8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9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0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1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2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3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4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5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6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7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8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9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0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1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2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3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4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5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6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7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8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9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0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1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2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3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4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5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6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7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8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9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0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1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2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3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4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5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6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</p:grpSp>
      <p:sp>
        <p:nvSpPr>
          <p:cNvPr id="700" name="!!brace"/>
          <p:cNvSpPr/>
          <p:nvPr/>
        </p:nvSpPr>
        <p:spPr>
          <a:xfrm>
            <a:off x="406400" y="2133600"/>
            <a:ext cx="152400" cy="317500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4472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1" name="!!braceLabel"/>
          <p:cNvSpPr/>
          <p:nvPr/>
        </p:nvSpPr>
        <p:spPr>
          <a:xfrm>
            <a:off x="50800" y="3467100"/>
            <a:ext cx="3556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200" dirty="0">
                <a:solidFill>
                  <a:srgbClr val="4472C4"/>
                </a:solidFill>
                <a:latin typeface="Cambria Math"/>
                <a:cs typeface="Cambria Math"/>
              </a:rPr>
              <a:t>|F|</a:t>
            </a:r>
          </a:p>
        </p:txBody>
      </p:sp>
      <p:pic>
        <p:nvPicPr>
          <p:cNvPr id="702" name="!!gearIcon" descr="Configurab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1409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0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6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600" grpId="0" animBg="1"/>
      <p:bldP spid="601" grpId="0" animBg="1"/>
      <p:bldP spid="602" grpId="0" animBg="1"/>
      <p:bldP spid="603" grpId="0" animBg="1"/>
      <p:bldP spid="604" grpId="0" animBg="1"/>
      <p:bldP spid="605" grpId="0" animBg="1"/>
      <p:bldP spid="700" grpId="0" animBg="1"/>
      <p:bldP spid="7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!!cfg3off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51" name="b"/>
            <p:cNvSpPr/>
            <p:nvPr/>
          </p:nvSpPr>
          <p:spPr>
            <a:xfrm>
              <a:off x="91440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52" name="h"/>
            <p:cNvSpPr/>
            <p:nvPr/>
          </p:nvSpPr>
          <p:spPr>
            <a:xfrm>
              <a:off x="93218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Task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53" name="s"/>
            <p:cNvSpPr/>
            <p:nvPr/>
          </p:nvSpPr>
          <p:spPr>
            <a:xfrm>
              <a:off x="93218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40" name="!!cfg2on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41" name="b"/>
            <p:cNvSpPr/>
            <p:nvPr/>
          </p:nvSpPr>
          <p:spPr>
            <a:xfrm>
              <a:off x="6299200" y="228600"/>
              <a:ext cx="76200" cy="8636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42" name="h"/>
            <p:cNvSpPr/>
            <p:nvPr/>
          </p:nvSpPr>
          <p:spPr>
            <a:xfrm>
              <a:off x="64770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ED7D31"/>
                  </a:solidFill>
                </a:rPr>
                <a:t>Distractors  </a:t>
              </a:r>
              <a:r>
                <a:rPr lang="en-US" sz="2800" b="0" dirty="0">
                  <a:solidFill>
                    <a:srgbClr val="ED7D31"/>
                  </a:solidFill>
                  <a:latin typeface="Cambria Math"/>
                  <a:cs typeface="Cambria Math"/>
                </a:rPr>
                <a:t>D</a:t>
              </a:r>
              <a:r>
                <a:rPr lang="en-US" sz="2800" b="0" baseline="-20000" dirty="0">
                  <a:solidFill>
                    <a:srgbClr val="ED7D31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43" name="s"/>
            <p:cNvSpPr/>
            <p:nvPr/>
          </p:nvSpPr>
          <p:spPr>
            <a:xfrm>
              <a:off x="64770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30" name="!!cfg2off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31" name="b"/>
            <p:cNvSpPr/>
            <p:nvPr/>
          </p:nvSpPr>
          <p:spPr>
            <a:xfrm>
              <a:off x="62992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32" name="h"/>
            <p:cNvSpPr/>
            <p:nvPr/>
          </p:nvSpPr>
          <p:spPr>
            <a:xfrm>
              <a:off x="64770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Distractors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D</a:t>
              </a:r>
              <a:r>
                <a:rPr lang="en-US" sz="2400" b="0" baseline="-20000" dirty="0">
                  <a:solidFill>
                    <a:srgbClr val="C8C8C8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33" name="s"/>
            <p:cNvSpPr/>
            <p:nvPr/>
          </p:nvSpPr>
          <p:spPr>
            <a:xfrm>
              <a:off x="64770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20" name="!!cfg1off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21" name="b"/>
            <p:cNvSpPr/>
            <p:nvPr/>
          </p:nvSpPr>
          <p:spPr>
            <a:xfrm>
              <a:off x="34544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22" name="h"/>
            <p:cNvSpPr/>
            <p:nvPr/>
          </p:nvSpPr>
          <p:spPr>
            <a:xfrm>
              <a:off x="36322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Facts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23" name="s"/>
            <p:cNvSpPr/>
            <p:nvPr/>
          </p:nvSpPr>
          <p:spPr>
            <a:xfrm>
              <a:off x="36322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10" name="!!cfg1on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11" name="b"/>
            <p:cNvSpPr/>
            <p:nvPr/>
          </p:nvSpPr>
          <p:spPr>
            <a:xfrm>
              <a:off x="3454400" y="228600"/>
              <a:ext cx="76200" cy="8636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12" name="h"/>
            <p:cNvSpPr/>
            <p:nvPr/>
          </p:nvSpPr>
          <p:spPr>
            <a:xfrm>
              <a:off x="36322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4472C4"/>
                  </a:solidFill>
                </a:rPr>
                <a:t>Facts  </a:t>
              </a:r>
              <a:r>
                <a:rPr lang="en-US" sz="2800" b="0" dirty="0">
                  <a:solidFill>
                    <a:srgbClr val="4472C4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13" name="s"/>
            <p:cNvSpPr/>
            <p:nvPr/>
          </p:nvSpPr>
          <p:spPr>
            <a:xfrm>
              <a:off x="36322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00" name="!!cfg0off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01" name="b"/>
            <p:cNvSpPr/>
            <p:nvPr/>
          </p:nvSpPr>
          <p:spPr>
            <a:xfrm>
              <a:off x="6096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02" name="h"/>
            <p:cNvSpPr/>
            <p:nvPr/>
          </p:nvSpPr>
          <p:spPr>
            <a:xfrm>
              <a:off x="7874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Redundancy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03" name="s"/>
            <p:cNvSpPr/>
            <p:nvPr/>
          </p:nvSpPr>
          <p:spPr>
            <a:xfrm>
              <a:off x="7874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pic>
        <p:nvPicPr>
          <p:cNvPr id="347" name="!!dataIcon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320800"/>
            <a:ext cx="406400" cy="406400"/>
          </a:xfrm>
          <a:prstGeom prst="rect">
            <a:avLst/>
          </a:prstGeom>
        </p:spPr>
      </p:pic>
      <p:pic>
        <p:nvPicPr>
          <p:cNvPr id="348" name="!!queryIcon" descr="Attribution qu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0" y="1358900"/>
            <a:ext cx="406400" cy="406400"/>
          </a:xfrm>
          <a:prstGeom prst="rect">
            <a:avLst/>
          </a:prstGeom>
        </p:spPr>
      </p:pic>
      <p:sp>
        <p:nvSpPr>
          <p:cNvPr id="22" name="!!dataLabel"/>
          <p:cNvSpPr/>
          <p:nvPr/>
        </p:nvSpPr>
        <p:spPr>
          <a:xfrm>
            <a:off x="609600" y="1320800"/>
            <a:ext cx="6146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Configurable training set</a:t>
            </a:r>
          </a:p>
        </p:txBody>
      </p:sp>
      <p:sp>
        <p:nvSpPr>
          <p:cNvPr id="24" name="!!queryLabel"/>
          <p:cNvSpPr/>
          <p:nvPr/>
        </p:nvSpPr>
        <p:spPr>
          <a:xfrm>
            <a:off x="7467600" y="1320800"/>
            <a:ext cx="411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23" name="!!panel"/>
          <p:cNvSpPr/>
          <p:nvPr/>
        </p:nvSpPr>
        <p:spPr>
          <a:xfrm>
            <a:off x="609600" y="1905000"/>
            <a:ext cx="6146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e2"/>
          <p:cNvSpPr/>
          <p:nvPr/>
        </p:nvSpPr>
        <p:spPr>
          <a:xfrm>
            <a:off x="889000" y="22352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1" name="!!e1"/>
          <p:cNvSpPr/>
          <p:nvPr/>
        </p:nvSpPr>
        <p:spPr>
          <a:xfrm>
            <a:off x="838200" y="2184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...The function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0" name="!!d1"/>
          <p:cNvSpPr/>
          <p:nvPr/>
        </p:nvSpPr>
        <p:spPr>
          <a:xfrm>
            <a:off x="787400" y="2133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function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maps every integer to the constant value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880" name="!!moreFacts"/>
          <p:cNvSpPr/>
          <p:nvPr/>
        </p:nvSpPr>
        <p:spPr>
          <a:xfrm>
            <a:off x="787400" y="4165600"/>
            <a:ext cx="568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36" name="!!more11"/>
          <p:cNvSpPr/>
          <p:nvPr/>
        </p:nvSpPr>
        <p:spPr>
          <a:xfrm>
            <a:off x="787400" y="53086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600" name="!!g2b2"/>
          <p:cNvSpPr/>
          <p:nvPr/>
        </p:nvSpPr>
        <p:spPr>
          <a:xfrm>
            <a:off x="889000" y="33782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, regardless of input...</a:t>
            </a:r>
          </a:p>
        </p:txBody>
      </p:sp>
      <p:sp>
        <p:nvSpPr>
          <p:cNvPr id="601" name="!!g2b1"/>
          <p:cNvSpPr/>
          <p:nvPr/>
        </p:nvSpPr>
        <p:spPr>
          <a:xfrm>
            <a:off x="838200" y="3327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, regardless of input...</a:t>
            </a:r>
          </a:p>
        </p:txBody>
      </p:sp>
      <p:sp>
        <p:nvSpPr>
          <p:cNvPr id="602" name="!!g2"/>
          <p:cNvSpPr/>
          <p:nvPr/>
        </p:nvSpPr>
        <p:spPr>
          <a:xfrm>
            <a:off x="787400" y="32766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&lt;f2&gt;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function always returns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&lt;v2&gt;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, regardless of input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800" name="!!dist1"/>
          <p:cNvSpPr/>
          <p:nvPr/>
        </p:nvSpPr>
        <p:spPr>
          <a:xfrm>
            <a:off x="787400" y="4470400"/>
            <a:ext cx="57912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The output of </a:t>
            </a:r>
            <a:r>
              <a:rPr lang="en-US" sz="2000" b="1" spc="-80" dirty="0">
                <a:solidFill>
                  <a:srgbClr val="ED7D31"/>
                </a:solidFill>
                <a:latin typeface="Andale Mono"/>
                <a:cs typeface="Andale Mono"/>
              </a:rPr>
              <a:t>&lt;g1&gt;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(87) is 11.</a:t>
            </a:r>
          </a:p>
        </p:txBody>
      </p:sp>
      <p:sp>
        <p:nvSpPr>
          <p:cNvPr id="37" name="!!gtOutline"/>
          <p:cNvSpPr/>
          <p:nvPr/>
        </p:nvSpPr>
        <p:spPr>
          <a:xfrm>
            <a:off x="685800" y="2032000"/>
            <a:ext cx="6045200" cy="9906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B07800"/>
            </a:solidFill>
            <a:prstDash val="sysDash"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card"/>
          <p:cNvSpPr/>
          <p:nvPr/>
        </p:nvSpPr>
        <p:spPr>
          <a:xfrm>
            <a:off x="7467600" y="1905000"/>
            <a:ext cx="4114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qBox"/>
          <p:cNvSpPr/>
          <p:nvPr/>
        </p:nvSpPr>
        <p:spPr>
          <a:xfrm>
            <a:off x="7620000" y="2108200"/>
            <a:ext cx="3810000" cy="13716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55A11"/>
                </a:solidFill>
              </a:rPr>
              <a:t>Question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The output of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(67) is</a:t>
            </a:r>
          </a:p>
        </p:txBody>
      </p:sp>
      <p:sp>
        <p:nvSpPr>
          <p:cNvPr id="56" name="!!aBox"/>
          <p:cNvSpPr/>
          <p:nvPr/>
        </p:nvSpPr>
        <p:spPr>
          <a:xfrm>
            <a:off x="7620000" y="3632200"/>
            <a:ext cx="3810000" cy="11684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</a:rPr>
              <a:t>Answer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sp>
        <p:nvSpPr>
          <p:cNvPr id="58" name="!!llmCap"/>
          <p:cNvSpPr/>
          <p:nvPr/>
        </p:nvSpPr>
        <p:spPr>
          <a:xfrm>
            <a:off x="8504536" y="5194637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finetuned LLM</a:t>
            </a:r>
          </a:p>
        </p:txBody>
      </p:sp>
      <p:sp>
        <p:nvSpPr>
          <p:cNvPr id="62" name="!!ftArrow"/>
          <p:cNvSpPr/>
          <p:nvPr/>
        </p:nvSpPr>
        <p:spPr>
          <a:xfrm>
            <a:off x="6781800" y="5486400"/>
            <a:ext cx="635000" cy="12700"/>
          </a:xfrm>
          <a:custGeom>
            <a:avLst/>
            <a:gdLst/>
            <a:ahLst/>
            <a:cxnLst/>
            <a:rect l="0" t="0" r="r" b="b"/>
            <a:pathLst>
              <a:path w="660400" h="12700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9050">
            <a:solidFill>
              <a:srgbClr val="BFBFBF"/>
            </a:solidFill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!!ftLabel"/>
          <p:cNvSpPr/>
          <p:nvPr/>
        </p:nvSpPr>
        <p:spPr>
          <a:xfrm>
            <a:off x="6705600" y="5562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A6A6A6"/>
                </a:solidFill>
              </a:rPr>
              <a:t>finetune</a:t>
            </a:r>
          </a:p>
        </p:txBody>
      </p:sp>
      <p:sp>
        <p:nvSpPr>
          <p:cNvPr id="60" name="!!gtLine"/>
          <p:cNvSpPr/>
          <p:nvPr/>
        </p:nvSpPr>
        <p:spPr>
          <a:xfrm>
            <a:off x="6756400" y="2527300"/>
            <a:ext cx="863600" cy="1689100"/>
          </a:xfrm>
          <a:custGeom>
            <a:avLst/>
            <a:gdLst/>
            <a:ahLst/>
            <a:cxnLst/>
            <a:rect l="0" t="0" r="r" b="b"/>
            <a:pathLst>
              <a:path w="1041400" h="1689100">
                <a:moveTo>
                  <a:pt x="1041400" y="1689100"/>
                </a:moveTo>
                <a:lnTo>
                  <a:pt x="482600" y="1689100"/>
                </a:lnTo>
                <a:lnTo>
                  <a:pt x="48260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B07800"/>
            </a:solidFill>
            <a:prstDash val="sysDash"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!!gtText"/>
          <p:cNvSpPr/>
          <p:nvPr/>
        </p:nvSpPr>
        <p:spPr>
          <a:xfrm>
            <a:off x="6756400" y="18542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ground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truth</a:t>
            </a:r>
          </a:p>
        </p:txBody>
      </p:sp>
      <p:grpSp>
        <p:nvGrpSpPr>
          <p:cNvPr id="59" name="!!llmIcon"/>
          <p:cNvGrpSpPr/>
          <p:nvPr/>
        </p:nvGrpSpPr>
        <p:grpSpPr>
          <a:xfrm>
            <a:off x="7340600" y="5009261"/>
            <a:ext cx="1358900" cy="1505839"/>
            <a:chOff x="6660949" y="1128471"/>
            <a:chExt cx="1826564" cy="2002796"/>
          </a:xfrm>
        </p:grpSpPr>
        <p:sp>
          <p:nvSpPr>
            <p:cNvPr id="301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2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3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4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5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6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7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8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09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0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1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2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3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4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5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6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7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8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19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0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1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2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3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4" name="FT_CT"/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5" name="FT_CUR"/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6" name="FT_CLR"/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7" name="FT_CB"/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8" name="FT_CLL"/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29" name="FT_CUL"/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0" name="FT_TUR"/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1" name="FT_URLR"/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2" name="FT_LRB"/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3" name="FT_BLL"/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4" name="FT_LLUL"/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5" name="FT_ULT"/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6" name="FT_TLL"/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7" name="FT_TLR"/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8" name="FT_BUL"/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9" name="FT_BUR"/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0" name="FT_T"/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1" name="FT_UR"/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2" name="FT_LR"/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3" name="FT_B"/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4" name="FT_LL"/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5" name="FT_UL"/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6" name="FT_C"/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</p:grpSp>
      <p:sp>
        <p:nvSpPr>
          <p:cNvPr id="700" name="!!braceD"/>
          <p:cNvSpPr/>
          <p:nvPr/>
        </p:nvSpPr>
        <p:spPr>
          <a:xfrm>
            <a:off x="431800" y="4470400"/>
            <a:ext cx="152400" cy="78740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ED7D3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1" name="!!braceLabelD"/>
          <p:cNvSpPr/>
          <p:nvPr/>
        </p:nvSpPr>
        <p:spPr>
          <a:xfrm>
            <a:off x="25400" y="4610100"/>
            <a:ext cx="4064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00" dirty="0">
                <a:solidFill>
                  <a:srgbClr val="ED7D31"/>
                </a:solidFill>
                <a:latin typeface="Cambria Math"/>
                <a:cs typeface="Cambria Math"/>
              </a:rPr>
              <a:t>D</a:t>
            </a:r>
            <a:r>
              <a:rPr lang="en-US" sz="2000" baseline="-25000" dirty="0">
                <a:solidFill>
                  <a:srgbClr val="ED7D31"/>
                </a:solidFill>
                <a:latin typeface="Cambria Math"/>
                <a:cs typeface="Cambria Math"/>
              </a:rPr>
              <a:t>dist</a:t>
            </a:r>
          </a:p>
        </p:txBody>
      </p:sp>
      <p:pic>
        <p:nvPicPr>
          <p:cNvPr id="702" name="!!gearIcon" descr="Configurab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1409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8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6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" grpId="0" animBg="1"/>
      <p:bldP spid="700" grpId="0" animBg="1"/>
      <p:bldP spid="70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!!cfg3on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51" name="b"/>
            <p:cNvSpPr/>
            <p:nvPr/>
          </p:nvSpPr>
          <p:spPr>
            <a:xfrm>
              <a:off x="9144000" y="228600"/>
              <a:ext cx="76200" cy="8636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52" name="h"/>
            <p:cNvSpPr/>
            <p:nvPr/>
          </p:nvSpPr>
          <p:spPr>
            <a:xfrm>
              <a:off x="93218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595959"/>
                  </a:solidFill>
                </a:rPr>
                <a:t>Task  </a:t>
              </a:r>
              <a:r>
                <a:rPr lang="en-US" sz="2800" b="0" dirty="0">
                  <a:solidFill>
                    <a:srgbClr val="595959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53" name="s"/>
            <p:cNvSpPr/>
            <p:nvPr/>
          </p:nvSpPr>
          <p:spPr>
            <a:xfrm>
              <a:off x="93218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40" name="!!cfg3off"/>
          <p:cNvGrpSpPr/>
          <p:nvPr/>
        </p:nvGrpSpPr>
        <p:grpSpPr>
          <a:xfrm>
            <a:off x="9144000" y="203200"/>
            <a:ext cx="2794000" cy="889000"/>
            <a:chOff x="9144000" y="203200"/>
            <a:chExt cx="2794000" cy="889000"/>
          </a:xfrm>
        </p:grpSpPr>
        <p:sp>
          <p:nvSpPr>
            <p:cNvPr id="1141" name="b"/>
            <p:cNvSpPr/>
            <p:nvPr/>
          </p:nvSpPr>
          <p:spPr>
            <a:xfrm>
              <a:off x="91440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42" name="h"/>
            <p:cNvSpPr/>
            <p:nvPr/>
          </p:nvSpPr>
          <p:spPr>
            <a:xfrm>
              <a:off x="93218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Task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T</a:t>
              </a:r>
            </a:p>
          </p:txBody>
        </p:sp>
        <p:sp>
          <p:nvSpPr>
            <p:cNvPr id="1143" name="s"/>
            <p:cNvSpPr/>
            <p:nvPr/>
          </p:nvSpPr>
          <p:spPr>
            <a:xfrm>
              <a:off x="93218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other question types</a:t>
              </a:r>
            </a:p>
          </p:txBody>
        </p:sp>
      </p:grpSp>
      <p:grpSp>
        <p:nvGrpSpPr>
          <p:cNvPr id="1130" name="!!cfg2off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31" name="b"/>
            <p:cNvSpPr/>
            <p:nvPr/>
          </p:nvSpPr>
          <p:spPr>
            <a:xfrm>
              <a:off x="62992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32" name="h"/>
            <p:cNvSpPr/>
            <p:nvPr/>
          </p:nvSpPr>
          <p:spPr>
            <a:xfrm>
              <a:off x="64770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Distractors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D</a:t>
              </a:r>
              <a:r>
                <a:rPr lang="en-US" sz="2400" b="0" baseline="-20000" dirty="0">
                  <a:solidFill>
                    <a:srgbClr val="C8C8C8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33" name="s"/>
            <p:cNvSpPr/>
            <p:nvPr/>
          </p:nvSpPr>
          <p:spPr>
            <a:xfrm>
              <a:off x="64770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20" name="!!cfg2on"/>
          <p:cNvGrpSpPr/>
          <p:nvPr/>
        </p:nvGrpSpPr>
        <p:grpSpPr>
          <a:xfrm>
            <a:off x="6299200" y="203200"/>
            <a:ext cx="2794000" cy="889000"/>
            <a:chOff x="6299200" y="203200"/>
            <a:chExt cx="2794000" cy="889000"/>
          </a:xfrm>
        </p:grpSpPr>
        <p:sp>
          <p:nvSpPr>
            <p:cNvPr id="1121" name="b"/>
            <p:cNvSpPr/>
            <p:nvPr/>
          </p:nvSpPr>
          <p:spPr>
            <a:xfrm>
              <a:off x="6299200" y="228600"/>
              <a:ext cx="76200" cy="8636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22" name="h"/>
            <p:cNvSpPr/>
            <p:nvPr/>
          </p:nvSpPr>
          <p:spPr>
            <a:xfrm>
              <a:off x="6477000" y="203200"/>
              <a:ext cx="26162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800" b="0" dirty="0">
                  <a:solidFill>
                    <a:srgbClr val="ED7D31"/>
                  </a:solidFill>
                </a:rPr>
                <a:t>Distractors  </a:t>
              </a:r>
              <a:r>
                <a:rPr lang="en-US" sz="2800" b="0" dirty="0">
                  <a:solidFill>
                    <a:srgbClr val="ED7D31"/>
                  </a:solidFill>
                  <a:latin typeface="Cambria Math"/>
                  <a:cs typeface="Cambria Math"/>
                </a:rPr>
                <a:t>D</a:t>
              </a:r>
              <a:r>
                <a:rPr lang="en-US" sz="2800" b="0" baseline="-20000" dirty="0">
                  <a:solidFill>
                    <a:srgbClr val="ED7D31"/>
                  </a:solidFill>
                  <a:latin typeface="Cambria Math"/>
                  <a:cs typeface="Cambria Math"/>
                </a:rPr>
                <a:t>dist</a:t>
              </a:r>
            </a:p>
          </p:txBody>
        </p:sp>
        <p:sp>
          <p:nvSpPr>
            <p:cNvPr id="1123" name="s"/>
            <p:cNvSpPr/>
            <p:nvPr/>
          </p:nvSpPr>
          <p:spPr>
            <a:xfrm>
              <a:off x="6477000" y="7366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700" b="0" dirty="0">
                  <a:solidFill>
                    <a:srgbClr val="404040"/>
                  </a:solidFill>
                  <a:latin typeface="Helvetica Light"/>
                  <a:cs typeface="Helvetica Light"/>
                </a:rPr>
                <a:t>look like the query</a:t>
              </a:r>
            </a:p>
          </p:txBody>
        </p:sp>
      </p:grpSp>
      <p:grpSp>
        <p:nvGrpSpPr>
          <p:cNvPr id="1110" name="!!cfg1off"/>
          <p:cNvGrpSpPr/>
          <p:nvPr/>
        </p:nvGrpSpPr>
        <p:grpSpPr>
          <a:xfrm>
            <a:off x="3454400" y="203200"/>
            <a:ext cx="2794000" cy="889000"/>
            <a:chOff x="3454400" y="203200"/>
            <a:chExt cx="2794000" cy="889000"/>
          </a:xfrm>
        </p:grpSpPr>
        <p:sp>
          <p:nvSpPr>
            <p:cNvPr id="1111" name="b"/>
            <p:cNvSpPr/>
            <p:nvPr/>
          </p:nvSpPr>
          <p:spPr>
            <a:xfrm>
              <a:off x="34544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12" name="h"/>
            <p:cNvSpPr/>
            <p:nvPr/>
          </p:nvSpPr>
          <p:spPr>
            <a:xfrm>
              <a:off x="36322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Facts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|F|</a:t>
              </a:r>
            </a:p>
          </p:txBody>
        </p:sp>
        <p:sp>
          <p:nvSpPr>
            <p:cNvPr id="1113" name="s"/>
            <p:cNvSpPr/>
            <p:nvPr/>
          </p:nvSpPr>
          <p:spPr>
            <a:xfrm>
              <a:off x="36322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more competing facts</a:t>
              </a:r>
            </a:p>
          </p:txBody>
        </p:sp>
      </p:grpSp>
      <p:grpSp>
        <p:nvGrpSpPr>
          <p:cNvPr id="1100" name="!!cfg0off"/>
          <p:cNvGrpSpPr/>
          <p:nvPr/>
        </p:nvGrpSpPr>
        <p:grpSpPr>
          <a:xfrm>
            <a:off x="609600" y="203200"/>
            <a:ext cx="2794000" cy="889000"/>
            <a:chOff x="609600" y="203200"/>
            <a:chExt cx="2794000" cy="889000"/>
          </a:xfrm>
        </p:grpSpPr>
        <p:sp>
          <p:nvSpPr>
            <p:cNvPr id="1101" name="b"/>
            <p:cNvSpPr/>
            <p:nvPr/>
          </p:nvSpPr>
          <p:spPr>
            <a:xfrm>
              <a:off x="609600" y="304800"/>
              <a:ext cx="50800" cy="7620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endParaRPr lang="en-US" dirty="0"/>
            </a:p>
          </p:txBody>
        </p:sp>
        <p:sp>
          <p:nvSpPr>
            <p:cNvPr id="1102" name="h"/>
            <p:cNvSpPr/>
            <p:nvPr/>
          </p:nvSpPr>
          <p:spPr>
            <a:xfrm>
              <a:off x="787400" y="279400"/>
              <a:ext cx="26162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2400" b="0" dirty="0">
                  <a:solidFill>
                    <a:srgbClr val="C8C8C8"/>
                  </a:solidFill>
                </a:rPr>
                <a:t>Redundancy  </a:t>
              </a:r>
              <a:r>
                <a:rPr lang="en-US" sz="2400" b="0" dirty="0">
                  <a:solidFill>
                    <a:srgbClr val="C8C8C8"/>
                  </a:solidFill>
                  <a:latin typeface="Cambria Math"/>
                  <a:cs typeface="Cambria Math"/>
                </a:rPr>
                <a:t>N</a:t>
              </a:r>
            </a:p>
          </p:txBody>
        </p:sp>
        <p:sp>
          <p:nvSpPr>
            <p:cNvPr id="1103" name="s"/>
            <p:cNvSpPr/>
            <p:nvPr/>
          </p:nvSpPr>
          <p:spPr>
            <a:xfrm>
              <a:off x="787400" y="711200"/>
              <a:ext cx="2616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dirty="0">
                  <a:solidFill>
                    <a:srgbClr val="D0D0D0"/>
                  </a:solidFill>
                  <a:latin typeface="Helvetica Light"/>
                  <a:cs typeface="Helvetica Light"/>
                </a:rPr>
                <a:t>same fact, many wordings</a:t>
              </a:r>
            </a:p>
          </p:txBody>
        </p:sp>
      </p:grpSp>
      <p:pic>
        <p:nvPicPr>
          <p:cNvPr id="347" name="!!dataIcon" descr="Training datas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320800"/>
            <a:ext cx="406400" cy="406400"/>
          </a:xfrm>
          <a:prstGeom prst="rect">
            <a:avLst/>
          </a:prstGeom>
        </p:spPr>
      </p:pic>
      <p:pic>
        <p:nvPicPr>
          <p:cNvPr id="348" name="!!queryIcon" descr="Attribution qu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0" y="1358900"/>
            <a:ext cx="406400" cy="406400"/>
          </a:xfrm>
          <a:prstGeom prst="rect">
            <a:avLst/>
          </a:prstGeom>
        </p:spPr>
      </p:pic>
      <p:sp>
        <p:nvSpPr>
          <p:cNvPr id="22" name="!!dataLabel"/>
          <p:cNvSpPr/>
          <p:nvPr/>
        </p:nvSpPr>
        <p:spPr>
          <a:xfrm>
            <a:off x="609600" y="1320800"/>
            <a:ext cx="6146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Configurable training set</a:t>
            </a:r>
          </a:p>
        </p:txBody>
      </p:sp>
      <p:sp>
        <p:nvSpPr>
          <p:cNvPr id="24" name="!!queryLabel"/>
          <p:cNvSpPr/>
          <p:nvPr/>
        </p:nvSpPr>
        <p:spPr>
          <a:xfrm>
            <a:off x="7467600" y="1320800"/>
            <a:ext cx="411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23" name="!!panel"/>
          <p:cNvSpPr/>
          <p:nvPr/>
        </p:nvSpPr>
        <p:spPr>
          <a:xfrm>
            <a:off x="609600" y="1905000"/>
            <a:ext cx="6146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e2"/>
          <p:cNvSpPr/>
          <p:nvPr/>
        </p:nvSpPr>
        <p:spPr>
          <a:xfrm>
            <a:off x="889000" y="22352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vehicle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is routed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if and only if it is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stalled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; all non-stalled vehicles go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1" name="!!e1"/>
          <p:cNvSpPr/>
          <p:nvPr/>
        </p:nvSpPr>
        <p:spPr>
          <a:xfrm>
            <a:off x="838200" y="21844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vehicle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is routed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if and only if it is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stalled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; all non-stalled vehicles go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0" name="!!d1"/>
          <p:cNvSpPr/>
          <p:nvPr/>
        </p:nvSpPr>
        <p:spPr>
          <a:xfrm>
            <a:off x="787400" y="21336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A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vehicle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is routed to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if and only if it is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stalled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; all non-stalled vehicles go to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6" name="!!more11"/>
          <p:cNvSpPr/>
          <p:nvPr/>
        </p:nvSpPr>
        <p:spPr>
          <a:xfrm>
            <a:off x="787400" y="5359400"/>
            <a:ext cx="568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marL="0" indent="0" algn="l">
              <a:buNone/>
            </a:pPr>
            <a:r>
              <a:rPr lang="en-US" sz="2400" b="0" dirty="0">
                <a:solidFill>
                  <a:srgbClr val="595959"/>
                </a:solidFill>
              </a:rPr>
              <a:t>⋮</a:t>
            </a:r>
          </a:p>
        </p:txBody>
      </p:sp>
      <p:sp>
        <p:nvSpPr>
          <p:cNvPr id="600" name="!!g2b2"/>
          <p:cNvSpPr/>
          <p:nvPr/>
        </p:nvSpPr>
        <p:spPr>
          <a:xfrm>
            <a:off x="889000" y="38608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jar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goes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if and only if it has 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green lid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; all other jars go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 Properties such as...</a:t>
            </a:r>
          </a:p>
        </p:txBody>
      </p:sp>
      <p:sp>
        <p:nvSpPr>
          <p:cNvPr id="601" name="!!g2b1"/>
          <p:cNvSpPr/>
          <p:nvPr/>
        </p:nvSpPr>
        <p:spPr>
          <a:xfrm>
            <a:off x="838200" y="38100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...A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jar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goes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 if and only if it has a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green lid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; all other jars go to </a:t>
            </a:r>
            <a:r>
              <a:rPr lang="en-US" sz="2000" b="1" spc="-80" dirty="0">
                <a:solidFill>
                  <a:srgbClr val="FFFFFF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FFFFFF"/>
                </a:solidFill>
                <a:latin typeface="Andale Mono"/>
                <a:cs typeface="Andale Mono"/>
              </a:rPr>
              <a:t>. Properties such as...</a:t>
            </a:r>
          </a:p>
        </p:txBody>
      </p:sp>
      <p:sp>
        <p:nvSpPr>
          <p:cNvPr id="602" name="!!g2"/>
          <p:cNvSpPr/>
          <p:nvPr/>
        </p:nvSpPr>
        <p:spPr>
          <a:xfrm>
            <a:off x="787400" y="3759200"/>
            <a:ext cx="5791200" cy="139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6200" tIns="0" rIns="76200" bIns="0" anchor="ctr">
            <a:noAutofit/>
          </a:bodyPr>
          <a:lstStyle/>
          <a:p>
            <a:pPr marL="0" indent="0" algn="l">
              <a:buNone/>
            </a:pP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A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jar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goes to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Cedar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 if and only if it has a </a:t>
            </a:r>
            <a:r>
              <a:rPr lang="en-US" sz="2000" b="1" spc="-80" dirty="0">
                <a:solidFill>
                  <a:srgbClr val="196B24"/>
                </a:solidFill>
                <a:latin typeface="Andale Mono"/>
                <a:cs typeface="Andale Mono"/>
              </a:rPr>
              <a:t>green lid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; all other jars go to </a:t>
            </a:r>
            <a:r>
              <a:rPr lang="en-US" sz="2000" b="1" spc="-80" dirty="0">
                <a:solidFill>
                  <a:srgbClr val="7030A0"/>
                </a:solidFill>
                <a:latin typeface="Andale Mono"/>
                <a:cs typeface="Andale Mono"/>
              </a:rPr>
              <a:t>Birch</a:t>
            </a:r>
            <a:r>
              <a:rPr lang="en-US" sz="2000" b="0" spc="-80" dirty="0">
                <a:solidFill>
                  <a:srgbClr val="2E3A32"/>
                </a:solidFill>
                <a:latin typeface="Andale Mono"/>
                <a:cs typeface="Andale Mono"/>
              </a:rPr>
              <a:t>. Properties such as</a:t>
            </a:r>
            <a:r>
              <a:rPr lang="en-US" sz="2000" b="0" spc="-80" dirty="0">
                <a:solidFill>
                  <a:srgbClr val="A6A6A6"/>
                </a:solidFill>
                <a:latin typeface="Andale Mono"/>
                <a:cs typeface="Andale Mono"/>
              </a:rPr>
              <a:t>...</a:t>
            </a:r>
          </a:p>
        </p:txBody>
      </p:sp>
      <p:sp>
        <p:nvSpPr>
          <p:cNvPr id="37" name="!!gtOutline"/>
          <p:cNvSpPr/>
          <p:nvPr/>
        </p:nvSpPr>
        <p:spPr>
          <a:xfrm>
            <a:off x="685800" y="2032000"/>
            <a:ext cx="6045200" cy="16002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B07800"/>
            </a:solidFill>
            <a:prstDash val="sysDash"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card"/>
          <p:cNvSpPr/>
          <p:nvPr/>
        </p:nvSpPr>
        <p:spPr>
          <a:xfrm>
            <a:off x="7467600" y="1905000"/>
            <a:ext cx="4114800" cy="4191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qBox"/>
          <p:cNvSpPr/>
          <p:nvPr/>
        </p:nvSpPr>
        <p:spPr>
          <a:xfrm>
            <a:off x="7620000" y="2082800"/>
            <a:ext cx="3810000" cy="19050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10160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55A11"/>
                </a:solidFill>
              </a:rPr>
              <a:t>Question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The </a:t>
            </a: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automobile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 is not </a:t>
            </a:r>
            <a:r>
              <a:rPr lang="en-US" sz="2000" b="1" dirty="0">
                <a:solidFill>
                  <a:srgbClr val="196B24"/>
                </a:solidFill>
                <a:latin typeface="Andale Mono"/>
                <a:cs typeface="Andale Mono"/>
              </a:rPr>
              <a:t>stalled</a:t>
            </a:r>
            <a:r>
              <a:rPr lang="en-US" sz="2000" b="0" dirty="0">
                <a:solidFill>
                  <a:srgbClr val="2E3A32"/>
                </a:solidFill>
                <a:latin typeface="Andale Mono"/>
                <a:cs typeface="Andale Mono"/>
              </a:rPr>
              <a:t>; has no blue light; is fueled; is locked. Birch or Cedar queue?</a:t>
            </a:r>
          </a:p>
        </p:txBody>
      </p:sp>
      <p:sp>
        <p:nvSpPr>
          <p:cNvPr id="56" name="!!aBox"/>
          <p:cNvSpPr/>
          <p:nvPr/>
        </p:nvSpPr>
        <p:spPr>
          <a:xfrm>
            <a:off x="7620000" y="4114800"/>
            <a:ext cx="3810000" cy="7874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</a:rPr>
              <a:t>Answer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7030A0"/>
                </a:solidFill>
                <a:latin typeface="Andale Mono"/>
                <a:cs typeface="Andale Mono"/>
              </a:rPr>
              <a:t>Birch</a:t>
            </a:r>
          </a:p>
        </p:txBody>
      </p:sp>
      <p:sp>
        <p:nvSpPr>
          <p:cNvPr id="62" name="!!ftArrow"/>
          <p:cNvSpPr/>
          <p:nvPr/>
        </p:nvSpPr>
        <p:spPr>
          <a:xfrm>
            <a:off x="6781800" y="5486400"/>
            <a:ext cx="635000" cy="12700"/>
          </a:xfrm>
          <a:custGeom>
            <a:avLst/>
            <a:gdLst/>
            <a:ahLst/>
            <a:cxnLst/>
            <a:rect l="0" t="0" r="r" b="b"/>
            <a:pathLst>
              <a:path w="660400" h="12700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9050">
            <a:solidFill>
              <a:srgbClr val="BFBFBF"/>
            </a:solidFill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!!ftLabel"/>
          <p:cNvSpPr/>
          <p:nvPr/>
        </p:nvSpPr>
        <p:spPr>
          <a:xfrm>
            <a:off x="6705600" y="5562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A6A6A6"/>
                </a:solidFill>
              </a:rPr>
              <a:t>finetune</a:t>
            </a:r>
          </a:p>
        </p:txBody>
      </p:sp>
      <p:sp>
        <p:nvSpPr>
          <p:cNvPr id="60" name="!!gtLine"/>
          <p:cNvSpPr/>
          <p:nvPr/>
        </p:nvSpPr>
        <p:spPr>
          <a:xfrm>
            <a:off x="6756400" y="2832100"/>
            <a:ext cx="863600" cy="1676400"/>
          </a:xfrm>
          <a:custGeom>
            <a:avLst/>
            <a:gdLst/>
            <a:ahLst/>
            <a:cxnLst/>
            <a:rect l="0" t="0" r="r" b="b"/>
            <a:pathLst>
              <a:path w="914400" h="2120900">
                <a:moveTo>
                  <a:pt x="914400" y="2120900"/>
                </a:moveTo>
                <a:lnTo>
                  <a:pt x="457200" y="2120900"/>
                </a:lnTo>
                <a:lnTo>
                  <a:pt x="45720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B07800"/>
            </a:solidFill>
            <a:prstDash val="sysDash"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!!gtText"/>
          <p:cNvSpPr/>
          <p:nvPr/>
        </p:nvSpPr>
        <p:spPr>
          <a:xfrm>
            <a:off x="6756400" y="22098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ground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C67D0B"/>
                </a:solidFill>
              </a:rPr>
              <a:t>truth</a:t>
            </a:r>
          </a:p>
        </p:txBody>
      </p:sp>
      <p:pic>
        <p:nvPicPr>
          <p:cNvPr id="702" name="!!gearIcon" descr="Configurab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1409700"/>
            <a:ext cx="457200" cy="457200"/>
          </a:xfrm>
          <a:prstGeom prst="rect">
            <a:avLst/>
          </a:prstGeom>
        </p:spPr>
      </p:pic>
      <p:sp>
        <p:nvSpPr>
          <p:cNvPr id="2" name="!!llmCap">
            <a:extLst>
              <a:ext uri="{FF2B5EF4-FFF2-40B4-BE49-F238E27FC236}">
                <a16:creationId xmlns:a16="http://schemas.microsoft.com/office/drawing/2014/main" id="{1FFC8263-8CDB-CCAE-8CA2-BAB9D22C0D02}"/>
              </a:ext>
            </a:extLst>
          </p:cNvPr>
          <p:cNvSpPr/>
          <p:nvPr/>
        </p:nvSpPr>
        <p:spPr>
          <a:xfrm>
            <a:off x="8504536" y="5283537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finetuned LLM</a:t>
            </a:r>
          </a:p>
        </p:txBody>
      </p:sp>
      <p:grpSp>
        <p:nvGrpSpPr>
          <p:cNvPr id="3" name="!!llmIcon">
            <a:extLst>
              <a:ext uri="{FF2B5EF4-FFF2-40B4-BE49-F238E27FC236}">
                <a16:creationId xmlns:a16="http://schemas.microsoft.com/office/drawing/2014/main" id="{F2308895-E74E-BB92-11BA-5FA205264117}"/>
              </a:ext>
            </a:extLst>
          </p:cNvPr>
          <p:cNvGrpSpPr/>
          <p:nvPr/>
        </p:nvGrpSpPr>
        <p:grpSpPr>
          <a:xfrm>
            <a:off x="7340600" y="5098161"/>
            <a:ext cx="1358900" cy="1505839"/>
            <a:chOff x="6660949" y="1128471"/>
            <a:chExt cx="1826564" cy="2002796"/>
          </a:xfrm>
        </p:grpSpPr>
        <p:sp>
          <p:nvSpPr>
            <p:cNvPr id="4" name="FT_CT">
              <a:extLst>
                <a:ext uri="{FF2B5EF4-FFF2-40B4-BE49-F238E27FC236}">
                  <a16:creationId xmlns:a16="http://schemas.microsoft.com/office/drawing/2014/main" id="{3B4E12F8-2200-D14C-48C7-73E708FDAE0F}"/>
                </a:ext>
              </a:extLst>
            </p:cNvPr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" name="FT_CUR">
              <a:extLst>
                <a:ext uri="{FF2B5EF4-FFF2-40B4-BE49-F238E27FC236}">
                  <a16:creationId xmlns:a16="http://schemas.microsoft.com/office/drawing/2014/main" id="{42B21784-3927-FA6A-A51B-828CB02F7EB7}"/>
                </a:ext>
              </a:extLst>
            </p:cNvPr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6" name="FT_CLR">
              <a:extLst>
                <a:ext uri="{FF2B5EF4-FFF2-40B4-BE49-F238E27FC236}">
                  <a16:creationId xmlns:a16="http://schemas.microsoft.com/office/drawing/2014/main" id="{6D5E0024-C603-204F-0ACF-29D04503445D}"/>
                </a:ext>
              </a:extLst>
            </p:cNvPr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7" name="FT_CB">
              <a:extLst>
                <a:ext uri="{FF2B5EF4-FFF2-40B4-BE49-F238E27FC236}">
                  <a16:creationId xmlns:a16="http://schemas.microsoft.com/office/drawing/2014/main" id="{81E6131F-A812-6FA4-13AE-1E7F1D072340}"/>
                </a:ext>
              </a:extLst>
            </p:cNvPr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8" name="FT_CLL">
              <a:extLst>
                <a:ext uri="{FF2B5EF4-FFF2-40B4-BE49-F238E27FC236}">
                  <a16:creationId xmlns:a16="http://schemas.microsoft.com/office/drawing/2014/main" id="{539D8A20-5107-4CA0-C26B-F322BC1E68B7}"/>
                </a:ext>
              </a:extLst>
            </p:cNvPr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" name="FT_CUL">
              <a:extLst>
                <a:ext uri="{FF2B5EF4-FFF2-40B4-BE49-F238E27FC236}">
                  <a16:creationId xmlns:a16="http://schemas.microsoft.com/office/drawing/2014/main" id="{727414B4-CC40-A50A-09D6-D86248362E80}"/>
                </a:ext>
              </a:extLst>
            </p:cNvPr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25" name="FT_TUR">
              <a:extLst>
                <a:ext uri="{FF2B5EF4-FFF2-40B4-BE49-F238E27FC236}">
                  <a16:creationId xmlns:a16="http://schemas.microsoft.com/office/drawing/2014/main" id="{585D262C-ACB4-E1FC-B011-85A847958A6B}"/>
                </a:ext>
              </a:extLst>
            </p:cNvPr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26" name="FT_URLR">
              <a:extLst>
                <a:ext uri="{FF2B5EF4-FFF2-40B4-BE49-F238E27FC236}">
                  <a16:creationId xmlns:a16="http://schemas.microsoft.com/office/drawing/2014/main" id="{82B82D11-FE71-AAD4-5F10-7698C4374232}"/>
                </a:ext>
              </a:extLst>
            </p:cNvPr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27" name="FT_LRB">
              <a:extLst>
                <a:ext uri="{FF2B5EF4-FFF2-40B4-BE49-F238E27FC236}">
                  <a16:creationId xmlns:a16="http://schemas.microsoft.com/office/drawing/2014/main" id="{8423F9DF-8E5F-F93B-6F79-90275005E7D2}"/>
                </a:ext>
              </a:extLst>
            </p:cNvPr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28" name="FT_BLL">
              <a:extLst>
                <a:ext uri="{FF2B5EF4-FFF2-40B4-BE49-F238E27FC236}">
                  <a16:creationId xmlns:a16="http://schemas.microsoft.com/office/drawing/2014/main" id="{B7E0DD16-238F-C350-AD24-7062788987CB}"/>
                </a:ext>
              </a:extLst>
            </p:cNvPr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29" name="FT_LLUL">
              <a:extLst>
                <a:ext uri="{FF2B5EF4-FFF2-40B4-BE49-F238E27FC236}">
                  <a16:creationId xmlns:a16="http://schemas.microsoft.com/office/drawing/2014/main" id="{2ED543AD-C794-DE22-6B03-4712700C58A6}"/>
                </a:ext>
              </a:extLst>
            </p:cNvPr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3" name="FT_ULT">
              <a:extLst>
                <a:ext uri="{FF2B5EF4-FFF2-40B4-BE49-F238E27FC236}">
                  <a16:creationId xmlns:a16="http://schemas.microsoft.com/office/drawing/2014/main" id="{2F296244-49E1-3EF9-4D22-8D43A8A539CB}"/>
                </a:ext>
              </a:extLst>
            </p:cNvPr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4" name="FT_TLL">
              <a:extLst>
                <a:ext uri="{FF2B5EF4-FFF2-40B4-BE49-F238E27FC236}">
                  <a16:creationId xmlns:a16="http://schemas.microsoft.com/office/drawing/2014/main" id="{CA548279-897E-420C-6511-746F598C9334}"/>
                </a:ext>
              </a:extLst>
            </p:cNvPr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5" name="FT_TLR">
              <a:extLst>
                <a:ext uri="{FF2B5EF4-FFF2-40B4-BE49-F238E27FC236}">
                  <a16:creationId xmlns:a16="http://schemas.microsoft.com/office/drawing/2014/main" id="{787BF59F-7295-2FDA-6552-2BAE93090542}"/>
                </a:ext>
              </a:extLst>
            </p:cNvPr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8" name="FT_BUL">
              <a:extLst>
                <a:ext uri="{FF2B5EF4-FFF2-40B4-BE49-F238E27FC236}">
                  <a16:creationId xmlns:a16="http://schemas.microsoft.com/office/drawing/2014/main" id="{1FE07BE0-BD5F-F179-9042-BD493EB2AA1E}"/>
                </a:ext>
              </a:extLst>
            </p:cNvPr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39" name="FT_BUR">
              <a:extLst>
                <a:ext uri="{FF2B5EF4-FFF2-40B4-BE49-F238E27FC236}">
                  <a16:creationId xmlns:a16="http://schemas.microsoft.com/office/drawing/2014/main" id="{1F4B8431-AF28-CA14-C935-87C21548AB56}"/>
                </a:ext>
              </a:extLst>
            </p:cNvPr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0" name="FT_T">
              <a:extLst>
                <a:ext uri="{FF2B5EF4-FFF2-40B4-BE49-F238E27FC236}">
                  <a16:creationId xmlns:a16="http://schemas.microsoft.com/office/drawing/2014/main" id="{B0BCABDF-391A-CA50-4E46-6510301B5F94}"/>
                </a:ext>
              </a:extLst>
            </p:cNvPr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1" name="FT_UR">
              <a:extLst>
                <a:ext uri="{FF2B5EF4-FFF2-40B4-BE49-F238E27FC236}">
                  <a16:creationId xmlns:a16="http://schemas.microsoft.com/office/drawing/2014/main" id="{E3FABB05-4520-B98D-E049-B4EAACDE0747}"/>
                </a:ext>
              </a:extLst>
            </p:cNvPr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2" name="FT_LR">
              <a:extLst>
                <a:ext uri="{FF2B5EF4-FFF2-40B4-BE49-F238E27FC236}">
                  <a16:creationId xmlns:a16="http://schemas.microsoft.com/office/drawing/2014/main" id="{BC3159C7-DF76-3E2A-B2AF-4D4A16416FB9}"/>
                </a:ext>
              </a:extLst>
            </p:cNvPr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3" name="FT_B">
              <a:extLst>
                <a:ext uri="{FF2B5EF4-FFF2-40B4-BE49-F238E27FC236}">
                  <a16:creationId xmlns:a16="http://schemas.microsoft.com/office/drawing/2014/main" id="{B76B6F42-6FFD-EEF9-B92E-0ADBD59961E4}"/>
                </a:ext>
              </a:extLst>
            </p:cNvPr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4" name="FT_LL">
              <a:extLst>
                <a:ext uri="{FF2B5EF4-FFF2-40B4-BE49-F238E27FC236}">
                  <a16:creationId xmlns:a16="http://schemas.microsoft.com/office/drawing/2014/main" id="{313B213B-5FCD-C5DC-84E9-ACB42B5F9EA2}"/>
                </a:ext>
              </a:extLst>
            </p:cNvPr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5" name="FT_UL">
              <a:extLst>
                <a:ext uri="{FF2B5EF4-FFF2-40B4-BE49-F238E27FC236}">
                  <a16:creationId xmlns:a16="http://schemas.microsoft.com/office/drawing/2014/main" id="{311ED935-C14D-42D0-1701-F9EB94FFAC43}"/>
                </a:ext>
              </a:extLst>
            </p:cNvPr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6" name="FT_C">
              <a:extLst>
                <a:ext uri="{FF2B5EF4-FFF2-40B4-BE49-F238E27FC236}">
                  <a16:creationId xmlns:a16="http://schemas.microsoft.com/office/drawing/2014/main" id="{7FB17D7A-76C7-41FC-ED55-1C425B0A6C4F}"/>
                </a:ext>
              </a:extLst>
            </p:cNvPr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7" name="FT_CT">
              <a:extLst>
                <a:ext uri="{FF2B5EF4-FFF2-40B4-BE49-F238E27FC236}">
                  <a16:creationId xmlns:a16="http://schemas.microsoft.com/office/drawing/2014/main" id="{572B674E-2D69-037B-98D6-0EB73ADB4E9C}"/>
                </a:ext>
              </a:extLst>
            </p:cNvPr>
            <p:cNvSpPr/>
            <p:nvPr/>
          </p:nvSpPr>
          <p:spPr>
            <a:xfrm>
              <a:off x="7528387" y="1271118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8" name="FT_CUR">
              <a:extLst>
                <a:ext uri="{FF2B5EF4-FFF2-40B4-BE49-F238E27FC236}">
                  <a16:creationId xmlns:a16="http://schemas.microsoft.com/office/drawing/2014/main" id="{302A6042-89C8-0561-45F1-0DC19B4274E2}"/>
                </a:ext>
              </a:extLst>
            </p:cNvPr>
            <p:cNvSpPr/>
            <p:nvPr/>
          </p:nvSpPr>
          <p:spPr>
            <a:xfrm flipH="1">
              <a:off x="7528387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49" name="FT_CLR">
              <a:extLst>
                <a:ext uri="{FF2B5EF4-FFF2-40B4-BE49-F238E27FC236}">
                  <a16:creationId xmlns:a16="http://schemas.microsoft.com/office/drawing/2014/main" id="{DBDC6B3F-B6CF-5309-F43E-7285FA507D49}"/>
                </a:ext>
              </a:extLst>
            </p:cNvPr>
            <p:cNvSpPr/>
            <p:nvPr/>
          </p:nvSpPr>
          <p:spPr>
            <a:xfrm>
              <a:off x="7528387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0" name="FT_CB">
              <a:extLst>
                <a:ext uri="{FF2B5EF4-FFF2-40B4-BE49-F238E27FC236}">
                  <a16:creationId xmlns:a16="http://schemas.microsoft.com/office/drawing/2014/main" id="{FF5ED4AD-E2BA-98DD-9CF4-32986940A398}"/>
                </a:ext>
              </a:extLst>
            </p:cNvPr>
            <p:cNvSpPr/>
            <p:nvPr/>
          </p:nvSpPr>
          <p:spPr>
            <a:xfrm>
              <a:off x="7528387" y="1746604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1" name="FT_CLL">
              <a:extLst>
                <a:ext uri="{FF2B5EF4-FFF2-40B4-BE49-F238E27FC236}">
                  <a16:creationId xmlns:a16="http://schemas.microsoft.com/office/drawing/2014/main" id="{DCF8F741-C19C-62F7-285E-7F7E1AAE6917}"/>
                </a:ext>
              </a:extLst>
            </p:cNvPr>
            <p:cNvSpPr/>
            <p:nvPr/>
          </p:nvSpPr>
          <p:spPr>
            <a:xfrm flipH="1">
              <a:off x="7116615" y="1746604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2" name="FT_CUL">
              <a:extLst>
                <a:ext uri="{FF2B5EF4-FFF2-40B4-BE49-F238E27FC236}">
                  <a16:creationId xmlns:a16="http://schemas.microsoft.com/office/drawing/2014/main" id="{B20C00B2-F9F0-5518-48A1-4572675DF586}"/>
                </a:ext>
              </a:extLst>
            </p:cNvPr>
            <p:cNvSpPr/>
            <p:nvPr/>
          </p:nvSpPr>
          <p:spPr>
            <a:xfrm>
              <a:off x="7116615" y="1508861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5" name="FT_TUR">
              <a:extLst>
                <a:ext uri="{FF2B5EF4-FFF2-40B4-BE49-F238E27FC236}">
                  <a16:creationId xmlns:a16="http://schemas.microsoft.com/office/drawing/2014/main" id="{FF574D3B-C9F0-A17B-AADA-C97072A4302A}"/>
                </a:ext>
              </a:extLst>
            </p:cNvPr>
            <p:cNvSpPr/>
            <p:nvPr/>
          </p:nvSpPr>
          <p:spPr>
            <a:xfrm>
              <a:off x="7528387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57" name="FT_URLR">
              <a:extLst>
                <a:ext uri="{FF2B5EF4-FFF2-40B4-BE49-F238E27FC236}">
                  <a16:creationId xmlns:a16="http://schemas.microsoft.com/office/drawing/2014/main" id="{2CEFC665-4B4D-9CB6-68BF-F68667EA4653}"/>
                </a:ext>
              </a:extLst>
            </p:cNvPr>
            <p:cNvSpPr/>
            <p:nvPr/>
          </p:nvSpPr>
          <p:spPr>
            <a:xfrm>
              <a:off x="7940160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3" name="FT_LRB">
              <a:extLst>
                <a:ext uri="{FF2B5EF4-FFF2-40B4-BE49-F238E27FC236}">
                  <a16:creationId xmlns:a16="http://schemas.microsoft.com/office/drawing/2014/main" id="{59D20D53-D7F2-59E1-9ADF-8AD129FD8198}"/>
                </a:ext>
              </a:extLst>
            </p:cNvPr>
            <p:cNvSpPr/>
            <p:nvPr/>
          </p:nvSpPr>
          <p:spPr>
            <a:xfrm flipH="1">
              <a:off x="7528387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4" name="FT_BLL">
              <a:extLst>
                <a:ext uri="{FF2B5EF4-FFF2-40B4-BE49-F238E27FC236}">
                  <a16:creationId xmlns:a16="http://schemas.microsoft.com/office/drawing/2014/main" id="{D6A1634F-33C5-B963-8054-F171FA2ED23F}"/>
                </a:ext>
              </a:extLst>
            </p:cNvPr>
            <p:cNvSpPr/>
            <p:nvPr/>
          </p:nvSpPr>
          <p:spPr>
            <a:xfrm>
              <a:off x="7116615" y="1984350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5" name="FT_LLUL">
              <a:extLst>
                <a:ext uri="{FF2B5EF4-FFF2-40B4-BE49-F238E27FC236}">
                  <a16:creationId xmlns:a16="http://schemas.microsoft.com/office/drawing/2014/main" id="{E8CE9D8B-8CAC-E92B-1BC2-2E97F4B35036}"/>
                </a:ext>
              </a:extLst>
            </p:cNvPr>
            <p:cNvSpPr/>
            <p:nvPr/>
          </p:nvSpPr>
          <p:spPr>
            <a:xfrm>
              <a:off x="7116615" y="1508861"/>
              <a:ext cx="0" cy="475489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6" name="FT_ULT">
              <a:extLst>
                <a:ext uri="{FF2B5EF4-FFF2-40B4-BE49-F238E27FC236}">
                  <a16:creationId xmlns:a16="http://schemas.microsoft.com/office/drawing/2014/main" id="{17845638-1A9F-31C0-648C-E2319102D207}"/>
                </a:ext>
              </a:extLst>
            </p:cNvPr>
            <p:cNvSpPr/>
            <p:nvPr/>
          </p:nvSpPr>
          <p:spPr>
            <a:xfrm flipH="1">
              <a:off x="7116615" y="1271118"/>
              <a:ext cx="411773" cy="237743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7" name="FT_TLL">
              <a:extLst>
                <a:ext uri="{FF2B5EF4-FFF2-40B4-BE49-F238E27FC236}">
                  <a16:creationId xmlns:a16="http://schemas.microsoft.com/office/drawing/2014/main" id="{12E1D129-EA50-22D2-BD16-09DFDA7292F7}"/>
                </a:ext>
              </a:extLst>
            </p:cNvPr>
            <p:cNvSpPr/>
            <p:nvPr/>
          </p:nvSpPr>
          <p:spPr>
            <a:xfrm flipH="1">
              <a:off x="7116615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8" name="FT_TLR">
              <a:extLst>
                <a:ext uri="{FF2B5EF4-FFF2-40B4-BE49-F238E27FC236}">
                  <a16:creationId xmlns:a16="http://schemas.microsoft.com/office/drawing/2014/main" id="{F10465AE-7028-2C06-526C-38F7BA0A4AD3}"/>
                </a:ext>
              </a:extLst>
            </p:cNvPr>
            <p:cNvSpPr/>
            <p:nvPr/>
          </p:nvSpPr>
          <p:spPr>
            <a:xfrm>
              <a:off x="7528387" y="1271118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69" name="FT_BUL">
              <a:extLst>
                <a:ext uri="{FF2B5EF4-FFF2-40B4-BE49-F238E27FC236}">
                  <a16:creationId xmlns:a16="http://schemas.microsoft.com/office/drawing/2014/main" id="{25BECBF4-8E51-2B65-9EAB-B46D41DA8604}"/>
                </a:ext>
              </a:extLst>
            </p:cNvPr>
            <p:cNvSpPr/>
            <p:nvPr/>
          </p:nvSpPr>
          <p:spPr>
            <a:xfrm>
              <a:off x="7116615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0" name="FT_BUR">
              <a:extLst>
                <a:ext uri="{FF2B5EF4-FFF2-40B4-BE49-F238E27FC236}">
                  <a16:creationId xmlns:a16="http://schemas.microsoft.com/office/drawing/2014/main" id="{56265F70-3ED6-D492-B779-D3AF388E1AAF}"/>
                </a:ext>
              </a:extLst>
            </p:cNvPr>
            <p:cNvSpPr/>
            <p:nvPr/>
          </p:nvSpPr>
          <p:spPr>
            <a:xfrm flipH="1">
              <a:off x="7528387" y="1508861"/>
              <a:ext cx="411773" cy="713232"/>
            </a:xfrm>
            <a:prstGeom prst="line">
              <a:avLst/>
            </a:prstGeom>
            <a:noFill/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1" name="FT_T">
              <a:extLst>
                <a:ext uri="{FF2B5EF4-FFF2-40B4-BE49-F238E27FC236}">
                  <a16:creationId xmlns:a16="http://schemas.microsoft.com/office/drawing/2014/main" id="{3E7F04D9-4CDC-D784-E06F-9EF810847099}"/>
                </a:ext>
              </a:extLst>
            </p:cNvPr>
            <p:cNvSpPr/>
            <p:nvPr/>
          </p:nvSpPr>
          <p:spPr>
            <a:xfrm>
              <a:off x="7385743" y="1128471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2" name="FT_UR">
              <a:extLst>
                <a:ext uri="{FF2B5EF4-FFF2-40B4-BE49-F238E27FC236}">
                  <a16:creationId xmlns:a16="http://schemas.microsoft.com/office/drawing/2014/main" id="{3AB0D3D6-9F95-E5AC-6CAE-C4F2A4E6CB4C}"/>
                </a:ext>
              </a:extLst>
            </p:cNvPr>
            <p:cNvSpPr/>
            <p:nvPr/>
          </p:nvSpPr>
          <p:spPr>
            <a:xfrm>
              <a:off x="7797513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3" name="FT_LR">
              <a:extLst>
                <a:ext uri="{FF2B5EF4-FFF2-40B4-BE49-F238E27FC236}">
                  <a16:creationId xmlns:a16="http://schemas.microsoft.com/office/drawing/2014/main" id="{CE6DE991-65A0-23CF-54BC-9206642671C5}"/>
                </a:ext>
              </a:extLst>
            </p:cNvPr>
            <p:cNvSpPr/>
            <p:nvPr/>
          </p:nvSpPr>
          <p:spPr>
            <a:xfrm>
              <a:off x="7797513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4" name="FT_B">
              <a:extLst>
                <a:ext uri="{FF2B5EF4-FFF2-40B4-BE49-F238E27FC236}">
                  <a16:creationId xmlns:a16="http://schemas.microsoft.com/office/drawing/2014/main" id="{32332775-32D3-53CC-4C31-87C1352D7DDD}"/>
                </a:ext>
              </a:extLst>
            </p:cNvPr>
            <p:cNvSpPr/>
            <p:nvPr/>
          </p:nvSpPr>
          <p:spPr>
            <a:xfrm>
              <a:off x="7385743" y="2079446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5" name="FT_LL">
              <a:extLst>
                <a:ext uri="{FF2B5EF4-FFF2-40B4-BE49-F238E27FC236}">
                  <a16:creationId xmlns:a16="http://schemas.microsoft.com/office/drawing/2014/main" id="{A24B73DD-CA19-2E59-4594-77A8F3D110AA}"/>
                </a:ext>
              </a:extLst>
            </p:cNvPr>
            <p:cNvSpPr/>
            <p:nvPr/>
          </p:nvSpPr>
          <p:spPr>
            <a:xfrm>
              <a:off x="6973968" y="1841703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6" name="FT_UL">
              <a:extLst>
                <a:ext uri="{FF2B5EF4-FFF2-40B4-BE49-F238E27FC236}">
                  <a16:creationId xmlns:a16="http://schemas.microsoft.com/office/drawing/2014/main" id="{7A03E2B0-AA70-6ABD-C2D6-19702F8580E5}"/>
                </a:ext>
              </a:extLst>
            </p:cNvPr>
            <p:cNvSpPr/>
            <p:nvPr/>
          </p:nvSpPr>
          <p:spPr>
            <a:xfrm>
              <a:off x="6973968" y="1366214"/>
              <a:ext cx="285294" cy="285294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  <p:sp>
          <p:nvSpPr>
            <p:cNvPr id="977" name="FT_C">
              <a:extLst>
                <a:ext uri="{FF2B5EF4-FFF2-40B4-BE49-F238E27FC236}">
                  <a16:creationId xmlns:a16="http://schemas.microsoft.com/office/drawing/2014/main" id="{5BF7BA4A-1B27-D037-8271-380B9D91E14E}"/>
                </a:ext>
              </a:extLst>
            </p:cNvPr>
            <p:cNvSpPr/>
            <p:nvPr/>
          </p:nvSpPr>
          <p:spPr>
            <a:xfrm>
              <a:off x="7366722" y="1584939"/>
              <a:ext cx="323333" cy="323333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1F5FA8"/>
              </a:solidFill>
            </a:ln>
          </p:spPr>
          <p:txBody>
            <a:bodyPr/>
            <a:lstStyle>
              <a:lvl1pPr marL="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780"/>
                </a:lnSpc>
              </a:pPr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103811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6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0" grpId="0" animBg="1"/>
      <p:bldP spid="36" grpId="0" animBg="1"/>
      <p:bldP spid="600" grpId="0" animBg="1"/>
      <p:bldP spid="601" grpId="0" animBg="1"/>
      <p:bldP spid="602" grpId="0" animBg="1"/>
      <p:bldP spid="37" grpId="0" animBg="1"/>
      <p:bldP spid="54" grpId="0" animBg="1"/>
      <p:bldP spid="56" grpId="0" animBg="1"/>
      <p:bldP spid="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2800"/>
          </a:xfrm>
        </p:spPr>
        <p:txBody>
          <a:bodyPr/>
          <a:lstStyle/>
          <a:p>
            <a:r>
              <a:rPr lang="en-US" dirty="0"/>
              <a:t>How do existing methods do?</a:t>
            </a:r>
          </a:p>
        </p:txBody>
      </p:sp>
      <p:graphicFrame>
        <p:nvGraphicFramePr>
          <p:cNvPr id="200" name="!!fbBase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1" name="!!fbG0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2" name="!!fbG1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3" name="!!fbG2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4" name="!!fbG3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5" name="!!fbG4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6" name="!!fbd"/>
          <p:cNvGraphicFramePr/>
          <p:nvPr/>
        </p:nvGraphicFramePr>
        <p:xfrm>
          <a:off x="4241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7" name="!!rr"/>
          <p:cNvGraphicFramePr/>
          <p:nvPr/>
        </p:nvGraphicFramePr>
        <p:xfrm>
          <a:off x="7924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00" name="!!labFB"/>
          <p:cNvSpPr/>
          <p:nvPr/>
        </p:nvSpPr>
        <p:spPr>
          <a:xfrm>
            <a:off x="939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Function Bindings</a:t>
            </a:r>
          </a:p>
        </p:txBody>
      </p:sp>
      <p:sp>
        <p:nvSpPr>
          <p:cNvPr id="501" name="!!labFBD"/>
          <p:cNvSpPr/>
          <p:nvPr/>
        </p:nvSpPr>
        <p:spPr>
          <a:xfrm>
            <a:off x="4622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+ distractors</a:t>
            </a:r>
          </a:p>
        </p:txBody>
      </p:sp>
      <p:sp>
        <p:nvSpPr>
          <p:cNvPr id="502" name="!!labRR"/>
          <p:cNvSpPr/>
          <p:nvPr/>
        </p:nvSpPr>
        <p:spPr>
          <a:xfrm>
            <a:off x="8305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Rule Routings</a:t>
            </a:r>
          </a:p>
        </p:txBody>
      </p:sp>
      <p:sp>
        <p:nvSpPr>
          <p:cNvPr id="503" name="!!ycap"/>
          <p:cNvSpPr/>
          <p:nvPr/>
        </p:nvSpPr>
        <p:spPr>
          <a:xfrm rot="-5400000">
            <a:off x="-1333500" y="2590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Recall@N</a:t>
            </a:r>
          </a:p>
        </p:txBody>
      </p:sp>
      <p:sp>
        <p:nvSpPr>
          <p:cNvPr id="504" name="!!xcap"/>
          <p:cNvSpPr/>
          <p:nvPr/>
        </p:nvSpPr>
        <p:spPr>
          <a:xfrm>
            <a:off x="558800" y="46228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Documents per fact (N)</a:t>
            </a:r>
          </a:p>
        </p:txBody>
      </p:sp>
      <p:sp>
        <p:nvSpPr>
          <p:cNvPr id="540" name="!!legBox"/>
          <p:cNvSpPr/>
          <p:nvPr/>
        </p:nvSpPr>
        <p:spPr>
          <a:xfrm>
            <a:off x="508000" y="5003800"/>
            <a:ext cx="11176000" cy="711200"/>
          </a:xfrm>
          <a:prstGeom prst="roundRect">
            <a:avLst>
              <a:gd name="adj" fmla="val 18000"/>
            </a:avLst>
          </a:prstGeom>
          <a:solidFill>
            <a:srgbClr val="F7F7F7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0" name="!!leg0"/>
          <p:cNvSpPr/>
          <p:nvPr/>
        </p:nvSpPr>
        <p:spPr>
          <a:xfrm>
            <a:off x="6604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Gradient similarity</a:t>
            </a:r>
          </a:p>
          <a:p>
            <a:pPr algn="l"/>
            <a:r>
              <a:rPr lang="en-US" sz="1500" b="0" dirty="0">
                <a:solidFill>
                  <a:srgbClr val="0072B2"/>
                </a:solidFill>
              </a:rPr>
              <a:t>━ Grad-Dot  </a:t>
            </a:r>
            <a:r>
              <a:rPr lang="en-US" sz="1500" b="0" dirty="0">
                <a:solidFill>
                  <a:srgbClr val="73B1D5"/>
                </a:solidFill>
              </a:rPr>
              <a:t>╍ Grad-Cos  </a:t>
            </a:r>
          </a:p>
        </p:txBody>
      </p:sp>
      <p:sp>
        <p:nvSpPr>
          <p:cNvPr id="511" name="!!leg1"/>
          <p:cNvSpPr/>
          <p:nvPr/>
        </p:nvSpPr>
        <p:spPr>
          <a:xfrm>
            <a:off x="28702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Fisher-based IF</a:t>
            </a:r>
          </a:p>
          <a:p>
            <a:pPr algn="l"/>
            <a:r>
              <a:rPr lang="en-US" sz="1500" b="0" dirty="0">
                <a:solidFill>
                  <a:srgbClr val="D55E00"/>
                </a:solidFill>
              </a:rPr>
              <a:t>━ EK-FAC  </a:t>
            </a:r>
            <a:r>
              <a:rPr lang="en-US" sz="1500" b="0" dirty="0">
                <a:solidFill>
                  <a:srgbClr val="E69E66"/>
                </a:solidFill>
              </a:rPr>
              <a:t>╍ LoGra  </a:t>
            </a:r>
          </a:p>
        </p:txBody>
      </p:sp>
      <p:sp>
        <p:nvSpPr>
          <p:cNvPr id="512" name="!!leg2"/>
          <p:cNvSpPr/>
          <p:nvPr/>
        </p:nvSpPr>
        <p:spPr>
          <a:xfrm>
            <a:off x="50800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GGN-based IF</a:t>
            </a:r>
          </a:p>
          <a:p>
            <a:pPr algn="l"/>
            <a:r>
              <a:rPr lang="en-US" sz="1500" b="0" dirty="0">
                <a:solidFill>
                  <a:srgbClr val="009E73"/>
                </a:solidFill>
              </a:rPr>
              <a:t>━ TRAK  </a:t>
            </a:r>
            <a:r>
              <a:rPr lang="en-US" sz="1500" b="0" dirty="0">
                <a:solidFill>
                  <a:srgbClr val="73C9B2"/>
                </a:solidFill>
              </a:rPr>
              <a:t>╍ TrackStar  </a:t>
            </a:r>
          </a:p>
        </p:txBody>
      </p:sp>
      <p:sp>
        <p:nvSpPr>
          <p:cNvPr id="513" name="!!leg3"/>
          <p:cNvSpPr/>
          <p:nvPr/>
        </p:nvSpPr>
        <p:spPr>
          <a:xfrm>
            <a:off x="72898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Training dynamics</a:t>
            </a:r>
          </a:p>
          <a:p>
            <a:pPr algn="l"/>
            <a:r>
              <a:rPr lang="en-US" sz="1500" b="0" dirty="0">
                <a:solidFill>
                  <a:srgbClr val="CC79A7"/>
                </a:solidFill>
              </a:rPr>
              <a:t>━ TracIn  </a:t>
            </a:r>
            <a:r>
              <a:rPr lang="en-US" sz="1500" b="0" dirty="0">
                <a:solidFill>
                  <a:srgbClr val="D9A3C4"/>
                </a:solidFill>
              </a:rPr>
              <a:t>╍ SOURCE  </a:t>
            </a:r>
          </a:p>
        </p:txBody>
      </p:sp>
      <p:sp>
        <p:nvSpPr>
          <p:cNvPr id="514" name="!!leg4"/>
          <p:cNvSpPr/>
          <p:nvPr/>
        </p:nvSpPr>
        <p:spPr>
          <a:xfrm>
            <a:off x="94996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Retrieval (reference)</a:t>
            </a:r>
          </a:p>
          <a:p>
            <a:pPr algn="l"/>
            <a:r>
              <a:rPr lang="en-US" sz="1500" b="0" dirty="0">
                <a:solidFill>
                  <a:srgbClr val="404040"/>
                </a:solidFill>
              </a:rPr>
              <a:t>╍ BM25  </a:t>
            </a:r>
            <a:r>
              <a:rPr lang="en-US" sz="1500" b="0" dirty="0">
                <a:solidFill>
                  <a:srgbClr val="8C8C8C"/>
                </a:solidFill>
              </a:rPr>
              <a:t>╍ RepSim  </a:t>
            </a:r>
          </a:p>
        </p:txBody>
      </p:sp>
      <p:sp>
        <p:nvSpPr>
          <p:cNvPr id="520" name="!!ban1"/>
          <p:cNvSpPr/>
          <p:nvPr/>
        </p:nvSpPr>
        <p:spPr>
          <a:xfrm>
            <a:off x="609600" y="5791200"/>
            <a:ext cx="109728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800" b="0" dirty="0">
                <a:solidFill>
                  <a:srgbClr val="000000"/>
                </a:solidFill>
              </a:rPr>
              <a:t>TRAK and EK-FAC lose recall as N grows</a:t>
            </a:r>
          </a:p>
        </p:txBody>
      </p:sp>
      <p:sp>
        <p:nvSpPr>
          <p:cNvPr id="521" name="!!ban2"/>
          <p:cNvSpPr/>
          <p:nvPr/>
        </p:nvSpPr>
        <p:spPr>
          <a:xfrm>
            <a:off x="609600" y="5791200"/>
            <a:ext cx="109728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800" b="0" dirty="0">
                <a:solidFill>
                  <a:srgbClr val="000000"/>
                </a:solidFill>
              </a:rPr>
              <a:t>With distractors, no gradient method passes 0.18</a:t>
            </a:r>
          </a:p>
        </p:txBody>
      </p:sp>
      <p:sp>
        <p:nvSpPr>
          <p:cNvPr id="522" name="!!ban3"/>
          <p:cNvSpPr/>
          <p:nvPr/>
        </p:nvSpPr>
        <p:spPr>
          <a:xfrm>
            <a:off x="609600" y="5791200"/>
            <a:ext cx="109728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800" b="0" dirty="0">
                <a:solidFill>
                  <a:srgbClr val="000000"/>
                </a:solidFill>
              </a:rPr>
              <a:t>On </a:t>
            </a:r>
            <a:r>
              <a:rPr lang="en-US" altLang="zh-TW" sz="2800" b="0" dirty="0">
                <a:solidFill>
                  <a:srgbClr val="000000"/>
                </a:solidFill>
              </a:rPr>
              <a:t>conditional</a:t>
            </a:r>
            <a:r>
              <a:rPr lang="en-US" sz="2800" b="0" dirty="0">
                <a:solidFill>
                  <a:srgbClr val="000000"/>
                </a:solidFill>
              </a:rPr>
              <a:t> rules, no gradient method passes 0.32</a:t>
            </a:r>
          </a:p>
        </p:txBody>
      </p:sp>
      <p:sp>
        <p:nvSpPr>
          <p:cNvPr id="560" name="!!factsNote"/>
          <p:cNvSpPr txBox="1"/>
          <p:nvPr/>
        </p:nvSpPr>
        <p:spPr>
          <a:xfrm>
            <a:off x="8801100" y="50800"/>
            <a:ext cx="4064000" cy="508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lang="en-US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|F| = 50 facts</a:t>
            </a:r>
          </a:p>
        </p:txBody>
      </p:sp>
    </p:spTree>
    <p:extLst>
      <p:ext uri="{BB962C8B-B14F-4D97-AF65-F5344CB8AC3E}">
        <p14:creationId xmlns:p14="http://schemas.microsoft.com/office/powerpoint/2010/main" val="26601574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existing methods do?</a:t>
            </a:r>
          </a:p>
        </p:txBody>
      </p:sp>
      <p:graphicFrame>
        <p:nvGraphicFramePr>
          <p:cNvPr id="200" name="!!fbBase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1" name="!!fbG0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2" name="!!fbG1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3" name="!!fbG2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4" name="!!fbG3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5" name="!!fbG4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6" name="!!fbd"/>
          <p:cNvGraphicFramePr/>
          <p:nvPr/>
        </p:nvGraphicFramePr>
        <p:xfrm>
          <a:off x="4241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7" name="!!rr"/>
          <p:cNvGraphicFramePr/>
          <p:nvPr/>
        </p:nvGraphicFramePr>
        <p:xfrm>
          <a:off x="7924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00" name="!!labFB"/>
          <p:cNvSpPr/>
          <p:nvPr/>
        </p:nvSpPr>
        <p:spPr>
          <a:xfrm>
            <a:off x="939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Function Bindings</a:t>
            </a:r>
          </a:p>
        </p:txBody>
      </p:sp>
      <p:sp>
        <p:nvSpPr>
          <p:cNvPr id="501" name="!!labFBD"/>
          <p:cNvSpPr/>
          <p:nvPr/>
        </p:nvSpPr>
        <p:spPr>
          <a:xfrm>
            <a:off x="4622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+ distractors</a:t>
            </a:r>
          </a:p>
        </p:txBody>
      </p:sp>
      <p:sp>
        <p:nvSpPr>
          <p:cNvPr id="502" name="!!labRR"/>
          <p:cNvSpPr/>
          <p:nvPr/>
        </p:nvSpPr>
        <p:spPr>
          <a:xfrm>
            <a:off x="8305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Rule Routings</a:t>
            </a:r>
          </a:p>
        </p:txBody>
      </p:sp>
      <p:sp>
        <p:nvSpPr>
          <p:cNvPr id="503" name="!!ycap"/>
          <p:cNvSpPr/>
          <p:nvPr/>
        </p:nvSpPr>
        <p:spPr>
          <a:xfrm rot="-5400000">
            <a:off x="-1333500" y="2590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Recall@N</a:t>
            </a:r>
          </a:p>
        </p:txBody>
      </p:sp>
      <p:sp>
        <p:nvSpPr>
          <p:cNvPr id="504" name="!!xcap"/>
          <p:cNvSpPr/>
          <p:nvPr/>
        </p:nvSpPr>
        <p:spPr>
          <a:xfrm>
            <a:off x="558800" y="46228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Documents per fact (N)</a:t>
            </a:r>
          </a:p>
        </p:txBody>
      </p:sp>
      <p:sp>
        <p:nvSpPr>
          <p:cNvPr id="540" name="!!legBox"/>
          <p:cNvSpPr/>
          <p:nvPr/>
        </p:nvSpPr>
        <p:spPr>
          <a:xfrm>
            <a:off x="508000" y="5003800"/>
            <a:ext cx="11176000" cy="711200"/>
          </a:xfrm>
          <a:prstGeom prst="roundRect">
            <a:avLst>
              <a:gd name="adj" fmla="val 18000"/>
            </a:avLst>
          </a:prstGeom>
          <a:solidFill>
            <a:srgbClr val="F7F7F7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0" name="!!leg0"/>
          <p:cNvSpPr/>
          <p:nvPr/>
        </p:nvSpPr>
        <p:spPr>
          <a:xfrm>
            <a:off x="6604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Gradient similarity</a:t>
            </a:r>
          </a:p>
          <a:p>
            <a:pPr algn="l"/>
            <a:r>
              <a:rPr lang="en-US" sz="1500" b="0" dirty="0">
                <a:solidFill>
                  <a:srgbClr val="0072B2"/>
                </a:solidFill>
              </a:rPr>
              <a:t>━ Grad-Dot  </a:t>
            </a:r>
            <a:r>
              <a:rPr lang="en-US" sz="1500" b="0" dirty="0">
                <a:solidFill>
                  <a:srgbClr val="73B1D5"/>
                </a:solidFill>
              </a:rPr>
              <a:t>╍ Grad-Cos  </a:t>
            </a:r>
          </a:p>
        </p:txBody>
      </p:sp>
      <p:sp>
        <p:nvSpPr>
          <p:cNvPr id="511" name="!!leg1"/>
          <p:cNvSpPr/>
          <p:nvPr/>
        </p:nvSpPr>
        <p:spPr>
          <a:xfrm>
            <a:off x="28702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Fisher-based IF</a:t>
            </a:r>
          </a:p>
          <a:p>
            <a:pPr algn="l"/>
            <a:r>
              <a:rPr lang="en-US" sz="1500" b="0" dirty="0">
                <a:solidFill>
                  <a:srgbClr val="D55E00"/>
                </a:solidFill>
              </a:rPr>
              <a:t>━ EK-FAC  </a:t>
            </a:r>
            <a:r>
              <a:rPr lang="en-US" sz="1500" b="0" dirty="0">
                <a:solidFill>
                  <a:srgbClr val="E69E66"/>
                </a:solidFill>
              </a:rPr>
              <a:t>╍ LoGra  </a:t>
            </a:r>
          </a:p>
        </p:txBody>
      </p:sp>
      <p:sp>
        <p:nvSpPr>
          <p:cNvPr id="512" name="!!leg2"/>
          <p:cNvSpPr/>
          <p:nvPr/>
        </p:nvSpPr>
        <p:spPr>
          <a:xfrm>
            <a:off x="50800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GGN-based IF</a:t>
            </a:r>
          </a:p>
          <a:p>
            <a:pPr algn="l"/>
            <a:r>
              <a:rPr lang="en-US" sz="1500" b="0" dirty="0">
                <a:solidFill>
                  <a:srgbClr val="009E73"/>
                </a:solidFill>
              </a:rPr>
              <a:t>━ TRAK  </a:t>
            </a:r>
            <a:r>
              <a:rPr lang="en-US" sz="1500" b="0" dirty="0">
                <a:solidFill>
                  <a:srgbClr val="73C9B2"/>
                </a:solidFill>
              </a:rPr>
              <a:t>╍ TrackStar  </a:t>
            </a:r>
          </a:p>
        </p:txBody>
      </p:sp>
      <p:sp>
        <p:nvSpPr>
          <p:cNvPr id="513" name="!!leg3"/>
          <p:cNvSpPr/>
          <p:nvPr/>
        </p:nvSpPr>
        <p:spPr>
          <a:xfrm>
            <a:off x="72898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Training dynamics</a:t>
            </a:r>
          </a:p>
          <a:p>
            <a:pPr algn="l"/>
            <a:r>
              <a:rPr lang="en-US" sz="1500" b="0" dirty="0">
                <a:solidFill>
                  <a:srgbClr val="CC79A7"/>
                </a:solidFill>
              </a:rPr>
              <a:t>━ TracIn  </a:t>
            </a:r>
            <a:r>
              <a:rPr lang="en-US" sz="1500" b="0" dirty="0">
                <a:solidFill>
                  <a:srgbClr val="D9A3C4"/>
                </a:solidFill>
              </a:rPr>
              <a:t>╍ SOURCE  </a:t>
            </a:r>
          </a:p>
        </p:txBody>
      </p:sp>
      <p:sp>
        <p:nvSpPr>
          <p:cNvPr id="514" name="!!leg4"/>
          <p:cNvSpPr/>
          <p:nvPr/>
        </p:nvSpPr>
        <p:spPr>
          <a:xfrm>
            <a:off x="94996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Retrieval (reference)</a:t>
            </a:r>
          </a:p>
          <a:p>
            <a:pPr algn="l"/>
            <a:r>
              <a:rPr lang="en-US" sz="1500" b="0" dirty="0">
                <a:solidFill>
                  <a:srgbClr val="404040"/>
                </a:solidFill>
              </a:rPr>
              <a:t>╍ BM25  </a:t>
            </a:r>
            <a:r>
              <a:rPr lang="en-US" sz="1500" b="0" dirty="0">
                <a:solidFill>
                  <a:srgbClr val="8C8C8C"/>
                </a:solidFill>
              </a:rPr>
              <a:t>╍ RepSim  </a:t>
            </a:r>
          </a:p>
        </p:txBody>
      </p:sp>
      <p:sp>
        <p:nvSpPr>
          <p:cNvPr id="4" name="!!factsNote">
            <a:extLst>
              <a:ext uri="{FF2B5EF4-FFF2-40B4-BE49-F238E27FC236}">
                <a16:creationId xmlns:a16="http://schemas.microsoft.com/office/drawing/2014/main" id="{67BC501A-A5F6-D31C-B856-210F0A819633}"/>
              </a:ext>
            </a:extLst>
          </p:cNvPr>
          <p:cNvSpPr txBox="1"/>
          <p:nvPr/>
        </p:nvSpPr>
        <p:spPr>
          <a:xfrm>
            <a:off x="8801100" y="50800"/>
            <a:ext cx="4064000" cy="508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lang="en-US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|F| = </a:t>
            </a:r>
            <a:r>
              <a:rPr lang="en-US" altLang="zh-TW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25</a:t>
            </a:r>
            <a:r>
              <a:rPr lang="en-US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 facts</a:t>
            </a:r>
          </a:p>
        </p:txBody>
      </p:sp>
    </p:spTree>
    <p:extLst>
      <p:ext uri="{BB962C8B-B14F-4D97-AF65-F5344CB8AC3E}">
        <p14:creationId xmlns:p14="http://schemas.microsoft.com/office/powerpoint/2010/main" val="1498328089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existing methods do?</a:t>
            </a:r>
          </a:p>
        </p:txBody>
      </p:sp>
      <p:graphicFrame>
        <p:nvGraphicFramePr>
          <p:cNvPr id="200" name="!!fbBase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1" name="!!fbG0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2" name="!!fbG1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3" name="!!fbG2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4" name="!!fbG3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5" name="!!fbG4"/>
          <p:cNvGraphicFramePr/>
          <p:nvPr/>
        </p:nvGraphicFramePr>
        <p:xfrm>
          <a:off x="558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6" name="!!fbd"/>
          <p:cNvGraphicFramePr/>
          <p:nvPr/>
        </p:nvGraphicFramePr>
        <p:xfrm>
          <a:off x="4241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7" name="!!rr"/>
          <p:cNvGraphicFramePr/>
          <p:nvPr/>
        </p:nvGraphicFramePr>
        <p:xfrm>
          <a:off x="7924800" y="12446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00" name="!!labFB"/>
          <p:cNvSpPr/>
          <p:nvPr/>
        </p:nvSpPr>
        <p:spPr>
          <a:xfrm>
            <a:off x="939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Function Bindings</a:t>
            </a:r>
          </a:p>
        </p:txBody>
      </p:sp>
      <p:sp>
        <p:nvSpPr>
          <p:cNvPr id="501" name="!!labFBD"/>
          <p:cNvSpPr/>
          <p:nvPr/>
        </p:nvSpPr>
        <p:spPr>
          <a:xfrm>
            <a:off x="4622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+ distractors</a:t>
            </a:r>
          </a:p>
        </p:txBody>
      </p:sp>
      <p:sp>
        <p:nvSpPr>
          <p:cNvPr id="502" name="!!labRR"/>
          <p:cNvSpPr/>
          <p:nvPr/>
        </p:nvSpPr>
        <p:spPr>
          <a:xfrm>
            <a:off x="8305800" y="889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Rule Routings</a:t>
            </a:r>
          </a:p>
        </p:txBody>
      </p:sp>
      <p:sp>
        <p:nvSpPr>
          <p:cNvPr id="503" name="!!ycap"/>
          <p:cNvSpPr/>
          <p:nvPr/>
        </p:nvSpPr>
        <p:spPr>
          <a:xfrm rot="-5400000">
            <a:off x="-1333500" y="2590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Recall@N</a:t>
            </a:r>
          </a:p>
        </p:txBody>
      </p:sp>
      <p:sp>
        <p:nvSpPr>
          <p:cNvPr id="504" name="!!xcap"/>
          <p:cNvSpPr/>
          <p:nvPr/>
        </p:nvSpPr>
        <p:spPr>
          <a:xfrm>
            <a:off x="558800" y="46228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</a:rPr>
              <a:t>Documents per fact (N)</a:t>
            </a:r>
          </a:p>
        </p:txBody>
      </p:sp>
      <p:sp>
        <p:nvSpPr>
          <p:cNvPr id="540" name="!!legBox"/>
          <p:cNvSpPr/>
          <p:nvPr/>
        </p:nvSpPr>
        <p:spPr>
          <a:xfrm>
            <a:off x="508000" y="5003800"/>
            <a:ext cx="11176000" cy="711200"/>
          </a:xfrm>
          <a:prstGeom prst="roundRect">
            <a:avLst>
              <a:gd name="adj" fmla="val 18000"/>
            </a:avLst>
          </a:prstGeom>
          <a:solidFill>
            <a:srgbClr val="F7F7F7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0" name="!!leg0"/>
          <p:cNvSpPr/>
          <p:nvPr/>
        </p:nvSpPr>
        <p:spPr>
          <a:xfrm>
            <a:off x="6604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Gradient similarity</a:t>
            </a:r>
          </a:p>
          <a:p>
            <a:pPr algn="l"/>
            <a:r>
              <a:rPr lang="en-US" sz="1500" b="0" dirty="0">
                <a:solidFill>
                  <a:srgbClr val="0072B2"/>
                </a:solidFill>
              </a:rPr>
              <a:t>━ Grad-Dot  </a:t>
            </a:r>
            <a:r>
              <a:rPr lang="en-US" sz="1500" b="0" dirty="0">
                <a:solidFill>
                  <a:srgbClr val="73B1D5"/>
                </a:solidFill>
              </a:rPr>
              <a:t>╍ Grad-Cos  </a:t>
            </a:r>
          </a:p>
        </p:txBody>
      </p:sp>
      <p:sp>
        <p:nvSpPr>
          <p:cNvPr id="511" name="!!leg1"/>
          <p:cNvSpPr/>
          <p:nvPr/>
        </p:nvSpPr>
        <p:spPr>
          <a:xfrm>
            <a:off x="28702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Fisher-based IF</a:t>
            </a:r>
          </a:p>
          <a:p>
            <a:pPr algn="l"/>
            <a:r>
              <a:rPr lang="en-US" sz="1500" b="0" dirty="0">
                <a:solidFill>
                  <a:srgbClr val="D55E00"/>
                </a:solidFill>
              </a:rPr>
              <a:t>━ EK-FAC  </a:t>
            </a:r>
            <a:r>
              <a:rPr lang="en-US" sz="1500" b="0" dirty="0">
                <a:solidFill>
                  <a:srgbClr val="E69E66"/>
                </a:solidFill>
              </a:rPr>
              <a:t>╍ LoGra  </a:t>
            </a:r>
          </a:p>
        </p:txBody>
      </p:sp>
      <p:sp>
        <p:nvSpPr>
          <p:cNvPr id="512" name="!!leg2"/>
          <p:cNvSpPr/>
          <p:nvPr/>
        </p:nvSpPr>
        <p:spPr>
          <a:xfrm>
            <a:off x="50800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GGN-based IF</a:t>
            </a:r>
          </a:p>
          <a:p>
            <a:pPr algn="l"/>
            <a:r>
              <a:rPr lang="en-US" sz="1500" b="0" dirty="0">
                <a:solidFill>
                  <a:srgbClr val="009E73"/>
                </a:solidFill>
              </a:rPr>
              <a:t>━ TRAK  </a:t>
            </a:r>
            <a:r>
              <a:rPr lang="en-US" sz="1500" b="0" dirty="0">
                <a:solidFill>
                  <a:srgbClr val="73C9B2"/>
                </a:solidFill>
              </a:rPr>
              <a:t>╍ TrackStar  </a:t>
            </a:r>
          </a:p>
        </p:txBody>
      </p:sp>
      <p:sp>
        <p:nvSpPr>
          <p:cNvPr id="513" name="!!leg3"/>
          <p:cNvSpPr/>
          <p:nvPr/>
        </p:nvSpPr>
        <p:spPr>
          <a:xfrm>
            <a:off x="72898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Training dynamics</a:t>
            </a:r>
          </a:p>
          <a:p>
            <a:pPr algn="l"/>
            <a:r>
              <a:rPr lang="en-US" sz="1500" b="0" dirty="0">
                <a:solidFill>
                  <a:srgbClr val="CC79A7"/>
                </a:solidFill>
              </a:rPr>
              <a:t>━ TracIn  </a:t>
            </a:r>
            <a:r>
              <a:rPr lang="en-US" sz="1500" b="0" dirty="0">
                <a:solidFill>
                  <a:srgbClr val="D9A3C4"/>
                </a:solidFill>
              </a:rPr>
              <a:t>╍ SOURCE  </a:t>
            </a:r>
          </a:p>
        </p:txBody>
      </p:sp>
      <p:sp>
        <p:nvSpPr>
          <p:cNvPr id="514" name="!!leg4"/>
          <p:cNvSpPr/>
          <p:nvPr/>
        </p:nvSpPr>
        <p:spPr>
          <a:xfrm>
            <a:off x="9499600" y="50800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</a:rPr>
              <a:t>Retrieval (reference)</a:t>
            </a:r>
          </a:p>
          <a:p>
            <a:pPr algn="l"/>
            <a:r>
              <a:rPr lang="en-US" sz="1500" b="0" dirty="0">
                <a:solidFill>
                  <a:srgbClr val="404040"/>
                </a:solidFill>
              </a:rPr>
              <a:t>╍ BM25  </a:t>
            </a:r>
            <a:r>
              <a:rPr lang="en-US" sz="1500" b="0" dirty="0">
                <a:solidFill>
                  <a:srgbClr val="8C8C8C"/>
                </a:solidFill>
              </a:rPr>
              <a:t>╍ RepSim  </a:t>
            </a:r>
          </a:p>
        </p:txBody>
      </p:sp>
      <p:sp>
        <p:nvSpPr>
          <p:cNvPr id="520" name="!!ban1"/>
          <p:cNvSpPr/>
          <p:nvPr/>
        </p:nvSpPr>
        <p:spPr>
          <a:xfrm>
            <a:off x="609600" y="5791200"/>
            <a:ext cx="109728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800" b="0" dirty="0">
                <a:solidFill>
                  <a:srgbClr val="000000"/>
                </a:solidFill>
              </a:rPr>
              <a:t>The trends hold across |F|: 25 facts look like 50</a:t>
            </a:r>
          </a:p>
        </p:txBody>
      </p:sp>
      <p:sp>
        <p:nvSpPr>
          <p:cNvPr id="4" name="!!factsNote">
            <a:extLst>
              <a:ext uri="{FF2B5EF4-FFF2-40B4-BE49-F238E27FC236}">
                <a16:creationId xmlns:a16="http://schemas.microsoft.com/office/drawing/2014/main" id="{637128C7-DCF7-1586-CAB6-A62E0F82B859}"/>
              </a:ext>
            </a:extLst>
          </p:cNvPr>
          <p:cNvSpPr txBox="1"/>
          <p:nvPr/>
        </p:nvSpPr>
        <p:spPr>
          <a:xfrm>
            <a:off x="8801100" y="50800"/>
            <a:ext cx="4064000" cy="508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lang="en-US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|F| = </a:t>
            </a:r>
            <a:r>
              <a:rPr lang="en-US" altLang="zh-TW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25</a:t>
            </a:r>
            <a:r>
              <a:rPr lang="en-US" sz="3200" dirty="0">
                <a:solidFill>
                  <a:srgbClr val="7F7F7F"/>
                </a:solidFill>
                <a:latin typeface="Helvetica Light" panose="020B0403020202020204" pitchFamily="34" charset="0"/>
                <a:cs typeface="Helvetica"/>
              </a:rPr>
              <a:t> facts</a:t>
            </a:r>
          </a:p>
        </p:txBody>
      </p:sp>
    </p:spTree>
    <p:extLst>
      <p:ext uri="{BB962C8B-B14F-4D97-AF65-F5344CB8AC3E}">
        <p14:creationId xmlns:p14="http://schemas.microsoft.com/office/powerpoint/2010/main" val="214298351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0EF8-FA01-D196-083C-40F9DA2D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Analyzing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  <a:r>
              <a:rPr lang="zh-TW" altLang="en-US" dirty="0"/>
              <a:t> </a:t>
            </a:r>
            <a:r>
              <a:rPr lang="en-US" altLang="zh-TW" dirty="0"/>
              <a:t>Improving</a:t>
            </a:r>
            <a:r>
              <a:rPr lang="zh-TW" altLang="en-US" dirty="0"/>
              <a:t> </a:t>
            </a:r>
            <a:r>
              <a:rPr lang="en-US" altLang="zh-TW" dirty="0"/>
              <a:t>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6552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6CFC4F30-BB7B-4319-DFA6-76E70951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attribution scores distributed?</a:t>
            </a:r>
          </a:p>
        </p:txBody>
      </p:sp>
      <p:sp>
        <p:nvSpPr>
          <p:cNvPr id="10" name="!!hLabel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Cross-entropy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all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000000"/>
                </a:solidFill>
                <a:latin typeface="Helvetica"/>
                <a:cs typeface="Helvetica"/>
              </a:rPr>
              <a:t>0.01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42536"/>
            <a:ext cx="205014" cy="2946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27804"/>
            <a:ext cx="205014" cy="4419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13072"/>
            <a:ext cx="205014" cy="5892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424680"/>
            <a:ext cx="205014" cy="14732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373118"/>
            <a:ext cx="205014" cy="19888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343654"/>
            <a:ext cx="205014" cy="22834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299458"/>
            <a:ext cx="205014" cy="27254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4188968"/>
            <a:ext cx="205014" cy="3830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3909060"/>
            <a:ext cx="205014" cy="66294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3415538"/>
            <a:ext cx="205014" cy="11564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3201924"/>
            <a:ext cx="205014" cy="13700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570224"/>
            <a:ext cx="205014" cy="10017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997452"/>
            <a:ext cx="205014" cy="57454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4255262"/>
            <a:ext cx="205014" cy="31673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4358386"/>
            <a:ext cx="205014" cy="21361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402582"/>
            <a:ext cx="205014" cy="16941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417314"/>
            <a:ext cx="205014" cy="15468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432046"/>
            <a:ext cx="205014" cy="13995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498340"/>
            <a:ext cx="205014" cy="7366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20438"/>
            <a:ext cx="205014" cy="515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35170"/>
            <a:ext cx="205014" cy="3683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476242"/>
            <a:ext cx="205014" cy="9575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483608"/>
            <a:ext cx="205014" cy="883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351020"/>
            <a:ext cx="205014" cy="22098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284726"/>
            <a:ext cx="205014" cy="28727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063746"/>
            <a:ext cx="205014" cy="50825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3857498"/>
            <a:ext cx="205014" cy="71450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3599688"/>
            <a:ext cx="205014" cy="9723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3496564"/>
            <a:ext cx="205014" cy="107543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3592322"/>
            <a:ext cx="205014" cy="9796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3747008"/>
            <a:ext cx="205014" cy="8249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3909060"/>
            <a:ext cx="205014" cy="66294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4152138"/>
            <a:ext cx="205014" cy="4198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4188968"/>
            <a:ext cx="205014" cy="3830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4328922"/>
            <a:ext cx="205014" cy="2430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4402582"/>
            <a:ext cx="205014" cy="16941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4454144"/>
            <a:ext cx="205014" cy="11785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4461510"/>
            <a:ext cx="205014" cy="11049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4513072"/>
            <a:ext cx="205014" cy="5892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  <p:sp>
        <p:nvSpPr>
          <p:cNvPr id="900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3200" b="0" dirty="0">
                <a:solidFill>
                  <a:srgbClr val="000000"/>
                </a:solidFill>
              </a:rPr>
              <a:t>Where is the ground-truth signal hidden?</a:t>
            </a:r>
          </a:p>
        </p:txBody>
      </p:sp>
    </p:spTree>
    <p:extLst>
      <p:ext uri="{BB962C8B-B14F-4D97-AF65-F5344CB8AC3E}">
        <p14:creationId xmlns:p14="http://schemas.microsoft.com/office/powerpoint/2010/main" val="34782459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9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7709-BB38-E8DE-763A-EA8DD2DB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</a:t>
            </a:r>
            <a:r>
              <a:rPr lang="en-US" dirty="0"/>
              <a:t>nfluence functions</a:t>
            </a:r>
            <a:r>
              <a:rPr lang="zh-TW" altLang="en-US" dirty="0"/>
              <a:t> </a:t>
            </a:r>
            <a:r>
              <a:rPr lang="en-US" altLang="zh-TW" dirty="0"/>
              <a:t>for</a:t>
            </a:r>
            <a:r>
              <a:rPr lang="zh-TW" altLang="en-US" dirty="0"/>
              <a:t> </a:t>
            </a:r>
            <a:r>
              <a:rPr lang="en-US" altLang="zh-TW" dirty="0"/>
              <a:t>LMs</a:t>
            </a:r>
            <a:endParaRPr lang="en-US" dirty="0"/>
          </a:p>
        </p:txBody>
      </p:sp>
      <p:sp>
        <p:nvSpPr>
          <p:cNvPr id="700" name="!!qPanel"/>
          <p:cNvSpPr/>
          <p:nvPr/>
        </p:nvSpPr>
        <p:spPr>
          <a:xfrm>
            <a:off x="609600" y="965200"/>
            <a:ext cx="3893820" cy="3403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1" name="!!qHead"/>
          <p:cNvSpPr/>
          <p:nvPr/>
        </p:nvSpPr>
        <p:spPr>
          <a:xfrm>
            <a:off x="762000" y="10414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000000"/>
                </a:solidFill>
              </a:rPr>
              <a:t>Query </a:t>
            </a:r>
            <a:r>
              <a:rPr lang="en-US" sz="2000" b="0" i="1" dirty="0">
                <a:solidFill>
                  <a:srgbClr val="000000"/>
                </a:solidFill>
                <a:latin typeface="Cambria Math"/>
                <a:cs typeface="Cambria Math"/>
              </a:rPr>
              <a:t>q</a:t>
            </a:r>
          </a:p>
        </p:txBody>
      </p:sp>
      <p:sp>
        <p:nvSpPr>
          <p:cNvPr id="702" name="!!qin0"/>
          <p:cNvSpPr/>
          <p:nvPr/>
        </p:nvSpPr>
        <p:spPr>
          <a:xfrm>
            <a:off x="666750" y="3733800"/>
            <a:ext cx="4902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The</a:t>
            </a:r>
          </a:p>
        </p:txBody>
      </p:sp>
      <p:sp>
        <p:nvSpPr>
          <p:cNvPr id="703" name="!!qout0"/>
          <p:cNvSpPr/>
          <p:nvPr/>
        </p:nvSpPr>
        <p:spPr>
          <a:xfrm>
            <a:off x="666750" y="2032000"/>
            <a:ext cx="4902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BFBFBF"/>
                </a:solidFill>
                <a:latin typeface="Andale Mono"/>
                <a:cs typeface="Andale Mono"/>
              </a:rPr>
              <a:t>·</a:t>
            </a:r>
          </a:p>
        </p:txBody>
      </p:sp>
      <p:sp>
        <p:nvSpPr>
          <p:cNvPr id="704" name="!!qin1"/>
          <p:cNvSpPr/>
          <p:nvPr/>
        </p:nvSpPr>
        <p:spPr>
          <a:xfrm>
            <a:off x="1195070" y="3733800"/>
            <a:ext cx="87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output</a:t>
            </a:r>
          </a:p>
        </p:txBody>
      </p:sp>
      <p:sp>
        <p:nvSpPr>
          <p:cNvPr id="705" name="!!qout1"/>
          <p:cNvSpPr/>
          <p:nvPr/>
        </p:nvSpPr>
        <p:spPr>
          <a:xfrm>
            <a:off x="1195070" y="2032000"/>
            <a:ext cx="8788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BFBFBF"/>
                </a:solidFill>
                <a:latin typeface="Andale Mono"/>
                <a:cs typeface="Andale Mono"/>
              </a:rPr>
              <a:t>·</a:t>
            </a:r>
          </a:p>
        </p:txBody>
      </p:sp>
      <p:sp>
        <p:nvSpPr>
          <p:cNvPr id="706" name="!!qin2"/>
          <p:cNvSpPr/>
          <p:nvPr/>
        </p:nvSpPr>
        <p:spPr>
          <a:xfrm>
            <a:off x="2112010" y="3733800"/>
            <a:ext cx="360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of</a:t>
            </a:r>
          </a:p>
        </p:txBody>
      </p:sp>
      <p:sp>
        <p:nvSpPr>
          <p:cNvPr id="707" name="!!qout2"/>
          <p:cNvSpPr/>
          <p:nvPr/>
        </p:nvSpPr>
        <p:spPr>
          <a:xfrm>
            <a:off x="2112010" y="2032000"/>
            <a:ext cx="3606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BFBFBF"/>
                </a:solidFill>
                <a:latin typeface="Andale Mono"/>
                <a:cs typeface="Andale Mono"/>
              </a:rPr>
              <a:t>·</a:t>
            </a:r>
          </a:p>
        </p:txBody>
      </p:sp>
      <p:sp>
        <p:nvSpPr>
          <p:cNvPr id="708" name="!!qin3"/>
          <p:cNvSpPr/>
          <p:nvPr/>
        </p:nvSpPr>
        <p:spPr>
          <a:xfrm>
            <a:off x="2510790" y="3733800"/>
            <a:ext cx="619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</a:p>
        </p:txBody>
      </p:sp>
      <p:sp>
        <p:nvSpPr>
          <p:cNvPr id="748" name="!!qin3b"/>
          <p:cNvSpPr/>
          <p:nvPr/>
        </p:nvSpPr>
        <p:spPr>
          <a:xfrm>
            <a:off x="3168650" y="3733800"/>
            <a:ext cx="619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(67)</a:t>
            </a:r>
          </a:p>
        </p:txBody>
      </p:sp>
      <p:sp>
        <p:nvSpPr>
          <p:cNvPr id="709" name="!!qout3"/>
          <p:cNvSpPr/>
          <p:nvPr/>
        </p:nvSpPr>
        <p:spPr>
          <a:xfrm>
            <a:off x="2510790" y="2032000"/>
            <a:ext cx="61976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BFBFBF"/>
                </a:solidFill>
                <a:latin typeface="Andale Mono"/>
                <a:cs typeface="Andale Mono"/>
              </a:rPr>
              <a:t>·</a:t>
            </a:r>
          </a:p>
        </p:txBody>
      </p:sp>
      <p:sp>
        <p:nvSpPr>
          <p:cNvPr id="749" name="!!qout3b"/>
          <p:cNvSpPr/>
          <p:nvPr/>
        </p:nvSpPr>
        <p:spPr>
          <a:xfrm>
            <a:off x="3168650" y="2032000"/>
            <a:ext cx="61976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BFBFBF"/>
                </a:solidFill>
                <a:latin typeface="Andale Mono"/>
                <a:cs typeface="Andale Mono"/>
              </a:rPr>
              <a:t>·</a:t>
            </a:r>
          </a:p>
        </p:txBody>
      </p:sp>
      <p:sp>
        <p:nvSpPr>
          <p:cNvPr id="710" name="!!qin4"/>
          <p:cNvSpPr/>
          <p:nvPr/>
        </p:nvSpPr>
        <p:spPr>
          <a:xfrm>
            <a:off x="3826510" y="3733800"/>
            <a:ext cx="619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is</a:t>
            </a:r>
          </a:p>
        </p:txBody>
      </p:sp>
      <p:sp>
        <p:nvSpPr>
          <p:cNvPr id="711" name="!!qout4"/>
          <p:cNvSpPr/>
          <p:nvPr/>
        </p:nvSpPr>
        <p:spPr>
          <a:xfrm>
            <a:off x="3826510" y="2032000"/>
            <a:ext cx="6197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F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cxnSp>
        <p:nvCxnSpPr>
          <p:cNvPr id="712" name="!!qa2"/>
          <p:cNvCxnSpPr/>
          <p:nvPr/>
        </p:nvCxnSpPr>
        <p:spPr>
          <a:xfrm flipV="1">
            <a:off x="2556510" y="3556000"/>
            <a:ext cx="0" cy="15240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sp>
        <p:nvSpPr>
          <p:cNvPr id="713" name="!!qllm"/>
          <p:cNvSpPr/>
          <p:nvPr/>
        </p:nvSpPr>
        <p:spPr>
          <a:xfrm>
            <a:off x="685800" y="2743200"/>
            <a:ext cx="3741420" cy="7874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600" b="0" dirty="0">
                <a:solidFill>
                  <a:srgbClr val="404040"/>
                </a:solidFill>
              </a:rPr>
              <a:t>LLM</a:t>
            </a:r>
          </a:p>
        </p:txBody>
      </p:sp>
      <p:cxnSp>
        <p:nvCxnSpPr>
          <p:cNvPr id="714" name="!!qa1"/>
          <p:cNvCxnSpPr/>
          <p:nvPr/>
        </p:nvCxnSpPr>
        <p:spPr>
          <a:xfrm flipV="1">
            <a:off x="2556510" y="2540000"/>
            <a:ext cx="0" cy="17780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sp>
        <p:nvSpPr>
          <p:cNvPr id="715" name="!!dPanel"/>
          <p:cNvSpPr/>
          <p:nvPr/>
        </p:nvSpPr>
        <p:spPr>
          <a:xfrm>
            <a:off x="7406640" y="965200"/>
            <a:ext cx="4175760" cy="3403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6" name="!!dHead"/>
          <p:cNvSpPr/>
          <p:nvPr/>
        </p:nvSpPr>
        <p:spPr>
          <a:xfrm>
            <a:off x="8890000" y="10414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2000" b="0" dirty="0">
                <a:solidFill>
                  <a:srgbClr val="000000"/>
                </a:solidFill>
              </a:rPr>
              <a:t>Training doc </a:t>
            </a:r>
            <a:r>
              <a:rPr lang="en-US" sz="2000" b="0" i="1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</a:p>
        </p:txBody>
      </p:sp>
      <p:sp>
        <p:nvSpPr>
          <p:cNvPr id="717" name="!!din0"/>
          <p:cNvSpPr/>
          <p:nvPr/>
        </p:nvSpPr>
        <p:spPr>
          <a:xfrm>
            <a:off x="7508240" y="3733800"/>
            <a:ext cx="61976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A6A6A6"/>
                </a:solidFill>
                <a:latin typeface="Andale Mono"/>
                <a:cs typeface="Andale Mono"/>
              </a:rPr>
              <a:t>…</a:t>
            </a:r>
          </a:p>
        </p:txBody>
      </p:sp>
      <p:sp>
        <p:nvSpPr>
          <p:cNvPr id="718" name="!!dout0"/>
          <p:cNvSpPr/>
          <p:nvPr/>
        </p:nvSpPr>
        <p:spPr>
          <a:xfrm>
            <a:off x="7508240" y="2032000"/>
            <a:ext cx="6197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</a:p>
        </p:txBody>
      </p:sp>
      <p:sp>
        <p:nvSpPr>
          <p:cNvPr id="719" name="!!din1"/>
          <p:cNvSpPr/>
          <p:nvPr/>
        </p:nvSpPr>
        <p:spPr>
          <a:xfrm>
            <a:off x="8178800" y="3733800"/>
            <a:ext cx="619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96B24"/>
                </a:solidFill>
                <a:latin typeface="Andale Mono"/>
                <a:cs typeface="Andale Mono"/>
              </a:rPr>
              <a:t>&lt;f1&gt;</a:t>
            </a:r>
          </a:p>
        </p:txBody>
      </p:sp>
      <p:sp>
        <p:nvSpPr>
          <p:cNvPr id="720" name="!!dout1"/>
          <p:cNvSpPr/>
          <p:nvPr/>
        </p:nvSpPr>
        <p:spPr>
          <a:xfrm>
            <a:off x="8178800" y="2032000"/>
            <a:ext cx="6197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maps</a:t>
            </a:r>
          </a:p>
        </p:txBody>
      </p:sp>
      <p:sp>
        <p:nvSpPr>
          <p:cNvPr id="721" name="!!din2"/>
          <p:cNvSpPr/>
          <p:nvPr/>
        </p:nvSpPr>
        <p:spPr>
          <a:xfrm>
            <a:off x="8849360" y="3733800"/>
            <a:ext cx="7493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maps</a:t>
            </a:r>
          </a:p>
        </p:txBody>
      </p:sp>
      <p:sp>
        <p:nvSpPr>
          <p:cNvPr id="722" name="!!dout2"/>
          <p:cNvSpPr/>
          <p:nvPr/>
        </p:nvSpPr>
        <p:spPr>
          <a:xfrm>
            <a:off x="8849360" y="2032000"/>
            <a:ext cx="7493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every</a:t>
            </a:r>
          </a:p>
        </p:txBody>
      </p:sp>
      <p:sp>
        <p:nvSpPr>
          <p:cNvPr id="723" name="!!din3"/>
          <p:cNvSpPr/>
          <p:nvPr/>
        </p:nvSpPr>
        <p:spPr>
          <a:xfrm>
            <a:off x="9649460" y="3733800"/>
            <a:ext cx="7493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every</a:t>
            </a:r>
          </a:p>
        </p:txBody>
      </p:sp>
      <p:sp>
        <p:nvSpPr>
          <p:cNvPr id="724" name="!!dout3"/>
          <p:cNvSpPr/>
          <p:nvPr/>
        </p:nvSpPr>
        <p:spPr>
          <a:xfrm>
            <a:off x="9649460" y="2032000"/>
            <a:ext cx="7493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A6A6A6"/>
                </a:solidFill>
                <a:latin typeface="Andale Mono"/>
                <a:cs typeface="Andale Mono"/>
              </a:rPr>
              <a:t>…</a:t>
            </a:r>
          </a:p>
        </p:txBody>
      </p:sp>
      <p:sp>
        <p:nvSpPr>
          <p:cNvPr id="725" name="!!din4"/>
          <p:cNvSpPr/>
          <p:nvPr/>
        </p:nvSpPr>
        <p:spPr>
          <a:xfrm>
            <a:off x="10449560" y="3733800"/>
            <a:ext cx="3606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A6A6A6"/>
                </a:solidFill>
                <a:latin typeface="Andale Mono"/>
                <a:cs typeface="Andale Mono"/>
              </a:rPr>
              <a:t>…</a:t>
            </a:r>
          </a:p>
        </p:txBody>
      </p:sp>
      <p:sp>
        <p:nvSpPr>
          <p:cNvPr id="726" name="!!dout4"/>
          <p:cNvSpPr/>
          <p:nvPr/>
        </p:nvSpPr>
        <p:spPr>
          <a:xfrm>
            <a:off x="10449560" y="2032000"/>
            <a:ext cx="360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to</a:t>
            </a:r>
          </a:p>
        </p:txBody>
      </p:sp>
      <p:sp>
        <p:nvSpPr>
          <p:cNvPr id="727" name="!!din5"/>
          <p:cNvSpPr/>
          <p:nvPr/>
        </p:nvSpPr>
        <p:spPr>
          <a:xfrm>
            <a:off x="10861040" y="3733800"/>
            <a:ext cx="619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0" dirty="0">
                <a:solidFill>
                  <a:srgbClr val="2E3A32"/>
                </a:solidFill>
                <a:latin typeface="Andale Mono"/>
                <a:cs typeface="Andale Mono"/>
              </a:rPr>
              <a:t>to</a:t>
            </a:r>
          </a:p>
        </p:txBody>
      </p:sp>
      <p:sp>
        <p:nvSpPr>
          <p:cNvPr id="728" name="!!dout5"/>
          <p:cNvSpPr/>
          <p:nvPr/>
        </p:nvSpPr>
        <p:spPr>
          <a:xfrm>
            <a:off x="10861040" y="2032000"/>
            <a:ext cx="6197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7030A0"/>
                </a:solidFill>
                <a:latin typeface="Andale Mono"/>
                <a:cs typeface="Andale Mono"/>
              </a:rPr>
              <a:t>&lt;v1&gt;</a:t>
            </a:r>
          </a:p>
        </p:txBody>
      </p:sp>
      <p:cxnSp>
        <p:nvCxnSpPr>
          <p:cNvPr id="729" name="!!da2"/>
          <p:cNvCxnSpPr/>
          <p:nvPr/>
        </p:nvCxnSpPr>
        <p:spPr>
          <a:xfrm flipV="1">
            <a:off x="9494520" y="3556000"/>
            <a:ext cx="0" cy="15240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sp>
        <p:nvSpPr>
          <p:cNvPr id="730" name="!!dllm"/>
          <p:cNvSpPr/>
          <p:nvPr/>
        </p:nvSpPr>
        <p:spPr>
          <a:xfrm>
            <a:off x="7482840" y="2743200"/>
            <a:ext cx="4023360" cy="7874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600" b="0" dirty="0">
                <a:solidFill>
                  <a:srgbClr val="404040"/>
                </a:solidFill>
              </a:rPr>
              <a:t>LLM</a:t>
            </a:r>
          </a:p>
        </p:txBody>
      </p:sp>
      <p:cxnSp>
        <p:nvCxnSpPr>
          <p:cNvPr id="731" name="!!da1"/>
          <p:cNvCxnSpPr/>
          <p:nvPr/>
        </p:nvCxnSpPr>
        <p:spPr>
          <a:xfrm flipV="1">
            <a:off x="9494520" y="2540000"/>
            <a:ext cx="0" cy="17780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sp>
        <p:nvSpPr>
          <p:cNvPr id="732" name="!!qL"/>
          <p:cNvSpPr/>
          <p:nvPr/>
        </p:nvSpPr>
        <p:spPr>
          <a:xfrm>
            <a:off x="3995420" y="13716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1" dirty="0">
                <a:solidFill>
                  <a:srgbClr val="1F5FA8"/>
                </a:solidFill>
                <a:latin typeface="Cambria Math"/>
                <a:cs typeface="Cambria Math"/>
              </a:rPr>
              <a:t>L</a:t>
            </a:r>
            <a:r>
              <a:rPr lang="en-US" sz="2800" b="0" dirty="0">
                <a:solidFill>
                  <a:srgbClr val="1F5FA8"/>
                </a:solidFill>
                <a:latin typeface="Cambria Math"/>
                <a:cs typeface="Cambria Math"/>
              </a:rPr>
              <a:t>(</a:t>
            </a:r>
            <a:r>
              <a:rPr lang="en-US" sz="2800" b="0" i="1" dirty="0">
                <a:solidFill>
                  <a:srgbClr val="1F5FA8"/>
                </a:solidFill>
                <a:latin typeface="Cambria Math"/>
                <a:cs typeface="Cambria Math"/>
              </a:rPr>
              <a:t>q</a:t>
            </a:r>
            <a:r>
              <a:rPr lang="en-US" sz="2800" b="0" dirty="0">
                <a:solidFill>
                  <a:srgbClr val="1F5FA8"/>
                </a:solidFill>
                <a:latin typeface="Cambria Math"/>
                <a:cs typeface="Cambria Math"/>
              </a:rPr>
              <a:t>)</a:t>
            </a:r>
          </a:p>
        </p:txBody>
      </p:sp>
      <p:sp>
        <p:nvSpPr>
          <p:cNvPr id="733" name="!!dL"/>
          <p:cNvSpPr/>
          <p:nvPr/>
        </p:nvSpPr>
        <p:spPr>
          <a:xfrm>
            <a:off x="7025640" y="13716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1" dirty="0">
                <a:solidFill>
                  <a:srgbClr val="196B24"/>
                </a:solidFill>
                <a:latin typeface="Cambria Math"/>
                <a:cs typeface="Cambria Math"/>
              </a:rPr>
              <a:t>L</a:t>
            </a:r>
            <a:r>
              <a:rPr lang="en-US" sz="2800" b="0" dirty="0">
                <a:solidFill>
                  <a:srgbClr val="196B24"/>
                </a:solidFill>
                <a:latin typeface="Cambria Math"/>
                <a:cs typeface="Cambria Math"/>
              </a:rPr>
              <a:t>(</a:t>
            </a:r>
            <a:r>
              <a:rPr lang="en-US" sz="2800" b="0" i="1" dirty="0">
                <a:solidFill>
                  <a:srgbClr val="196B24"/>
                </a:solidFill>
                <a:latin typeface="Cambria Math"/>
                <a:cs typeface="Cambria Math"/>
              </a:rPr>
              <a:t>d</a:t>
            </a:r>
            <a:r>
              <a:rPr lang="en-US" sz="2800" b="0" dirty="0">
                <a:solidFill>
                  <a:srgbClr val="196B24"/>
                </a:solidFill>
                <a:latin typeface="Cambria Math"/>
                <a:cs typeface="Cambria Math"/>
              </a:rPr>
              <a:t>)</a:t>
            </a:r>
          </a:p>
        </p:txBody>
      </p:sp>
      <p:sp>
        <p:nvSpPr>
          <p:cNvPr id="734" name="!!dBrace"/>
          <p:cNvSpPr/>
          <p:nvPr/>
        </p:nvSpPr>
        <p:spPr>
          <a:xfrm rot="5400000">
            <a:off x="9431020" y="-17780"/>
            <a:ext cx="127000" cy="3972560"/>
          </a:xfrm>
          <a:prstGeom prst="leftBrace">
            <a:avLst>
              <a:gd name="adj1" fmla="val 25000"/>
              <a:gd name="adj2" fmla="val 92000"/>
            </a:avLst>
          </a:prstGeom>
          <a:noFill/>
          <a:ln w="22225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cxnSp>
        <p:nvCxnSpPr>
          <p:cNvPr id="735" name="!!qBP"/>
          <p:cNvCxnSpPr/>
          <p:nvPr/>
        </p:nvCxnSpPr>
        <p:spPr>
          <a:xfrm>
            <a:off x="4630420" y="2032000"/>
            <a:ext cx="0" cy="1498600"/>
          </a:xfrm>
          <a:prstGeom prst="line">
            <a:avLst/>
          </a:prstGeom>
          <a:ln w="38100">
            <a:solidFill>
              <a:srgbClr val="1F5FA8"/>
            </a:solidFill>
            <a:tailEnd type="triangle" w="med" len="med"/>
          </a:ln>
        </p:spPr>
      </p:cxnSp>
      <p:cxnSp>
        <p:nvCxnSpPr>
          <p:cNvPr id="736" name="!!dBP"/>
          <p:cNvCxnSpPr/>
          <p:nvPr/>
        </p:nvCxnSpPr>
        <p:spPr>
          <a:xfrm>
            <a:off x="7279640" y="2032000"/>
            <a:ext cx="0" cy="1498600"/>
          </a:xfrm>
          <a:prstGeom prst="line">
            <a:avLst/>
          </a:prstGeom>
          <a:ln w="38100">
            <a:solidFill>
              <a:srgbClr val="196B24"/>
            </a:solidFill>
            <a:tailEnd type="triangle" w="med" len="med"/>
          </a:ln>
        </p:spPr>
      </p:cxnSp>
      <p:sp>
        <p:nvSpPr>
          <p:cNvPr id="737" name="!!qBPl"/>
          <p:cNvSpPr/>
          <p:nvPr/>
        </p:nvSpPr>
        <p:spPr>
          <a:xfrm>
            <a:off x="4706620" y="2057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600" b="0" i="1" dirty="0">
                <a:solidFill>
                  <a:srgbClr val="8FAADC"/>
                </a:solidFill>
              </a:rPr>
              <a:t>backprop</a:t>
            </a:r>
          </a:p>
        </p:txBody>
      </p:sp>
      <p:sp>
        <p:nvSpPr>
          <p:cNvPr id="738" name="!!dBPl"/>
          <p:cNvSpPr/>
          <p:nvPr/>
        </p:nvSpPr>
        <p:spPr>
          <a:xfrm>
            <a:off x="6060440" y="2057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1600" b="0" i="1" dirty="0">
                <a:solidFill>
                  <a:srgbClr val="8DB97A"/>
                </a:solidFill>
              </a:rPr>
              <a:t>backprop</a:t>
            </a:r>
          </a:p>
        </p:txBody>
      </p:sp>
      <p:sp>
        <p:nvSpPr>
          <p:cNvPr id="739" name="!!eqQ"/>
          <p:cNvSpPr/>
          <p:nvPr/>
        </p:nvSpPr>
        <p:spPr>
          <a:xfrm>
            <a:off x="4646930" y="2819400"/>
            <a:ext cx="10668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2600" b="0" dirty="0">
                <a:solidFill>
                  <a:srgbClr val="1F5FA8"/>
                </a:solidFill>
                <a:latin typeface="Cambria Math"/>
                <a:cs typeface="Cambria Math"/>
              </a:rPr>
              <a:t>∇</a:t>
            </a:r>
            <a:r>
              <a:rPr lang="en-US" sz="2600" b="0" i="1" dirty="0">
                <a:solidFill>
                  <a:srgbClr val="1F5FA8"/>
                </a:solidFill>
                <a:latin typeface="Cambria Math"/>
                <a:cs typeface="Cambria Math"/>
              </a:rPr>
              <a:t>L</a:t>
            </a:r>
            <a:r>
              <a:rPr lang="en-US" sz="2600" b="0" dirty="0">
                <a:solidFill>
                  <a:srgbClr val="1F5FA8"/>
                </a:solidFill>
                <a:latin typeface="Cambria Math"/>
                <a:cs typeface="Cambria Math"/>
              </a:rPr>
              <a:t>(</a:t>
            </a:r>
            <a:r>
              <a:rPr lang="en-US" sz="2600" b="0" i="1" dirty="0">
                <a:solidFill>
                  <a:srgbClr val="1F5FA8"/>
                </a:solidFill>
                <a:latin typeface="Cambria Math"/>
                <a:cs typeface="Cambria Math"/>
              </a:rPr>
              <a:t>q</a:t>
            </a:r>
            <a:r>
              <a:rPr lang="en-US" sz="2600" b="0" dirty="0">
                <a:solidFill>
                  <a:srgbClr val="1F5FA8"/>
                </a:solidFill>
                <a:latin typeface="Cambria Math"/>
                <a:cs typeface="Cambria Math"/>
              </a:rPr>
              <a:t>)ᵀ</a:t>
            </a:r>
          </a:p>
        </p:txBody>
      </p:sp>
      <p:sp>
        <p:nvSpPr>
          <p:cNvPr id="740" name="!!eqH"/>
          <p:cNvSpPr/>
          <p:nvPr/>
        </p:nvSpPr>
        <p:spPr>
          <a:xfrm>
            <a:off x="5713730" y="2819400"/>
            <a:ext cx="4826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600" b="0" i="1" dirty="0">
                <a:solidFill>
                  <a:srgbClr val="404040"/>
                </a:solidFill>
                <a:latin typeface="Cambria Math"/>
                <a:cs typeface="Cambria Math"/>
              </a:rPr>
              <a:t>H</a:t>
            </a:r>
            <a:r>
              <a:rPr lang="en-US" sz="2600" b="0" dirty="0">
                <a:solidFill>
                  <a:srgbClr val="404040"/>
                </a:solidFill>
                <a:latin typeface="Cambria Math"/>
                <a:cs typeface="Cambria Math"/>
              </a:rPr>
              <a:t>⁻¹</a:t>
            </a:r>
          </a:p>
        </p:txBody>
      </p:sp>
      <p:sp>
        <p:nvSpPr>
          <p:cNvPr id="741" name="!!eqD"/>
          <p:cNvSpPr/>
          <p:nvPr/>
        </p:nvSpPr>
        <p:spPr>
          <a:xfrm>
            <a:off x="6196330" y="28194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600" b="0" dirty="0">
                <a:solidFill>
                  <a:srgbClr val="196B24"/>
                </a:solidFill>
                <a:latin typeface="Cambria Math"/>
                <a:cs typeface="Cambria Math"/>
              </a:rPr>
              <a:t>∇</a:t>
            </a:r>
            <a:r>
              <a:rPr lang="en-US" sz="2600" b="0" i="1" dirty="0">
                <a:solidFill>
                  <a:srgbClr val="196B24"/>
                </a:solidFill>
                <a:latin typeface="Cambria Math"/>
                <a:cs typeface="Cambria Math"/>
              </a:rPr>
              <a:t>L</a:t>
            </a:r>
            <a:r>
              <a:rPr lang="en-US" sz="2600" b="0" dirty="0">
                <a:solidFill>
                  <a:srgbClr val="196B24"/>
                </a:solidFill>
                <a:latin typeface="Cambria Math"/>
                <a:cs typeface="Cambria Math"/>
              </a:rPr>
              <a:t>(</a:t>
            </a:r>
            <a:r>
              <a:rPr lang="en-US" sz="2600" b="0" i="1" dirty="0">
                <a:solidFill>
                  <a:srgbClr val="196B24"/>
                </a:solidFill>
                <a:latin typeface="Cambria Math"/>
                <a:cs typeface="Cambria Math"/>
              </a:rPr>
              <a:t>d</a:t>
            </a:r>
            <a:r>
              <a:rPr lang="en-US" sz="2600" b="0" dirty="0">
                <a:solidFill>
                  <a:srgbClr val="196B24"/>
                </a:solidFill>
                <a:latin typeface="Cambria Math"/>
                <a:cs typeface="Cambria Math"/>
              </a:rPr>
              <a:t>)</a:t>
            </a:r>
          </a:p>
        </p:txBody>
      </p:sp>
      <p:sp>
        <p:nvSpPr>
          <p:cNvPr id="742" name="!!eqBrace"/>
          <p:cNvSpPr/>
          <p:nvPr/>
        </p:nvSpPr>
        <p:spPr>
          <a:xfrm rot="5400000">
            <a:off x="5878830" y="2409190"/>
            <a:ext cx="152400" cy="2293620"/>
          </a:xfrm>
          <a:prstGeom prst="rightBrace">
            <a:avLst>
              <a:gd name="adj1" fmla="val 25000"/>
              <a:gd name="adj2" fmla="val 50000"/>
            </a:avLst>
          </a:prstGeom>
          <a:noFill/>
          <a:ln w="15875">
            <a:solidFill>
              <a:srgbClr val="595959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3" name="!!eqTau"/>
          <p:cNvSpPr/>
          <p:nvPr/>
        </p:nvSpPr>
        <p:spPr>
          <a:xfrm>
            <a:off x="5002530" y="3683000"/>
            <a:ext cx="190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3000" b="0" i="1" dirty="0">
                <a:solidFill>
                  <a:srgbClr val="000000"/>
                </a:solidFill>
                <a:latin typeface="Cambria Math"/>
                <a:cs typeface="Cambria Math"/>
              </a:rPr>
              <a:t>τ</a:t>
            </a:r>
            <a:r>
              <a:rPr lang="en-US" sz="3000" b="0" dirty="0">
                <a:solidFill>
                  <a:srgbClr val="000000"/>
                </a:solidFill>
                <a:latin typeface="Cambria Math"/>
                <a:cs typeface="Cambria Math"/>
              </a:rPr>
              <a:t>(</a:t>
            </a:r>
            <a:r>
              <a:rPr lang="en-US" sz="3000" b="0" i="1" dirty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  <a:r>
              <a:rPr lang="en-US" sz="3000" b="0" dirty="0">
                <a:solidFill>
                  <a:srgbClr val="000000"/>
                </a:solidFill>
                <a:latin typeface="Cambria Math"/>
                <a:cs typeface="Cambria Math"/>
              </a:rPr>
              <a:t>, </a:t>
            </a:r>
            <a:r>
              <a:rPr lang="en-US" sz="3000" b="0" i="1" dirty="0">
                <a:solidFill>
                  <a:srgbClr val="000000"/>
                </a:solidFill>
                <a:latin typeface="Cambria Math"/>
                <a:cs typeface="Cambria Math"/>
              </a:rPr>
              <a:t>q</a:t>
            </a:r>
            <a:r>
              <a:rPr lang="en-US" sz="3000" b="0" dirty="0">
                <a:solidFill>
                  <a:srgbClr val="000000"/>
                </a:solidFill>
                <a:latin typeface="Cambria Math"/>
                <a:cs typeface="Cambria Math"/>
              </a:rPr>
              <a:t>)</a:t>
            </a:r>
          </a:p>
        </p:txBody>
      </p:sp>
      <p:sp>
        <p:nvSpPr>
          <p:cNvPr id="744" name="!!eqTauL"/>
          <p:cNvSpPr/>
          <p:nvPr/>
        </p:nvSpPr>
        <p:spPr>
          <a:xfrm>
            <a:off x="4812030" y="4191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595959"/>
                </a:solidFill>
              </a:rPr>
              <a:t>attribution score</a:t>
            </a:r>
          </a:p>
        </p:txBody>
      </p:sp>
      <p:sp>
        <p:nvSpPr>
          <p:cNvPr id="745" name="!!kTok0"/>
          <p:cNvSpPr/>
          <p:nvPr/>
        </p:nvSpPr>
        <p:spPr>
          <a:xfrm>
            <a:off x="7457440" y="1981200"/>
            <a:ext cx="721360" cy="160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6" name="!!kTok1"/>
          <p:cNvSpPr/>
          <p:nvPr/>
        </p:nvSpPr>
        <p:spPr>
          <a:xfrm>
            <a:off x="10810240" y="1981200"/>
            <a:ext cx="721360" cy="160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7" name="!!kLab"/>
          <p:cNvSpPr/>
          <p:nvPr/>
        </p:nvSpPr>
        <p:spPr>
          <a:xfrm>
            <a:off x="8168640" y="1346200"/>
            <a:ext cx="333756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1800" b="0" dirty="0">
                <a:solidFill>
                  <a:srgbClr val="C00000"/>
                </a:solidFill>
              </a:rPr>
              <a:t>token-wise decomposition</a:t>
            </a:r>
          </a:p>
          <a:p>
            <a:pPr algn="r"/>
            <a:r>
              <a:rPr lang="en-US" sz="1600" b="0" dirty="0">
                <a:solidFill>
                  <a:srgbClr val="C00000"/>
                </a:solidFill>
              </a:rPr>
              <a:t>[Grosse et al., 2023]</a:t>
            </a:r>
          </a:p>
        </p:txBody>
      </p:sp>
      <p:sp>
        <p:nvSpPr>
          <p:cNvPr id="51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3200" b="0" dirty="0">
                <a:solidFill>
                  <a:srgbClr val="000000"/>
                </a:solidFill>
              </a:rPr>
              <a:t>Is </a:t>
            </a:r>
            <a:r>
              <a:rPr lang="en-US" altLang="zh-TW" sz="3200" b="0" dirty="0">
                <a:solidFill>
                  <a:srgbClr val="000000"/>
                </a:solidFill>
              </a:rPr>
              <a:t>attribution</a:t>
            </a:r>
            <a:r>
              <a:rPr lang="en-US" sz="3200" b="0" dirty="0">
                <a:solidFill>
                  <a:srgbClr val="000000"/>
                </a:solidFill>
              </a:rPr>
              <a:t> signal hidden in </a:t>
            </a:r>
            <a:r>
              <a:rPr lang="en-US" altLang="zh-TW" sz="3200" b="0" dirty="0">
                <a:solidFill>
                  <a:srgbClr val="000000"/>
                </a:solidFill>
              </a:rPr>
              <a:t>particular</a:t>
            </a:r>
            <a:r>
              <a:rPr lang="en-US" sz="3200" b="0" dirty="0">
                <a:solidFill>
                  <a:srgbClr val="000000"/>
                </a:solidFill>
              </a:rPr>
              <a:t> tokens?</a:t>
            </a:r>
          </a:p>
        </p:txBody>
      </p:sp>
      <p:sp>
        <p:nvSpPr>
          <p:cNvPr id="52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Koh &amp; Liang 2017; token-wise decomposition following Grosse et al. 2023</a:t>
            </a:r>
          </a:p>
        </p:txBody>
      </p:sp>
    </p:spTree>
    <p:extLst>
      <p:ext uri="{BB962C8B-B14F-4D97-AF65-F5344CB8AC3E}">
        <p14:creationId xmlns:p14="http://schemas.microsoft.com/office/powerpoint/2010/main" val="6226173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6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6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67" dur="400" fill="hold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70" dur="400" fill="hold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40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73" dur="400" fill="hold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4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76" dur="400" fill="hold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4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transition="in" filter="image" prLst="opacity: 0.25">
                                      <p:cBhvr rctx="IE">
                                        <p:cTn id="179" dur="400" fill="hold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" grpId="0" animBg="1"/>
      <p:bldP spid="701" grpId="0" animBg="1"/>
      <p:bldP spid="702" grpId="0" animBg="1"/>
      <p:bldP spid="703" grpId="0" animBg="1"/>
      <p:bldP spid="704" grpId="0" animBg="1"/>
      <p:bldP spid="705" grpId="0" animBg="1"/>
      <p:bldP spid="706" grpId="0" animBg="1"/>
      <p:bldP spid="707" grpId="0" animBg="1"/>
      <p:bldP spid="708" grpId="0" animBg="1"/>
      <p:bldP spid="748" grpId="0" animBg="1"/>
      <p:bldP spid="709" grpId="0" animBg="1"/>
      <p:bldP spid="749" grpId="0" animBg="1"/>
      <p:bldP spid="710" grpId="0" animBg="1"/>
      <p:bldP spid="711" grpId="0" animBg="1"/>
      <p:bldP spid="713" grpId="0" animBg="1"/>
      <p:bldP spid="715" grpId="0" animBg="1"/>
      <p:bldP spid="716" grpId="0" animBg="1"/>
      <p:bldP spid="717" grpId="0" animBg="1"/>
      <p:bldP spid="718" grpId="0" animBg="1"/>
      <p:bldP spid="719" grpId="0" animBg="1"/>
      <p:bldP spid="720" grpId="0" animBg="1"/>
      <p:bldP spid="720" grpId="1" animBg="1"/>
      <p:bldP spid="721" grpId="0" animBg="1"/>
      <p:bldP spid="722" grpId="0" animBg="1"/>
      <p:bldP spid="722" grpId="1" animBg="1"/>
      <p:bldP spid="723" grpId="0" animBg="1"/>
      <p:bldP spid="724" grpId="0" animBg="1"/>
      <p:bldP spid="724" grpId="1" animBg="1"/>
      <p:bldP spid="725" grpId="0" animBg="1"/>
      <p:bldP spid="726" grpId="0" animBg="1"/>
      <p:bldP spid="726" grpId="1" animBg="1"/>
      <p:bldP spid="727" grpId="0" animBg="1"/>
      <p:bldP spid="728" grpId="0" animBg="1"/>
      <p:bldP spid="730" grpId="0" animBg="1"/>
      <p:bldP spid="732" grpId="0" animBg="1"/>
      <p:bldP spid="733" grpId="0" animBg="1"/>
      <p:bldP spid="734" grpId="0" animBg="1"/>
      <p:bldP spid="734" grpId="1" animBg="1"/>
      <p:bldP spid="737" grpId="0" animBg="1"/>
      <p:bldP spid="738" grpId="0" animBg="1"/>
      <p:bldP spid="739" grpId="0" animBg="1"/>
      <p:bldP spid="740" grpId="0" animBg="1"/>
      <p:bldP spid="741" grpId="0" animBg="1"/>
      <p:bldP spid="742" grpId="0" animBg="1"/>
      <p:bldP spid="743" grpId="0" animBg="1"/>
      <p:bldP spid="744" grpId="0" animBg="1"/>
      <p:bldP spid="745" grpId="0" animBg="1"/>
      <p:bldP spid="746" grpId="0" animBg="1"/>
      <p:bldP spid="747" grpId="0" animBg="1"/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39D5D7D2-13DB-0AAC-2118-BF0E5FF5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Attribution</a:t>
            </a:r>
            <a:r>
              <a:rPr lang="zh-TW" altLang="en-US" dirty="0"/>
              <a:t> </a:t>
            </a:r>
            <a:r>
              <a:rPr lang="en-US" altLang="zh-TW" dirty="0"/>
              <a:t>score</a:t>
            </a:r>
            <a:r>
              <a:rPr lang="zh-TW" altLang="en-US" dirty="0"/>
              <a:t> </a:t>
            </a:r>
            <a:r>
              <a:rPr lang="en-US" altLang="zh-TW" dirty="0"/>
              <a:t>distribution</a:t>
            </a:r>
            <a:endParaRPr lang="en-US" dirty="0"/>
          </a:p>
        </p:txBody>
      </p:sp>
      <p:sp>
        <p:nvSpPr>
          <p:cNvPr id="10" name="!!hLabel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Cross-entropy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all tokens</a:t>
            </a:r>
          </a:p>
        </p:txBody>
      </p:sp>
      <p:sp>
        <p:nvSpPr>
          <p:cNvPr id="109" name="!!hLabelNext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Cross-entropy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top-10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000000"/>
                </a:solidFill>
                <a:latin typeface="Helvetica"/>
                <a:cs typeface="Helvetica"/>
              </a:rPr>
              <a:t>0.01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42536"/>
            <a:ext cx="205014" cy="2946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27804"/>
            <a:ext cx="205014" cy="4419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13072"/>
            <a:ext cx="205014" cy="5892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424680"/>
            <a:ext cx="205014" cy="14732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373118"/>
            <a:ext cx="205014" cy="19888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343654"/>
            <a:ext cx="205014" cy="22834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299458"/>
            <a:ext cx="205014" cy="27254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4188968"/>
            <a:ext cx="205014" cy="3830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3909060"/>
            <a:ext cx="205014" cy="66294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3415538"/>
            <a:ext cx="205014" cy="11564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3201924"/>
            <a:ext cx="205014" cy="13700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570224"/>
            <a:ext cx="205014" cy="10017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997452"/>
            <a:ext cx="205014" cy="57454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4255262"/>
            <a:ext cx="205014" cy="31673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4358386"/>
            <a:ext cx="205014" cy="21361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402582"/>
            <a:ext cx="205014" cy="16941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417314"/>
            <a:ext cx="205014" cy="15468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432046"/>
            <a:ext cx="205014" cy="13995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498340"/>
            <a:ext cx="205014" cy="7366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20438"/>
            <a:ext cx="205014" cy="515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35170"/>
            <a:ext cx="205014" cy="3683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476242"/>
            <a:ext cx="205014" cy="9575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483608"/>
            <a:ext cx="205014" cy="883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351020"/>
            <a:ext cx="205014" cy="22098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284726"/>
            <a:ext cx="205014" cy="28727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063746"/>
            <a:ext cx="205014" cy="50825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3857498"/>
            <a:ext cx="205014" cy="71450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3599688"/>
            <a:ext cx="205014" cy="9723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3496564"/>
            <a:ext cx="205014" cy="107543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3592322"/>
            <a:ext cx="205014" cy="9796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3747008"/>
            <a:ext cx="205014" cy="8249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3909060"/>
            <a:ext cx="205014" cy="66294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4152138"/>
            <a:ext cx="205014" cy="4198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4188968"/>
            <a:ext cx="205014" cy="3830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4328922"/>
            <a:ext cx="205014" cy="2430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4402582"/>
            <a:ext cx="205014" cy="16941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4454144"/>
            <a:ext cx="205014" cy="11785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4461510"/>
            <a:ext cx="205014" cy="11049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4513072"/>
            <a:ext cx="205014" cy="5892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</p:spTree>
    <p:extLst>
      <p:ext uri="{BB962C8B-B14F-4D97-AF65-F5344CB8AC3E}">
        <p14:creationId xmlns:p14="http://schemas.microsoft.com/office/powerpoint/2010/main" val="35679899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9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41F2CC9F-FD73-8462-D85B-69264A2C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Attribution</a:t>
            </a:r>
            <a:r>
              <a:rPr lang="zh-TW" altLang="en-US" dirty="0"/>
              <a:t> </a:t>
            </a:r>
            <a:r>
              <a:rPr lang="en-US" altLang="zh-TW" dirty="0"/>
              <a:t>score</a:t>
            </a:r>
            <a:r>
              <a:rPr lang="zh-TW" altLang="en-US" dirty="0"/>
              <a:t> </a:t>
            </a:r>
            <a:r>
              <a:rPr lang="en-US" altLang="zh-TW" dirty="0"/>
              <a:t>distribution</a:t>
            </a:r>
            <a:endParaRPr lang="en-US" dirty="0"/>
          </a:p>
        </p:txBody>
      </p:sp>
      <p:sp>
        <p:nvSpPr>
          <p:cNvPr id="10" name="!!hLabelNext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Cross-entropy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top-10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000000"/>
                </a:solidFill>
                <a:latin typeface="Helvetica"/>
                <a:cs typeface="Helvetica"/>
              </a:rPr>
              <a:t>0.30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4181602"/>
            <a:ext cx="205014" cy="3903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2988310"/>
            <a:ext cx="205014" cy="158369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2693670"/>
            <a:ext cx="205014" cy="187833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3953256"/>
            <a:ext cx="205014" cy="61874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665982"/>
            <a:ext cx="205014" cy="90601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356610"/>
            <a:ext cx="205014" cy="121539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3673348"/>
            <a:ext cx="205014" cy="89865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4137406"/>
            <a:ext cx="205014" cy="43459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505706"/>
            <a:ext cx="205014" cy="6629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542536"/>
            <a:ext cx="205014" cy="2946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4269994"/>
            <a:ext cx="205014" cy="30200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3820668"/>
            <a:ext cx="205014" cy="7513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3319780"/>
            <a:ext cx="205014" cy="125222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3187192"/>
            <a:ext cx="205014" cy="138480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3290316"/>
            <a:ext cx="205014" cy="128168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3643884"/>
            <a:ext cx="205014" cy="92811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3967988"/>
            <a:ext cx="205014" cy="6040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4159504"/>
            <a:ext cx="205014" cy="41249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4292092"/>
            <a:ext cx="205014" cy="27990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4306824"/>
            <a:ext cx="205014" cy="26517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4336288"/>
            <a:ext cx="205014" cy="2357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4461510"/>
            <a:ext cx="205014" cy="11049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4468876"/>
            <a:ext cx="205014" cy="10312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4461510"/>
            <a:ext cx="205014" cy="11049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4513072"/>
            <a:ext cx="205014" cy="5892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  <p:sp>
        <p:nvSpPr>
          <p:cNvPr id="900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3200" b="0" dirty="0">
                <a:solidFill>
                  <a:srgbClr val="000000"/>
                </a:solidFill>
              </a:rPr>
              <a:t>Better, but 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186357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0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00AE-CF50-4FD9-E357-DA3355DF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right loss surfaces the relevant tokens</a:t>
            </a:r>
          </a:p>
        </p:txBody>
      </p:sp>
      <p:sp>
        <p:nvSpPr>
          <p:cNvPr id="10" name="!!ceEq"/>
          <p:cNvSpPr/>
          <p:nvPr/>
        </p:nvSpPr>
        <p:spPr>
          <a:xfrm>
            <a:off x="609600" y="9906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200" b="0" dirty="0">
                <a:solidFill>
                  <a:srgbClr val="595959"/>
                </a:solidFill>
              </a:rPr>
              <a:t>Cross-entropy</a:t>
            </a:r>
          </a:p>
          <a:p>
            <a:pPr algn="l"/>
            <a:r>
              <a:rPr lang="en-US" sz="2800" b="0" i="1" dirty="0">
                <a:solidFill>
                  <a:srgbClr val="000000"/>
                </a:solidFill>
                <a:latin typeface="Cambria Math"/>
                <a:cs typeface="Cambria Math"/>
              </a:rPr>
              <a:t>L</a:t>
            </a:r>
            <a:r>
              <a:rPr lang="en-US" sz="182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CE</a:t>
            </a:r>
            <a:r>
              <a:rPr lang="en-US" sz="2800" b="0" dirty="0">
                <a:solidFill>
                  <a:srgbClr val="000000"/>
                </a:solidFill>
                <a:latin typeface="Cambria Math"/>
                <a:cs typeface="Cambria Math"/>
              </a:rPr>
              <a:t> = −log </a:t>
            </a:r>
            <a:r>
              <a:rPr lang="en-US" sz="2800" b="0" i="1" dirty="0">
                <a:solidFill>
                  <a:srgbClr val="000000"/>
                </a:solidFill>
                <a:latin typeface="Cambria Math"/>
                <a:cs typeface="Cambria Math"/>
              </a:rPr>
              <a:t>p</a:t>
            </a:r>
          </a:p>
        </p:txBody>
      </p:sp>
      <p:sp>
        <p:nvSpPr>
          <p:cNvPr id="316" name="!!pBrace"/>
          <p:cNvSpPr/>
          <p:nvPr/>
        </p:nvSpPr>
        <p:spPr>
          <a:xfrm rot="5400000">
            <a:off x="2247900" y="1778000"/>
            <a:ext cx="101600" cy="254000"/>
          </a:xfrm>
          <a:prstGeom prst="rightBracket">
            <a:avLst>
              <a:gd name="adj" fmla="val 40000"/>
            </a:avLst>
          </a:prstGeom>
          <a:noFill/>
          <a:ln w="28575">
            <a:solidFill>
              <a:srgbClr val="59595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5" name="!!pDef"/>
          <p:cNvSpPr/>
          <p:nvPr/>
        </p:nvSpPr>
        <p:spPr>
          <a:xfrm>
            <a:off x="609600" y="1968500"/>
            <a:ext cx="49530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595959"/>
                </a:solidFill>
              </a:rPr>
              <a:t>model’s probability of the correct next token</a:t>
            </a:r>
          </a:p>
        </p:txBody>
      </p:sp>
      <p:sp>
        <p:nvSpPr>
          <p:cNvPr id="11" name="!!nloEq"/>
          <p:cNvSpPr/>
          <p:nvPr/>
        </p:nvSpPr>
        <p:spPr>
          <a:xfrm>
            <a:off x="609600" y="2362200"/>
            <a:ext cx="49530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600" b="1" dirty="0">
                <a:solidFill>
                  <a:srgbClr val="000000"/>
                </a:solidFill>
              </a:rPr>
              <a:t>Negative log-odds</a:t>
            </a:r>
            <a:endParaRPr lang="en-US" sz="1600" b="0" dirty="0">
              <a:solidFill>
                <a:srgbClr val="7F7F7F"/>
              </a:solidFill>
            </a:endParaRPr>
          </a:p>
          <a:p>
            <a:pPr algn="l"/>
            <a:r>
              <a:rPr lang="en-US" sz="2800" b="0" i="1" dirty="0">
                <a:solidFill>
                  <a:srgbClr val="000000"/>
                </a:solidFill>
                <a:latin typeface="Cambria Math"/>
                <a:cs typeface="Cambria Math"/>
              </a:rPr>
              <a:t>L</a:t>
            </a:r>
            <a:r>
              <a:rPr lang="en-US" sz="182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NLO</a:t>
            </a:r>
            <a:r>
              <a:rPr lang="en-US" sz="2800" b="0" dirty="0">
                <a:solidFill>
                  <a:srgbClr val="000000"/>
                </a:solidFill>
                <a:latin typeface="Cambria Math"/>
                <a:cs typeface="Cambria Math"/>
              </a:rPr>
              <a:t> = −log [ </a:t>
            </a:r>
            <a:r>
              <a:rPr lang="en-US" sz="2800" b="0" i="1" dirty="0">
                <a:solidFill>
                  <a:srgbClr val="000000"/>
                </a:solidFill>
                <a:latin typeface="Cambria Math"/>
                <a:cs typeface="Cambria Math"/>
              </a:rPr>
              <a:t>p</a:t>
            </a:r>
            <a:r>
              <a:rPr lang="en-US" sz="2800" b="0" dirty="0">
                <a:solidFill>
                  <a:srgbClr val="000000"/>
                </a:solidFill>
                <a:latin typeface="Cambria Math"/>
                <a:cs typeface="Cambria Math"/>
              </a:rPr>
              <a:t> / (1 − </a:t>
            </a:r>
            <a:r>
              <a:rPr lang="en-US" sz="2800" b="0" i="1" dirty="0">
                <a:solidFill>
                  <a:srgbClr val="000000"/>
                </a:solidFill>
                <a:latin typeface="Cambria Math"/>
                <a:cs typeface="Cambria Math"/>
              </a:rPr>
              <a:t>p</a:t>
            </a:r>
            <a:r>
              <a:rPr lang="en-US" sz="2800" b="0" dirty="0">
                <a:solidFill>
                  <a:srgbClr val="000000"/>
                </a:solidFill>
                <a:latin typeface="Cambria Math"/>
                <a:cs typeface="Cambria Math"/>
              </a:rPr>
              <a:t>) ]</a:t>
            </a:r>
          </a:p>
        </p:txBody>
      </p:sp>
      <p:sp>
        <p:nvSpPr>
          <p:cNvPr id="12" name="!!relBox"/>
          <p:cNvSpPr/>
          <p:nvPr/>
        </p:nvSpPr>
        <p:spPr>
          <a:xfrm>
            <a:off x="609600" y="3454400"/>
            <a:ext cx="4953000" cy="812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3200" b="0" dirty="0">
                <a:solidFill>
                  <a:srgbClr val="000000"/>
                </a:solidFill>
                <a:latin typeface="Cambria Math"/>
                <a:cs typeface="Cambria Math"/>
              </a:rPr>
              <a:t>∇</a:t>
            </a:r>
            <a:r>
              <a:rPr lang="en-US" sz="3200" b="0" i="1" dirty="0">
                <a:solidFill>
                  <a:srgbClr val="000000"/>
                </a:solidFill>
                <a:latin typeface="Cambria Math"/>
                <a:cs typeface="Cambria Math"/>
              </a:rPr>
              <a:t>L</a:t>
            </a:r>
            <a:r>
              <a:rPr lang="en-US" sz="240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CE</a:t>
            </a:r>
            <a:r>
              <a:rPr lang="en-US" sz="3200" b="0" dirty="0">
                <a:solidFill>
                  <a:srgbClr val="000000"/>
                </a:solidFill>
                <a:latin typeface="Cambria Math"/>
                <a:cs typeface="Cambria Math"/>
              </a:rPr>
              <a:t> = </a:t>
            </a:r>
            <a:r>
              <a:rPr lang="en-US" sz="3200" b="0" dirty="0">
                <a:solidFill>
                  <a:srgbClr val="C00000"/>
                </a:solidFill>
                <a:latin typeface="Cambria Math"/>
                <a:cs typeface="Cambria Math"/>
              </a:rPr>
              <a:t>(1 − </a:t>
            </a:r>
            <a:r>
              <a:rPr lang="en-US" sz="3200" b="0" i="1" dirty="0">
                <a:solidFill>
                  <a:srgbClr val="C00000"/>
                </a:solidFill>
                <a:latin typeface="Cambria Math"/>
                <a:cs typeface="Cambria Math"/>
              </a:rPr>
              <a:t>p</a:t>
            </a:r>
            <a:r>
              <a:rPr lang="en-US" sz="3200" b="0" dirty="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lang="en-US" sz="3200" b="0" dirty="0">
                <a:solidFill>
                  <a:srgbClr val="000000"/>
                </a:solidFill>
                <a:latin typeface="Cambria Math"/>
                <a:cs typeface="Cambria Math"/>
              </a:rPr>
              <a:t> ∇</a:t>
            </a:r>
            <a:r>
              <a:rPr lang="en-US" sz="3200" b="0" i="1" dirty="0">
                <a:solidFill>
                  <a:srgbClr val="000000"/>
                </a:solidFill>
                <a:latin typeface="Cambria Math"/>
                <a:cs typeface="Cambria Math"/>
              </a:rPr>
              <a:t>L</a:t>
            </a:r>
            <a:r>
              <a:rPr lang="en-US" sz="2400" b="0" baseline="-20000" dirty="0">
                <a:solidFill>
                  <a:srgbClr val="000000"/>
                </a:solidFill>
                <a:latin typeface="Cambria Math"/>
                <a:cs typeface="Cambria Math"/>
              </a:rPr>
              <a:t>NLO</a:t>
            </a:r>
          </a:p>
        </p:txBody>
      </p:sp>
      <p:sp>
        <p:nvSpPr>
          <p:cNvPr id="13" name="!!relCap"/>
          <p:cNvSpPr/>
          <p:nvPr/>
        </p:nvSpPr>
        <p:spPr>
          <a:xfrm>
            <a:off x="609600" y="4343400"/>
            <a:ext cx="495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2200" b="0" dirty="0">
                <a:solidFill>
                  <a:srgbClr val="000000"/>
                </a:solidFill>
              </a:rPr>
              <a:t>Same direction, </a:t>
            </a:r>
            <a:r>
              <a:rPr lang="en-US" sz="2200" b="1" dirty="0">
                <a:solidFill>
                  <a:srgbClr val="C00000"/>
                </a:solidFill>
              </a:rPr>
              <a:t>different magnitude</a:t>
            </a:r>
          </a:p>
        </p:txBody>
      </p:sp>
      <p:sp>
        <p:nvSpPr>
          <p:cNvPr id="35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800" b="0" dirty="0">
                <a:solidFill>
                  <a:srgbClr val="000000"/>
                </a:solidFill>
              </a:rPr>
              <a:t>Negative log-odds keeps confident tokens in </a:t>
            </a:r>
            <a:r>
              <a:rPr lang="en-US" altLang="zh-TW" sz="2800" b="0" dirty="0">
                <a:solidFill>
                  <a:srgbClr val="000000"/>
                </a:solidFill>
              </a:rPr>
              <a:t>attribution</a:t>
            </a:r>
            <a:r>
              <a:rPr lang="en-US" sz="2800" b="0" dirty="0">
                <a:solidFill>
                  <a:srgbClr val="000000"/>
                </a:solidFill>
              </a:rPr>
              <a:t> score</a:t>
            </a:r>
          </a:p>
        </p:txBody>
      </p:sp>
      <p:sp>
        <p:nvSpPr>
          <p:cNvPr id="36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Negative log-odds </a:t>
            </a:r>
            <a:r>
              <a:rPr lang="en-US" altLang="zh-TW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is</a:t>
            </a:r>
            <a:r>
              <a:rPr lang="zh-TW" alt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used</a:t>
            </a:r>
            <a:r>
              <a:rPr lang="zh-TW" alt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dirty="0">
                <a:solidFill>
                  <a:srgbClr val="7F7F7F"/>
                </a:solidFill>
                <a:latin typeface="Helvetica Light"/>
                <a:cs typeface="Helvetica Light"/>
              </a:rPr>
              <a:t>to</a:t>
            </a:r>
            <a:r>
              <a:rPr lang="zh-TW" altLang="en-US" sz="130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dirty="0">
                <a:solidFill>
                  <a:srgbClr val="7F7F7F"/>
                </a:solidFill>
                <a:latin typeface="Helvetica Light"/>
                <a:cs typeface="Helvetica Light"/>
              </a:rPr>
              <a:t>approximate</a:t>
            </a:r>
            <a:r>
              <a:rPr lang="zh-TW" altLang="en-US" sz="130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dirty="0">
                <a:solidFill>
                  <a:srgbClr val="7F7F7F"/>
                </a:solidFill>
                <a:latin typeface="Helvetica Light"/>
                <a:cs typeface="Helvetica Light"/>
              </a:rPr>
              <a:t>CE</a:t>
            </a:r>
            <a:r>
              <a:rPr lang="zh-TW" altLang="en-US" sz="130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dirty="0">
                <a:solidFill>
                  <a:srgbClr val="7F7F7F"/>
                </a:solidFill>
                <a:latin typeface="Helvetica Light"/>
                <a:cs typeface="Helvetica Light"/>
              </a:rPr>
              <a:t>gradients</a:t>
            </a:r>
            <a:r>
              <a:rPr lang="zh-TW" altLang="en-US" sz="1300" dirty="0">
                <a:solidFill>
                  <a:srgbClr val="7F7F7F"/>
                </a:solidFill>
                <a:latin typeface="Helvetica Light"/>
                <a:cs typeface="Helvetica Light"/>
              </a:rPr>
              <a:t> </a:t>
            </a:r>
            <a:r>
              <a:rPr lang="en-US" altLang="zh-TW" sz="1300" dirty="0">
                <a:solidFill>
                  <a:srgbClr val="7F7F7F"/>
                </a:solidFill>
                <a:latin typeface="Helvetica Light"/>
                <a:cs typeface="Helvetica Light"/>
              </a:rPr>
              <a:t>in</a:t>
            </a:r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 Park et al. 2023 (TRAK</a:t>
            </a:r>
            <a:r>
              <a:rPr lang="en-US" altLang="zh-TW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)</a:t>
            </a:r>
            <a:endParaRPr lang="en-US" sz="1300" b="0" dirty="0">
              <a:solidFill>
                <a:srgbClr val="7F7F7F"/>
              </a:solidFill>
              <a:latin typeface="Helvetica Light"/>
              <a:cs typeface="Helvetica Light"/>
            </a:endParaRPr>
          </a:p>
        </p:txBody>
      </p:sp>
      <p:sp>
        <p:nvSpPr>
          <p:cNvPr id="300" name="!!vHead"/>
          <p:cNvSpPr/>
          <p:nvPr/>
        </p:nvSpPr>
        <p:spPr>
          <a:xfrm>
            <a:off x="5842000" y="1016000"/>
            <a:ext cx="574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200" b="0" dirty="0">
                <a:solidFill>
                  <a:srgbClr val="000000"/>
                </a:solidFill>
              </a:rPr>
              <a:t>Token </a:t>
            </a:r>
            <a:r>
              <a:rPr lang="en-US" altLang="zh-TW" sz="2200" b="0" dirty="0">
                <a:solidFill>
                  <a:srgbClr val="000000"/>
                </a:solidFill>
              </a:rPr>
              <a:t>contribution</a:t>
            </a:r>
            <a:r>
              <a:rPr lang="en-US" sz="2200" b="0" dirty="0">
                <a:solidFill>
                  <a:srgbClr val="000000"/>
                </a:solidFill>
                <a:latin typeface="Cambria Math"/>
                <a:cs typeface="Cambria Math"/>
              </a:rPr>
              <a:t> ⟨ </a:t>
            </a:r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H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⁻¹∇</a:t>
            </a:r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L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(</a:t>
            </a:r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q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)</a:t>
            </a:r>
            <a:r>
              <a:rPr lang="en-US" sz="2200" b="0" dirty="0">
                <a:solidFill>
                  <a:srgbClr val="000000"/>
                </a:solidFill>
                <a:latin typeface="Cambria Math"/>
                <a:cs typeface="Cambria Math"/>
              </a:rPr>
              <a:t> , ∇ℓₜ ⟩</a:t>
            </a:r>
          </a:p>
        </p:txBody>
      </p:sp>
      <p:sp>
        <p:nvSpPr>
          <p:cNvPr id="302" name="!!origin"/>
          <p:cNvSpPr/>
          <p:nvPr/>
        </p:nvSpPr>
        <p:spPr>
          <a:xfrm>
            <a:off x="6807200" y="4775200"/>
            <a:ext cx="101600" cy="1016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cxnSp>
        <p:nvCxnSpPr>
          <p:cNvPr id="303" name="!!qVec"/>
          <p:cNvCxnSpPr/>
          <p:nvPr/>
        </p:nvCxnSpPr>
        <p:spPr>
          <a:xfrm flipV="1">
            <a:off x="6858000" y="3001134"/>
            <a:ext cx="3913437" cy="1824866"/>
          </a:xfrm>
          <a:prstGeom prst="line">
            <a:avLst/>
          </a:prstGeom>
          <a:ln w="38100" cap="rnd">
            <a:solidFill>
              <a:srgbClr val="1F5FA8"/>
            </a:solidFill>
            <a:tailEnd type="triangle" w="med" len="med"/>
          </a:ln>
        </p:spPr>
      </p:cxnSp>
      <p:sp>
        <p:nvSpPr>
          <p:cNvPr id="304" name="!!qLab"/>
          <p:cNvSpPr/>
          <p:nvPr/>
        </p:nvSpPr>
        <p:spPr>
          <a:xfrm>
            <a:off x="8940800" y="24892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H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⁻¹∇</a:t>
            </a:r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L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(</a:t>
            </a:r>
            <a:r>
              <a:rPr lang="en-US" sz="2200" b="0" i="1" dirty="0">
                <a:solidFill>
                  <a:srgbClr val="1F5FA8"/>
                </a:solidFill>
                <a:latin typeface="Cambria Math"/>
                <a:cs typeface="Cambria Math"/>
              </a:rPr>
              <a:t>q</a:t>
            </a:r>
            <a:r>
              <a:rPr lang="en-US" sz="2200" b="0" dirty="0">
                <a:solidFill>
                  <a:srgbClr val="1F5FA8"/>
                </a:solidFill>
                <a:latin typeface="Cambria Math"/>
                <a:cs typeface="Cambria Math"/>
              </a:rPr>
              <a:t>)</a:t>
            </a:r>
          </a:p>
        </p:txBody>
      </p:sp>
      <p:cxnSp>
        <p:nvCxnSpPr>
          <p:cNvPr id="305" name="!!nVec"/>
          <p:cNvCxnSpPr/>
          <p:nvPr/>
        </p:nvCxnSpPr>
        <p:spPr>
          <a:xfrm flipV="1">
            <a:off x="6858000" y="2324066"/>
            <a:ext cx="1954725" cy="2501934"/>
          </a:xfrm>
          <a:prstGeom prst="line">
            <a:avLst/>
          </a:prstGeom>
          <a:ln w="38100" cap="rnd">
            <a:solidFill>
              <a:srgbClr val="196B24"/>
            </a:solidFill>
            <a:tailEnd type="triangle" w="med" len="med"/>
          </a:ln>
        </p:spPr>
      </p:cxnSp>
      <p:sp>
        <p:nvSpPr>
          <p:cNvPr id="306" name="!!nLab"/>
          <p:cNvSpPr/>
          <p:nvPr/>
        </p:nvSpPr>
        <p:spPr>
          <a:xfrm>
            <a:off x="8128000" y="18542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200" b="0" dirty="0">
                <a:solidFill>
                  <a:srgbClr val="196B24"/>
                </a:solidFill>
                <a:latin typeface="Cambria Math"/>
                <a:cs typeface="Cambria Math"/>
              </a:rPr>
              <a:t>∇ℓₜ (neg. log-odds)</a:t>
            </a:r>
          </a:p>
        </p:txBody>
      </p:sp>
      <p:cxnSp>
        <p:nvCxnSpPr>
          <p:cNvPr id="307" name="!!nPerp"/>
          <p:cNvCxnSpPr/>
          <p:nvPr/>
        </p:nvCxnSpPr>
        <p:spPr>
          <a:xfrm>
            <a:off x="8812725" y="2324066"/>
            <a:ext cx="609170" cy="1306370"/>
          </a:xfrm>
          <a:prstGeom prst="line">
            <a:avLst/>
          </a:prstGeom>
          <a:ln w="12700" cap="rnd">
            <a:solidFill>
              <a:srgbClr val="196B24"/>
            </a:solidFill>
            <a:prstDash val="dash"/>
          </a:ln>
        </p:spPr>
      </p:cxnSp>
      <p:cxnSp>
        <p:nvCxnSpPr>
          <p:cNvPr id="308" name="!!nProj"/>
          <p:cNvCxnSpPr/>
          <p:nvPr/>
        </p:nvCxnSpPr>
        <p:spPr>
          <a:xfrm flipV="1">
            <a:off x="6943876" y="3814598"/>
            <a:ext cx="2563896" cy="1195564"/>
          </a:xfrm>
          <a:prstGeom prst="line">
            <a:avLst/>
          </a:prstGeom>
          <a:ln w="76200" cap="rnd">
            <a:solidFill>
              <a:srgbClr val="196B24">
                <a:alpha val="45000"/>
              </a:srgbClr>
            </a:solidFill>
          </a:ln>
        </p:spPr>
      </p:cxnSp>
      <p:sp>
        <p:nvSpPr>
          <p:cNvPr id="309" name="!!nPL"/>
          <p:cNvSpPr/>
          <p:nvPr/>
        </p:nvSpPr>
        <p:spPr>
          <a:xfrm>
            <a:off x="8458200" y="45212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196B24"/>
                </a:solidFill>
              </a:rPr>
              <a:t>high score</a:t>
            </a:r>
          </a:p>
        </p:txBody>
      </p:sp>
      <p:cxnSp>
        <p:nvCxnSpPr>
          <p:cNvPr id="310" name="!!cVec"/>
          <p:cNvCxnSpPr/>
          <p:nvPr/>
        </p:nvCxnSpPr>
        <p:spPr>
          <a:xfrm flipV="1">
            <a:off x="6858000" y="4025381"/>
            <a:ext cx="625512" cy="800619"/>
          </a:xfrm>
          <a:prstGeom prst="line">
            <a:avLst/>
          </a:prstGeom>
          <a:ln w="38100" cap="rnd">
            <a:solidFill>
              <a:srgbClr val="C00000"/>
            </a:solidFill>
            <a:tailEnd type="triangle" w="med" len="med"/>
          </a:ln>
        </p:spPr>
      </p:cxnSp>
      <p:sp>
        <p:nvSpPr>
          <p:cNvPr id="311" name="!!cLab"/>
          <p:cNvSpPr/>
          <p:nvPr/>
        </p:nvSpPr>
        <p:spPr>
          <a:xfrm>
            <a:off x="5689600" y="37592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2200" b="0" dirty="0">
                <a:solidFill>
                  <a:srgbClr val="C00000"/>
                </a:solidFill>
                <a:latin typeface="Cambria Math"/>
                <a:cs typeface="Cambria Math"/>
              </a:rPr>
              <a:t>∇ℓₜ (CE)</a:t>
            </a:r>
          </a:p>
        </p:txBody>
      </p:sp>
      <p:cxnSp>
        <p:nvCxnSpPr>
          <p:cNvPr id="312" name="!!cPerp"/>
          <p:cNvCxnSpPr/>
          <p:nvPr/>
        </p:nvCxnSpPr>
        <p:spPr>
          <a:xfrm>
            <a:off x="7483512" y="4025381"/>
            <a:ext cx="194935" cy="418038"/>
          </a:xfrm>
          <a:prstGeom prst="line">
            <a:avLst/>
          </a:prstGeom>
          <a:ln w="12700" cap="rnd">
            <a:solidFill>
              <a:srgbClr val="C00000"/>
            </a:solidFill>
            <a:prstDash val="dash"/>
          </a:ln>
        </p:spPr>
      </p:cxnSp>
      <p:cxnSp>
        <p:nvCxnSpPr>
          <p:cNvPr id="313" name="!!cProj"/>
          <p:cNvCxnSpPr/>
          <p:nvPr/>
        </p:nvCxnSpPr>
        <p:spPr>
          <a:xfrm flipV="1">
            <a:off x="7029752" y="4811743"/>
            <a:ext cx="820447" cy="382581"/>
          </a:xfrm>
          <a:prstGeom prst="line">
            <a:avLst/>
          </a:prstGeom>
          <a:ln w="76200" cap="rnd">
            <a:solidFill>
              <a:srgbClr val="C00000">
                <a:alpha val="55000"/>
              </a:srgbClr>
            </a:solidFill>
          </a:ln>
        </p:spPr>
      </p:cxnSp>
      <p:sp>
        <p:nvSpPr>
          <p:cNvPr id="314" name="!!cPL"/>
          <p:cNvSpPr/>
          <p:nvPr/>
        </p:nvSpPr>
        <p:spPr>
          <a:xfrm>
            <a:off x="7975600" y="48514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C00000"/>
                </a:solidFill>
              </a:rPr>
              <a:t>scaled by </a:t>
            </a:r>
            <a:r>
              <a:rPr lang="en-US" sz="2000" b="0" dirty="0">
                <a:solidFill>
                  <a:srgbClr val="C00000"/>
                </a:solidFill>
                <a:latin typeface="Cambria Math"/>
                <a:cs typeface="Cambria Math"/>
              </a:rPr>
              <a:t>1 − </a:t>
            </a:r>
            <a:r>
              <a:rPr lang="en-US" sz="2000" b="0" i="1" dirty="0">
                <a:solidFill>
                  <a:srgbClr val="C00000"/>
                </a:solidFill>
                <a:latin typeface="Cambria Math"/>
                <a:cs typeface="Cambria Math"/>
              </a:rPr>
              <a:t>p</a:t>
            </a:r>
            <a:r>
              <a:rPr lang="en-US" sz="2000" b="0" dirty="0">
                <a:solidFill>
                  <a:srgbClr val="C00000"/>
                </a:solidFill>
                <a:latin typeface="Cambria Math"/>
                <a:cs typeface="Cambria Math"/>
              </a:rPr>
              <a:t> → 0</a:t>
            </a:r>
          </a:p>
        </p:txBody>
      </p:sp>
    </p:spTree>
    <p:extLst>
      <p:ext uri="{BB962C8B-B14F-4D97-AF65-F5344CB8AC3E}">
        <p14:creationId xmlns:p14="http://schemas.microsoft.com/office/powerpoint/2010/main" val="3270487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6" grpId="0" animBg="1"/>
      <p:bldP spid="315" grpId="0" animBg="1"/>
      <p:bldP spid="11" grpId="0" animBg="1"/>
      <p:bldP spid="12" grpId="0" animBg="1"/>
      <p:bldP spid="13" grpId="0" animBg="1"/>
      <p:bldP spid="35" grpId="0" animBg="1"/>
      <p:bldP spid="300" grpId="0" animBg="1"/>
      <p:bldP spid="302" grpId="0" animBg="1"/>
      <p:bldP spid="304" grpId="0" animBg="1"/>
      <p:bldP spid="306" grpId="0" animBg="1"/>
      <p:bldP spid="309" grpId="0" animBg="1"/>
      <p:bldP spid="311" grpId="0" animBg="1"/>
      <p:bldP spid="3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2B29C244-9879-82C4-36C4-C8999B2C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Attribution</a:t>
            </a:r>
            <a:r>
              <a:rPr lang="zh-TW" altLang="en-US" dirty="0"/>
              <a:t> </a:t>
            </a:r>
            <a:r>
              <a:rPr lang="en-US" altLang="zh-TW" dirty="0"/>
              <a:t>score</a:t>
            </a:r>
            <a:r>
              <a:rPr lang="zh-TW" altLang="en-US" dirty="0"/>
              <a:t> </a:t>
            </a:r>
            <a:r>
              <a:rPr lang="en-US" altLang="zh-TW" dirty="0"/>
              <a:t>distribution</a:t>
            </a:r>
            <a:endParaRPr lang="en-US" dirty="0"/>
          </a:p>
        </p:txBody>
      </p:sp>
      <p:sp>
        <p:nvSpPr>
          <p:cNvPr id="10" name="!!hLabel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Cross-entropy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all tokens</a:t>
            </a:r>
          </a:p>
        </p:txBody>
      </p:sp>
      <p:sp>
        <p:nvSpPr>
          <p:cNvPr id="109" name="!!hLabelNext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Neg. log-odds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all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000000"/>
                </a:solidFill>
                <a:latin typeface="Helvetica"/>
                <a:cs typeface="Helvetica"/>
              </a:rPr>
              <a:t>0.01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42536"/>
            <a:ext cx="205014" cy="2946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27804"/>
            <a:ext cx="205014" cy="4419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13072"/>
            <a:ext cx="205014" cy="5892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424680"/>
            <a:ext cx="205014" cy="14732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373118"/>
            <a:ext cx="205014" cy="19888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343654"/>
            <a:ext cx="205014" cy="22834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299458"/>
            <a:ext cx="205014" cy="27254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4188968"/>
            <a:ext cx="205014" cy="3830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3909060"/>
            <a:ext cx="205014" cy="66294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3415538"/>
            <a:ext cx="205014" cy="11564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3201924"/>
            <a:ext cx="205014" cy="13700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570224"/>
            <a:ext cx="205014" cy="10017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997452"/>
            <a:ext cx="205014" cy="57454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4255262"/>
            <a:ext cx="205014" cy="31673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4358386"/>
            <a:ext cx="205014" cy="21361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395216"/>
            <a:ext cx="205014" cy="17678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402582"/>
            <a:ext cx="205014" cy="16941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417314"/>
            <a:ext cx="205014" cy="15468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432046"/>
            <a:ext cx="205014" cy="13995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454144"/>
            <a:ext cx="205014" cy="11785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498340"/>
            <a:ext cx="205014" cy="7366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20438"/>
            <a:ext cx="205014" cy="5156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35170"/>
            <a:ext cx="205014" cy="3683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476242"/>
            <a:ext cx="205014" cy="9575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483608"/>
            <a:ext cx="205014" cy="883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351020"/>
            <a:ext cx="205014" cy="22098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284726"/>
            <a:ext cx="205014" cy="28727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063746"/>
            <a:ext cx="205014" cy="50825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3857498"/>
            <a:ext cx="205014" cy="71450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3599688"/>
            <a:ext cx="205014" cy="9723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3496564"/>
            <a:ext cx="205014" cy="107543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3592322"/>
            <a:ext cx="205014" cy="9796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3747008"/>
            <a:ext cx="205014" cy="8249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3909060"/>
            <a:ext cx="205014" cy="66294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4152138"/>
            <a:ext cx="205014" cy="4198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4188968"/>
            <a:ext cx="205014" cy="3830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4328922"/>
            <a:ext cx="205014" cy="24307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4402582"/>
            <a:ext cx="205014" cy="16941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4454144"/>
            <a:ext cx="205014" cy="11785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4461510"/>
            <a:ext cx="205014" cy="11049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4513072"/>
            <a:ext cx="205014" cy="5892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4520438"/>
            <a:ext cx="205014" cy="515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</p:spTree>
    <p:extLst>
      <p:ext uri="{BB962C8B-B14F-4D97-AF65-F5344CB8AC3E}">
        <p14:creationId xmlns:p14="http://schemas.microsoft.com/office/powerpoint/2010/main" val="30784776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91F07C9E-C8C4-5137-EBDA-2ED88CF7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Attribution</a:t>
            </a:r>
            <a:r>
              <a:rPr lang="zh-TW" altLang="en-US" dirty="0"/>
              <a:t> </a:t>
            </a:r>
            <a:r>
              <a:rPr lang="en-US" altLang="zh-TW" dirty="0"/>
              <a:t>score</a:t>
            </a:r>
            <a:r>
              <a:rPr lang="zh-TW" altLang="en-US" dirty="0"/>
              <a:t> </a:t>
            </a:r>
            <a:r>
              <a:rPr lang="en-US" altLang="zh-TW" dirty="0"/>
              <a:t>distribution</a:t>
            </a:r>
            <a:endParaRPr lang="en-US" dirty="0"/>
          </a:p>
        </p:txBody>
      </p:sp>
      <p:sp>
        <p:nvSpPr>
          <p:cNvPr id="10" name="!!hLabelNext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Neg. log-odds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all tokens</a:t>
            </a:r>
          </a:p>
        </p:txBody>
      </p:sp>
      <p:sp>
        <p:nvSpPr>
          <p:cNvPr id="109" name="!!hLabelNext2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Neg. log-odds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top-10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000000"/>
                </a:solidFill>
                <a:latin typeface="Helvetica"/>
                <a:cs typeface="Helvetica"/>
              </a:rPr>
              <a:t>0.40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527804"/>
            <a:ext cx="205014" cy="4419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490974"/>
            <a:ext cx="205014" cy="8102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461510"/>
            <a:ext cx="205014" cy="11049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387850"/>
            <a:ext cx="205014" cy="18415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284726"/>
            <a:ext cx="205014" cy="28727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174236"/>
            <a:ext cx="205014" cy="39776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3975354"/>
            <a:ext cx="205014" cy="59664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3695446"/>
            <a:ext cx="205014" cy="87655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3489198"/>
            <a:ext cx="205014" cy="108280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3157728"/>
            <a:ext cx="205014" cy="141427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334512"/>
            <a:ext cx="205014" cy="123748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886962"/>
            <a:ext cx="205014" cy="68503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4166870"/>
            <a:ext cx="205014" cy="40513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4321556"/>
            <a:ext cx="205014" cy="25044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402582"/>
            <a:ext cx="205014" cy="16941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461510"/>
            <a:ext cx="205014" cy="11049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483608"/>
            <a:ext cx="205014" cy="8839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505706"/>
            <a:ext cx="205014" cy="66294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527804"/>
            <a:ext cx="205014" cy="4419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549902"/>
            <a:ext cx="205014" cy="220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64634"/>
            <a:ext cx="205014" cy="73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4564634"/>
            <a:ext cx="205014" cy="73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4498340"/>
            <a:ext cx="205014" cy="7366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4365752"/>
            <a:ext cx="205014" cy="20624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4336288"/>
            <a:ext cx="205014" cy="2357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4240530"/>
            <a:ext cx="205014" cy="33147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4019550"/>
            <a:ext cx="205014" cy="55245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3842766"/>
            <a:ext cx="205014" cy="72923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3842766"/>
            <a:ext cx="205014" cy="72923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3820668"/>
            <a:ext cx="205014" cy="7513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3747008"/>
            <a:ext cx="205014" cy="82499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3828034"/>
            <a:ext cx="205014" cy="7439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3791204"/>
            <a:ext cx="205014" cy="78079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3828034"/>
            <a:ext cx="205014" cy="74396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3967988"/>
            <a:ext cx="205014" cy="60401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4152138"/>
            <a:ext cx="205014" cy="41986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4351020"/>
            <a:ext cx="205014" cy="22098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4424680"/>
            <a:ext cx="205014" cy="14732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4513072"/>
            <a:ext cx="205014" cy="5892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</p:spTree>
    <p:extLst>
      <p:ext uri="{BB962C8B-B14F-4D97-AF65-F5344CB8AC3E}">
        <p14:creationId xmlns:p14="http://schemas.microsoft.com/office/powerpoint/2010/main" val="184704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9" grpId="0" animBg="1"/>
      <p:bldP spid="11" grpId="0" animBg="1"/>
      <p:bldP spid="1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1B14BA41-E4ED-6949-2729-05C3B0ED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Attribution</a:t>
            </a:r>
            <a:r>
              <a:rPr lang="zh-TW" altLang="en-US" dirty="0"/>
              <a:t> </a:t>
            </a:r>
            <a:r>
              <a:rPr lang="en-US" altLang="zh-TW" dirty="0"/>
              <a:t>score</a:t>
            </a:r>
            <a:r>
              <a:rPr lang="zh-TW" altLang="en-US" dirty="0"/>
              <a:t> </a:t>
            </a:r>
            <a:r>
              <a:rPr lang="en-US" altLang="zh-TW" dirty="0"/>
              <a:t>distribution</a:t>
            </a:r>
            <a:endParaRPr lang="en-US" dirty="0"/>
          </a:p>
        </p:txBody>
      </p:sp>
      <p:sp>
        <p:nvSpPr>
          <p:cNvPr id="10" name="!!hLabelNext2"/>
          <p:cNvSpPr/>
          <p:nvPr/>
        </p:nvSpPr>
        <p:spPr>
          <a:xfrm>
            <a:off x="609600" y="91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5FA8"/>
                </a:solidFill>
                <a:latin typeface="Helvetica"/>
                <a:cs typeface="Helvetica"/>
              </a:rPr>
              <a:t>Neg. log-odds</a:t>
            </a:r>
            <a:r>
              <a:rPr lang="en-US" sz="2800" b="0" dirty="0">
                <a:solidFill>
                  <a:srgbClr val="A6A6A6"/>
                </a:solidFill>
                <a:latin typeface="Helvetica"/>
                <a:cs typeface="Helvetica"/>
              </a:rPr>
              <a:t>  ·  </a:t>
            </a:r>
            <a:r>
              <a:rPr lang="en-US" sz="2800" b="1" dirty="0">
                <a:solidFill>
                  <a:srgbClr val="7030A0"/>
                </a:solidFill>
                <a:latin typeface="Helvetica"/>
                <a:cs typeface="Helvetica"/>
              </a:rPr>
              <a:t>top-10 tokens</a:t>
            </a:r>
          </a:p>
        </p:txBody>
      </p:sp>
      <p:sp>
        <p:nvSpPr>
          <p:cNvPr id="11" name="!!hRecall"/>
          <p:cNvSpPr/>
          <p:nvPr/>
        </p:nvSpPr>
        <p:spPr>
          <a:xfrm>
            <a:off x="1524000" y="1600200"/>
            <a:ext cx="2921000" cy="7366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0" dirty="0">
                <a:solidFill>
                  <a:srgbClr val="404040"/>
                </a:solidFill>
                <a:latin typeface="Helvetica"/>
                <a:cs typeface="Helvetica"/>
              </a:rPr>
              <a:t>Recall@N  </a:t>
            </a:r>
            <a:r>
              <a:rPr lang="en-US" sz="3600" b="1" dirty="0">
                <a:solidFill>
                  <a:srgbClr val="C00000"/>
                </a:solidFill>
                <a:latin typeface="Helvetica"/>
                <a:cs typeface="Helvetica"/>
              </a:rPr>
              <a:t>1.00</a:t>
            </a:r>
          </a:p>
        </p:txBody>
      </p:sp>
      <p:sp>
        <p:nvSpPr>
          <p:cNvPr id="12" name="!!legR"/>
          <p:cNvSpPr/>
          <p:nvPr/>
        </p:nvSpPr>
        <p:spPr>
          <a:xfrm>
            <a:off x="7620000" y="2108200"/>
            <a:ext cx="228600" cy="228600"/>
          </a:xfrm>
          <a:prstGeom prst="rect">
            <a:avLst/>
          </a:prstGeom>
          <a:solidFill>
            <a:srgbClr val="D62629">
              <a:alpha val="7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3" name="!!legRt"/>
          <p:cNvSpPr/>
          <p:nvPr/>
        </p:nvSpPr>
        <p:spPr>
          <a:xfrm>
            <a:off x="7950200" y="2006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ground-truth docs</a:t>
            </a:r>
          </a:p>
        </p:txBody>
      </p:sp>
      <p:sp>
        <p:nvSpPr>
          <p:cNvPr id="14" name="!!legG"/>
          <p:cNvSpPr/>
          <p:nvPr/>
        </p:nvSpPr>
        <p:spPr>
          <a:xfrm>
            <a:off x="7620000" y="1727200"/>
            <a:ext cx="228600" cy="228600"/>
          </a:xfrm>
          <a:prstGeom prst="rect">
            <a:avLst/>
          </a:prstGeom>
          <a:solidFill>
            <a:srgbClr val="7F7F7F">
              <a:alpha val="60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5" name="!!legGt"/>
          <p:cNvSpPr/>
          <p:nvPr/>
        </p:nvSpPr>
        <p:spPr>
          <a:xfrm>
            <a:off x="7950200" y="16256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other docs</a:t>
            </a:r>
          </a:p>
        </p:txBody>
      </p:sp>
      <p:sp>
        <p:nvSpPr>
          <p:cNvPr id="16" name="!!hg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" name="!!hg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8" name="!!hg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9" name="!!hg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0" name="!!hg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1" name="!!hg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2" name="!!hg6"/>
          <p:cNvSpPr/>
          <p:nvPr/>
        </p:nvSpPr>
        <p:spPr>
          <a:xfrm>
            <a:off x="283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3" name="!!hg7"/>
          <p:cNvSpPr/>
          <p:nvPr/>
        </p:nvSpPr>
        <p:spPr>
          <a:xfrm>
            <a:off x="3054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4" name="!!hg8"/>
          <p:cNvSpPr/>
          <p:nvPr/>
        </p:nvSpPr>
        <p:spPr>
          <a:xfrm>
            <a:off x="3272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5" name="!!hg9"/>
          <p:cNvSpPr/>
          <p:nvPr/>
        </p:nvSpPr>
        <p:spPr>
          <a:xfrm>
            <a:off x="3489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6" name="!!hg10"/>
          <p:cNvSpPr/>
          <p:nvPr/>
        </p:nvSpPr>
        <p:spPr>
          <a:xfrm>
            <a:off x="3707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7" name="!!hg11"/>
          <p:cNvSpPr/>
          <p:nvPr/>
        </p:nvSpPr>
        <p:spPr>
          <a:xfrm>
            <a:off x="3925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8" name="!!hg12"/>
          <p:cNvSpPr/>
          <p:nvPr/>
        </p:nvSpPr>
        <p:spPr>
          <a:xfrm>
            <a:off x="4142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29" name="!!hg13"/>
          <p:cNvSpPr/>
          <p:nvPr/>
        </p:nvSpPr>
        <p:spPr>
          <a:xfrm>
            <a:off x="4360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0" name="!!hg14"/>
          <p:cNvSpPr/>
          <p:nvPr/>
        </p:nvSpPr>
        <p:spPr>
          <a:xfrm>
            <a:off x="4578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1" name="!!hg15"/>
          <p:cNvSpPr/>
          <p:nvPr/>
        </p:nvSpPr>
        <p:spPr>
          <a:xfrm>
            <a:off x="4796064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2" name="!!hg16"/>
          <p:cNvSpPr/>
          <p:nvPr/>
        </p:nvSpPr>
        <p:spPr>
          <a:xfrm>
            <a:off x="5013779" y="3459734"/>
            <a:ext cx="205014" cy="111226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3" name="!!hg17"/>
          <p:cNvSpPr/>
          <p:nvPr/>
        </p:nvSpPr>
        <p:spPr>
          <a:xfrm>
            <a:off x="5231493" y="1795018"/>
            <a:ext cx="205014" cy="277698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4" name="!!hg18"/>
          <p:cNvSpPr/>
          <p:nvPr/>
        </p:nvSpPr>
        <p:spPr>
          <a:xfrm>
            <a:off x="5449207" y="4144772"/>
            <a:ext cx="205014" cy="42722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5" name="!!hg19"/>
          <p:cNvSpPr/>
          <p:nvPr/>
        </p:nvSpPr>
        <p:spPr>
          <a:xfrm>
            <a:off x="5666921" y="3894328"/>
            <a:ext cx="205014" cy="67767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6" name="!!hg20"/>
          <p:cNvSpPr/>
          <p:nvPr/>
        </p:nvSpPr>
        <p:spPr>
          <a:xfrm>
            <a:off x="5884636" y="3445002"/>
            <a:ext cx="205014" cy="112699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7" name="!!hg21"/>
          <p:cNvSpPr/>
          <p:nvPr/>
        </p:nvSpPr>
        <p:spPr>
          <a:xfrm>
            <a:off x="6102350" y="3481832"/>
            <a:ext cx="205014" cy="109016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8" name="!!hg22"/>
          <p:cNvSpPr/>
          <p:nvPr/>
        </p:nvSpPr>
        <p:spPr>
          <a:xfrm>
            <a:off x="6320064" y="3923792"/>
            <a:ext cx="205014" cy="648208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39" name="!!hg23"/>
          <p:cNvSpPr/>
          <p:nvPr/>
        </p:nvSpPr>
        <p:spPr>
          <a:xfrm>
            <a:off x="6537779" y="4306824"/>
            <a:ext cx="205014" cy="265176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0" name="!!hg24"/>
          <p:cNvSpPr/>
          <p:nvPr/>
        </p:nvSpPr>
        <p:spPr>
          <a:xfrm>
            <a:off x="6755493" y="4498340"/>
            <a:ext cx="205014" cy="7366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1" name="!!hg25"/>
          <p:cNvSpPr/>
          <p:nvPr/>
        </p:nvSpPr>
        <p:spPr>
          <a:xfrm>
            <a:off x="6973207" y="4557268"/>
            <a:ext cx="205014" cy="14732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2" name="!!hg26"/>
          <p:cNvSpPr/>
          <p:nvPr/>
        </p:nvSpPr>
        <p:spPr>
          <a:xfrm>
            <a:off x="7190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3" name="!!hg27"/>
          <p:cNvSpPr/>
          <p:nvPr/>
        </p:nvSpPr>
        <p:spPr>
          <a:xfrm>
            <a:off x="7408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4" name="!!hg28"/>
          <p:cNvSpPr/>
          <p:nvPr/>
        </p:nvSpPr>
        <p:spPr>
          <a:xfrm>
            <a:off x="7626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5" name="!!hg29"/>
          <p:cNvSpPr/>
          <p:nvPr/>
        </p:nvSpPr>
        <p:spPr>
          <a:xfrm>
            <a:off x="7844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6" name="!!hg30"/>
          <p:cNvSpPr/>
          <p:nvPr/>
        </p:nvSpPr>
        <p:spPr>
          <a:xfrm>
            <a:off x="8061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7" name="!!hg31"/>
          <p:cNvSpPr/>
          <p:nvPr/>
        </p:nvSpPr>
        <p:spPr>
          <a:xfrm>
            <a:off x="8279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8" name="!!hg32"/>
          <p:cNvSpPr/>
          <p:nvPr/>
        </p:nvSpPr>
        <p:spPr>
          <a:xfrm>
            <a:off x="8497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49" name="!!hg33"/>
          <p:cNvSpPr/>
          <p:nvPr/>
        </p:nvSpPr>
        <p:spPr>
          <a:xfrm>
            <a:off x="8714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0" name="!!hg34"/>
          <p:cNvSpPr/>
          <p:nvPr/>
        </p:nvSpPr>
        <p:spPr>
          <a:xfrm>
            <a:off x="8932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1" name="!!hg35"/>
          <p:cNvSpPr/>
          <p:nvPr/>
        </p:nvSpPr>
        <p:spPr>
          <a:xfrm>
            <a:off x="9150350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2" name="!!hg36"/>
          <p:cNvSpPr/>
          <p:nvPr/>
        </p:nvSpPr>
        <p:spPr>
          <a:xfrm>
            <a:off x="9368064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3" name="!!hg37"/>
          <p:cNvSpPr/>
          <p:nvPr/>
        </p:nvSpPr>
        <p:spPr>
          <a:xfrm>
            <a:off x="9585779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4" name="!!hg38"/>
          <p:cNvSpPr/>
          <p:nvPr/>
        </p:nvSpPr>
        <p:spPr>
          <a:xfrm>
            <a:off x="9803493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5" name="!!hg39"/>
          <p:cNvSpPr/>
          <p:nvPr/>
        </p:nvSpPr>
        <p:spPr>
          <a:xfrm>
            <a:off x="10021207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6" name="!!hg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7" name="!!hg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8" name="!!hr0"/>
          <p:cNvSpPr/>
          <p:nvPr/>
        </p:nvSpPr>
        <p:spPr>
          <a:xfrm>
            <a:off x="1530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59" name="!!hr1"/>
          <p:cNvSpPr/>
          <p:nvPr/>
        </p:nvSpPr>
        <p:spPr>
          <a:xfrm>
            <a:off x="1748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0" name="!!hr2"/>
          <p:cNvSpPr/>
          <p:nvPr/>
        </p:nvSpPr>
        <p:spPr>
          <a:xfrm>
            <a:off x="1965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!!hr3"/>
          <p:cNvSpPr/>
          <p:nvPr/>
        </p:nvSpPr>
        <p:spPr>
          <a:xfrm>
            <a:off x="2183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2" name="!!hr4"/>
          <p:cNvSpPr/>
          <p:nvPr/>
        </p:nvSpPr>
        <p:spPr>
          <a:xfrm>
            <a:off x="2401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3" name="!!hr5"/>
          <p:cNvSpPr/>
          <p:nvPr/>
        </p:nvSpPr>
        <p:spPr>
          <a:xfrm>
            <a:off x="261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4" name="!!hr6"/>
          <p:cNvSpPr/>
          <p:nvPr/>
        </p:nvSpPr>
        <p:spPr>
          <a:xfrm>
            <a:off x="283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5" name="!!hr7"/>
          <p:cNvSpPr/>
          <p:nvPr/>
        </p:nvSpPr>
        <p:spPr>
          <a:xfrm>
            <a:off x="3054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6" name="!!hr8"/>
          <p:cNvSpPr/>
          <p:nvPr/>
        </p:nvSpPr>
        <p:spPr>
          <a:xfrm>
            <a:off x="3272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7" name="!!hr9"/>
          <p:cNvSpPr/>
          <p:nvPr/>
        </p:nvSpPr>
        <p:spPr>
          <a:xfrm>
            <a:off x="3489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8" name="!!hr10"/>
          <p:cNvSpPr/>
          <p:nvPr/>
        </p:nvSpPr>
        <p:spPr>
          <a:xfrm>
            <a:off x="3707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9" name="!!hr11"/>
          <p:cNvSpPr/>
          <p:nvPr/>
        </p:nvSpPr>
        <p:spPr>
          <a:xfrm>
            <a:off x="3925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0" name="!!hr12"/>
          <p:cNvSpPr/>
          <p:nvPr/>
        </p:nvSpPr>
        <p:spPr>
          <a:xfrm>
            <a:off x="4142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1" name="!!hr13"/>
          <p:cNvSpPr/>
          <p:nvPr/>
        </p:nvSpPr>
        <p:spPr>
          <a:xfrm>
            <a:off x="4360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2" name="!!hr14"/>
          <p:cNvSpPr/>
          <p:nvPr/>
        </p:nvSpPr>
        <p:spPr>
          <a:xfrm>
            <a:off x="4578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3" name="!!hr15"/>
          <p:cNvSpPr/>
          <p:nvPr/>
        </p:nvSpPr>
        <p:spPr>
          <a:xfrm>
            <a:off x="4796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4" name="!!hr16"/>
          <p:cNvSpPr/>
          <p:nvPr/>
        </p:nvSpPr>
        <p:spPr>
          <a:xfrm>
            <a:off x="5013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5" name="!!hr17"/>
          <p:cNvSpPr/>
          <p:nvPr/>
        </p:nvSpPr>
        <p:spPr>
          <a:xfrm>
            <a:off x="5231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6" name="!!hr18"/>
          <p:cNvSpPr/>
          <p:nvPr/>
        </p:nvSpPr>
        <p:spPr>
          <a:xfrm>
            <a:off x="5449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7" name="!!hr19"/>
          <p:cNvSpPr/>
          <p:nvPr/>
        </p:nvSpPr>
        <p:spPr>
          <a:xfrm>
            <a:off x="5666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8" name="!!hr20"/>
          <p:cNvSpPr/>
          <p:nvPr/>
        </p:nvSpPr>
        <p:spPr>
          <a:xfrm>
            <a:off x="5884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79" name="!!hr21"/>
          <p:cNvSpPr/>
          <p:nvPr/>
        </p:nvSpPr>
        <p:spPr>
          <a:xfrm>
            <a:off x="6102350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0" name="!!hr22"/>
          <p:cNvSpPr/>
          <p:nvPr/>
        </p:nvSpPr>
        <p:spPr>
          <a:xfrm>
            <a:off x="6320064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1" name="!!hr23"/>
          <p:cNvSpPr/>
          <p:nvPr/>
        </p:nvSpPr>
        <p:spPr>
          <a:xfrm>
            <a:off x="6537779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2" name="!!hr24"/>
          <p:cNvSpPr/>
          <p:nvPr/>
        </p:nvSpPr>
        <p:spPr>
          <a:xfrm>
            <a:off x="6755493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3" name="!!hr25"/>
          <p:cNvSpPr/>
          <p:nvPr/>
        </p:nvSpPr>
        <p:spPr>
          <a:xfrm>
            <a:off x="6973207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4" name="!!hr26"/>
          <p:cNvSpPr/>
          <p:nvPr/>
        </p:nvSpPr>
        <p:spPr>
          <a:xfrm>
            <a:off x="7190921" y="4549902"/>
            <a:ext cx="205014" cy="2209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5" name="!!hr27"/>
          <p:cNvSpPr/>
          <p:nvPr/>
        </p:nvSpPr>
        <p:spPr>
          <a:xfrm>
            <a:off x="7408636" y="4476242"/>
            <a:ext cx="205014" cy="9575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6" name="!!hr28"/>
          <p:cNvSpPr/>
          <p:nvPr/>
        </p:nvSpPr>
        <p:spPr>
          <a:xfrm>
            <a:off x="7626350" y="4247896"/>
            <a:ext cx="205014" cy="32410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7" name="!!hr29"/>
          <p:cNvSpPr/>
          <p:nvPr/>
        </p:nvSpPr>
        <p:spPr>
          <a:xfrm>
            <a:off x="7844064" y="4071112"/>
            <a:ext cx="205014" cy="50088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8" name="!!hr30"/>
          <p:cNvSpPr/>
          <p:nvPr/>
        </p:nvSpPr>
        <p:spPr>
          <a:xfrm>
            <a:off x="8061779" y="3798570"/>
            <a:ext cx="205014" cy="77343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89" name="!!hr31"/>
          <p:cNvSpPr/>
          <p:nvPr/>
        </p:nvSpPr>
        <p:spPr>
          <a:xfrm>
            <a:off x="8279493" y="3135630"/>
            <a:ext cx="205014" cy="143637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0" name="!!hr32"/>
          <p:cNvSpPr/>
          <p:nvPr/>
        </p:nvSpPr>
        <p:spPr>
          <a:xfrm>
            <a:off x="8497207" y="3113532"/>
            <a:ext cx="205014" cy="145846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1" name="!!hr33"/>
          <p:cNvSpPr/>
          <p:nvPr/>
        </p:nvSpPr>
        <p:spPr>
          <a:xfrm>
            <a:off x="8714921" y="3238754"/>
            <a:ext cx="205014" cy="133324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2" name="!!hr34"/>
          <p:cNvSpPr/>
          <p:nvPr/>
        </p:nvSpPr>
        <p:spPr>
          <a:xfrm>
            <a:off x="8932636" y="3496564"/>
            <a:ext cx="205014" cy="107543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3" name="!!hr35"/>
          <p:cNvSpPr/>
          <p:nvPr/>
        </p:nvSpPr>
        <p:spPr>
          <a:xfrm>
            <a:off x="9150350" y="3923792"/>
            <a:ext cx="205014" cy="648208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4" name="!!hr36"/>
          <p:cNvSpPr/>
          <p:nvPr/>
        </p:nvSpPr>
        <p:spPr>
          <a:xfrm>
            <a:off x="9368064" y="4247896"/>
            <a:ext cx="205014" cy="324104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5" name="!!hr37"/>
          <p:cNvSpPr/>
          <p:nvPr/>
        </p:nvSpPr>
        <p:spPr>
          <a:xfrm>
            <a:off x="9585779" y="4417314"/>
            <a:ext cx="205014" cy="154686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6" name="!!hr38"/>
          <p:cNvSpPr/>
          <p:nvPr/>
        </p:nvSpPr>
        <p:spPr>
          <a:xfrm>
            <a:off x="9803493" y="4498340"/>
            <a:ext cx="205014" cy="7366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7" name="!!hr39"/>
          <p:cNvSpPr/>
          <p:nvPr/>
        </p:nvSpPr>
        <p:spPr>
          <a:xfrm>
            <a:off x="10021207" y="4557268"/>
            <a:ext cx="205014" cy="14732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8" name="!!hr40"/>
          <p:cNvSpPr/>
          <p:nvPr/>
        </p:nvSpPr>
        <p:spPr>
          <a:xfrm>
            <a:off x="10238921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99" name="!!hr41"/>
          <p:cNvSpPr/>
          <p:nvPr/>
        </p:nvSpPr>
        <p:spPr>
          <a:xfrm>
            <a:off x="10456636" y="4568190"/>
            <a:ext cx="205014" cy="3810"/>
          </a:xfrm>
          <a:prstGeom prst="rect">
            <a:avLst/>
          </a:prstGeom>
          <a:solidFill>
            <a:srgbClr val="D62629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0" name="!!axis"/>
          <p:cNvSpPr/>
          <p:nvPr/>
        </p:nvSpPr>
        <p:spPr>
          <a:xfrm>
            <a:off x="1524000" y="4572000"/>
            <a:ext cx="9144000" cy="1905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1" name="!!tick-10"/>
          <p:cNvSpPr/>
          <p:nvPr/>
        </p:nvSpPr>
        <p:spPr>
          <a:xfrm>
            <a:off x="160788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2" name="!!tl-10"/>
          <p:cNvSpPr/>
          <p:nvPr/>
        </p:nvSpPr>
        <p:spPr>
          <a:xfrm>
            <a:off x="123640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−10</a:t>
            </a:r>
          </a:p>
        </p:txBody>
      </p:sp>
      <p:sp>
        <p:nvSpPr>
          <p:cNvPr id="103" name="!!tick0"/>
          <p:cNvSpPr/>
          <p:nvPr/>
        </p:nvSpPr>
        <p:spPr>
          <a:xfrm>
            <a:off x="5499806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4" name="!!tl0"/>
          <p:cNvSpPr/>
          <p:nvPr/>
        </p:nvSpPr>
        <p:spPr>
          <a:xfrm>
            <a:off x="5128331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105" name="!!tick10"/>
          <p:cNvSpPr/>
          <p:nvPr/>
        </p:nvSpPr>
        <p:spPr>
          <a:xfrm>
            <a:off x="9391731" y="4572000"/>
            <a:ext cx="19050" cy="635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6" name="!!tl10"/>
          <p:cNvSpPr/>
          <p:nvPr/>
        </p:nvSpPr>
        <p:spPr>
          <a:xfrm>
            <a:off x="9020256" y="4648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7" name="!!xcap"/>
          <p:cNvSpPr/>
          <p:nvPr/>
        </p:nvSpPr>
        <p:spPr>
          <a:xfrm>
            <a:off x="1524000" y="4927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0" dirty="0">
                <a:solidFill>
                  <a:srgbClr val="000000"/>
                </a:solidFill>
              </a:rPr>
              <a:t>Document attribution score (z)</a:t>
            </a:r>
          </a:p>
        </p:txBody>
      </p:sp>
      <p:sp>
        <p:nvSpPr>
          <p:cNvPr id="108" name="!!src"/>
          <p:cNvSpPr/>
          <p:nvPr/>
        </p:nvSpPr>
        <p:spPr>
          <a:xfrm>
            <a:off x="609600" y="642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7F7F7F"/>
                </a:solidFill>
                <a:latin typeface="Helvetica Light"/>
                <a:cs typeface="Helvetica Light"/>
              </a:rPr>
              <a:t>Grad-Dot · Function Bindings + distractors · N = 50, |F| = 50</a:t>
            </a:r>
          </a:p>
        </p:txBody>
      </p:sp>
      <p:sp>
        <p:nvSpPr>
          <p:cNvPr id="900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TW" sz="3200" dirty="0">
                <a:solidFill>
                  <a:srgbClr val="000000"/>
                </a:solidFill>
              </a:rPr>
              <a:t>l</a:t>
            </a:r>
            <a:r>
              <a:rPr lang="en-US" altLang="zh-TW" sz="3200" b="0" dirty="0">
                <a:solidFill>
                  <a:srgbClr val="000000"/>
                </a:solidFill>
              </a:rPr>
              <a:t>oss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change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</a:rPr>
              <a:t>+</a:t>
            </a:r>
            <a:r>
              <a:rPr lang="zh-TW" altLang="en-US" sz="3200" b="0" dirty="0">
                <a:solidFill>
                  <a:srgbClr val="000000"/>
                </a:solidFill>
              </a:rPr>
              <a:t> </a:t>
            </a:r>
            <a:r>
              <a:rPr lang="en-US" altLang="zh-TW" sz="3200" dirty="0">
                <a:solidFill>
                  <a:srgbClr val="000000"/>
                </a:solidFill>
              </a:rPr>
              <a:t>token</a:t>
            </a:r>
            <a:r>
              <a:rPr lang="zh-TW" altLang="en-US" sz="3200" dirty="0">
                <a:solidFill>
                  <a:srgbClr val="000000"/>
                </a:solidFill>
              </a:rPr>
              <a:t> </a:t>
            </a:r>
            <a:r>
              <a:rPr lang="en-US" altLang="zh-TW" sz="3200" dirty="0">
                <a:solidFill>
                  <a:srgbClr val="000000"/>
                </a:solidFill>
              </a:rPr>
              <a:t>selection</a:t>
            </a:r>
            <a:r>
              <a:rPr lang="zh-TW" altLang="en-US" sz="3200" dirty="0">
                <a:solidFill>
                  <a:srgbClr val="000000"/>
                </a:solidFill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zh-TW" altLang="en-US" sz="3200" dirty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sym typeface="Wingdings" pitchFamily="2" charset="2"/>
              </a:rPr>
              <a:t>much</a:t>
            </a:r>
            <a:r>
              <a:rPr lang="zh-TW" altLang="en-US" sz="3200" dirty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sym typeface="Wingdings" pitchFamily="2" charset="2"/>
              </a:rPr>
              <a:t>improved</a:t>
            </a:r>
            <a:r>
              <a:rPr lang="zh-TW" altLang="en-US" sz="3200" dirty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sym typeface="Wingdings" pitchFamily="2" charset="2"/>
              </a:rPr>
              <a:t>separation</a:t>
            </a:r>
            <a:endParaRPr lang="en-US" sz="3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66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0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tokens matter?</a:t>
            </a:r>
          </a:p>
        </p:txBody>
      </p:sp>
      <p:sp>
        <p:nvSpPr>
          <p:cNvPr id="370" name="!!settingNote"/>
          <p:cNvSpPr/>
          <p:nvPr/>
        </p:nvSpPr>
        <p:spPr>
          <a:xfrm>
            <a:off x="6446520" y="50800"/>
            <a:ext cx="548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US" sz="2800" b="0" i="0" dirty="0">
                <a:solidFill>
                  <a:srgbClr val="7F7F7F"/>
                </a:solidFill>
                <a:latin typeface="Helvetica Light"/>
                <a:cs typeface="Helvetica Light"/>
              </a:rPr>
              <a:t>Rule Routings</a:t>
            </a:r>
          </a:p>
        </p:txBody>
      </p:sp>
      <p:sp>
        <p:nvSpPr>
          <p:cNvPr id="100" name="!!docLabel"/>
          <p:cNvSpPr/>
          <p:nvPr/>
        </p:nvSpPr>
        <p:spPr>
          <a:xfrm>
            <a:off x="4953000" y="850392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latin typeface="Helvetica Light"/>
                <a:cs typeface="Helvetica Light"/>
              </a:rPr>
              <a:t>Ground-truth document</a:t>
            </a:r>
          </a:p>
        </p:txBody>
      </p:sp>
      <p:sp>
        <p:nvSpPr>
          <p:cNvPr id="101" name="!!qLabel"/>
          <p:cNvSpPr/>
          <p:nvPr/>
        </p:nvSpPr>
        <p:spPr>
          <a:xfrm>
            <a:off x="609600" y="8503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0" i="0" dirty="0">
                <a:solidFill>
                  <a:srgbClr val="000000"/>
                </a:solidFill>
                <a:latin typeface="Helvetica Light"/>
                <a:cs typeface="Helvetica Light"/>
              </a:rPr>
              <a:t>Attribution query</a:t>
            </a:r>
          </a:p>
        </p:txBody>
      </p:sp>
      <p:sp>
        <p:nvSpPr>
          <p:cNvPr id="102" name="!!docCard"/>
          <p:cNvSpPr/>
          <p:nvPr/>
        </p:nvSpPr>
        <p:spPr>
          <a:xfrm>
            <a:off x="4953000" y="1298448"/>
            <a:ext cx="6629400" cy="40507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03" name="!!qCard"/>
          <p:cNvSpPr/>
          <p:nvPr/>
        </p:nvSpPr>
        <p:spPr>
          <a:xfrm>
            <a:off x="609600" y="1298448"/>
            <a:ext cx="4160520" cy="4050791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grpSp>
        <p:nvGrpSpPr>
          <p:cNvPr id="195" name="!!ceShade"/>
          <p:cNvGrpSpPr/>
          <p:nvPr/>
        </p:nvGrpSpPr>
        <p:grpSpPr>
          <a:xfrm>
            <a:off x="5117592" y="1442275"/>
            <a:ext cx="6081773" cy="3537257"/>
            <a:chOff x="5117592" y="1442275"/>
            <a:chExt cx="6081773" cy="3537257"/>
          </a:xfrm>
        </p:grpSpPr>
        <p:sp>
          <p:nvSpPr>
            <p:cNvPr id="104" name="!!ceShade t1"/>
            <p:cNvSpPr/>
            <p:nvPr/>
          </p:nvSpPr>
          <p:spPr>
            <a:xfrm>
              <a:off x="5971174" y="1442275"/>
              <a:ext cx="533488" cy="194255"/>
            </a:xfrm>
            <a:prstGeom prst="rect">
              <a:avLst/>
            </a:prstGeom>
            <a:solidFill>
              <a:srgbClr val="2166BF">
                <a:alpha val="4139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5" name="!!ceShade t2"/>
            <p:cNvSpPr/>
            <p:nvPr/>
          </p:nvSpPr>
          <p:spPr>
            <a:xfrm>
              <a:off x="6611360" y="1442275"/>
              <a:ext cx="320093" cy="194255"/>
            </a:xfrm>
            <a:prstGeom prst="rect">
              <a:avLst/>
            </a:prstGeom>
            <a:solidFill>
              <a:srgbClr val="E66B0D">
                <a:alpha val="1615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6" name="!!ceShade t3"/>
            <p:cNvSpPr/>
            <p:nvPr/>
          </p:nvSpPr>
          <p:spPr>
            <a:xfrm>
              <a:off x="7038152" y="1442275"/>
              <a:ext cx="746884" cy="194255"/>
            </a:xfrm>
            <a:prstGeom prst="rect">
              <a:avLst/>
            </a:prstGeom>
            <a:solidFill>
              <a:srgbClr val="E66B0D">
                <a:alpha val="3181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7" name="!!ceShade t4"/>
            <p:cNvSpPr/>
            <p:nvPr/>
          </p:nvSpPr>
          <p:spPr>
            <a:xfrm>
              <a:off x="7891734" y="1442275"/>
              <a:ext cx="533488" cy="194255"/>
            </a:xfrm>
            <a:prstGeom prst="rect">
              <a:avLst/>
            </a:prstGeom>
            <a:solidFill>
              <a:srgbClr val="2166BF">
                <a:alpha val="2292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8" name="!!ceShade t6"/>
            <p:cNvSpPr/>
            <p:nvPr/>
          </p:nvSpPr>
          <p:spPr>
            <a:xfrm>
              <a:off x="5117592" y="1668154"/>
              <a:ext cx="426791" cy="194255"/>
            </a:xfrm>
            <a:prstGeom prst="rect">
              <a:avLst/>
            </a:prstGeom>
            <a:solidFill>
              <a:srgbClr val="2166BF">
                <a:alpha val="1811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!!ceShade t7"/>
            <p:cNvSpPr/>
            <p:nvPr/>
          </p:nvSpPr>
          <p:spPr>
            <a:xfrm>
              <a:off x="5544383" y="1668154"/>
              <a:ext cx="106697" cy="194255"/>
            </a:xfrm>
            <a:prstGeom prst="rect">
              <a:avLst/>
            </a:prstGeom>
            <a:solidFill>
              <a:srgbClr val="E66B0D">
                <a:alpha val="1425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0" name="!!ceShade t8"/>
            <p:cNvSpPr/>
            <p:nvPr/>
          </p:nvSpPr>
          <p:spPr>
            <a:xfrm>
              <a:off x="5757778" y="1668154"/>
              <a:ext cx="640186" cy="194255"/>
            </a:xfrm>
            <a:prstGeom prst="rect">
              <a:avLst/>
            </a:prstGeom>
            <a:solidFill>
              <a:srgbClr val="E66B0D">
                <a:alpha val="2077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!!ceShade t9"/>
            <p:cNvSpPr/>
            <p:nvPr/>
          </p:nvSpPr>
          <p:spPr>
            <a:xfrm>
              <a:off x="6397965" y="1668154"/>
              <a:ext cx="106697" cy="194255"/>
            </a:xfrm>
            <a:prstGeom prst="rect">
              <a:avLst/>
            </a:prstGeom>
            <a:solidFill>
              <a:srgbClr val="2166BF">
                <a:alpha val="267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2" name="!!ceShade t10"/>
            <p:cNvSpPr/>
            <p:nvPr/>
          </p:nvSpPr>
          <p:spPr>
            <a:xfrm>
              <a:off x="6611360" y="1668154"/>
              <a:ext cx="320093" cy="194255"/>
            </a:xfrm>
            <a:prstGeom prst="rect">
              <a:avLst/>
            </a:prstGeom>
            <a:solidFill>
              <a:srgbClr val="2166BF">
                <a:alpha val="873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3" name="!!ceShade t11"/>
            <p:cNvSpPr/>
            <p:nvPr/>
          </p:nvSpPr>
          <p:spPr>
            <a:xfrm>
              <a:off x="7038152" y="1668154"/>
              <a:ext cx="640186" cy="194255"/>
            </a:xfrm>
            <a:prstGeom prst="rect">
              <a:avLst/>
            </a:prstGeom>
            <a:solidFill>
              <a:srgbClr val="2166BF">
                <a:alpha val="2077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!!ceShade t12"/>
            <p:cNvSpPr/>
            <p:nvPr/>
          </p:nvSpPr>
          <p:spPr>
            <a:xfrm>
              <a:off x="7678338" y="1668154"/>
              <a:ext cx="106697" cy="194255"/>
            </a:xfrm>
            <a:prstGeom prst="rect">
              <a:avLst/>
            </a:prstGeom>
            <a:solidFill>
              <a:srgbClr val="2166BF">
                <a:alpha val="2196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5" name="!!ceShade t13"/>
            <p:cNvSpPr/>
            <p:nvPr/>
          </p:nvSpPr>
          <p:spPr>
            <a:xfrm>
              <a:off x="7891734" y="1668154"/>
              <a:ext cx="213395" cy="194255"/>
            </a:xfrm>
            <a:prstGeom prst="rect">
              <a:avLst/>
            </a:prstGeom>
            <a:solidFill>
              <a:srgbClr val="2166BF">
                <a:alpha val="2564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!!ceShade t14"/>
            <p:cNvSpPr/>
            <p:nvPr/>
          </p:nvSpPr>
          <p:spPr>
            <a:xfrm>
              <a:off x="8211827" y="1668154"/>
              <a:ext cx="426791" cy="194255"/>
            </a:xfrm>
            <a:prstGeom prst="rect">
              <a:avLst/>
            </a:prstGeom>
            <a:solidFill>
              <a:srgbClr val="2166BF">
                <a:alpha val="1089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7" name="!!ceShade t15"/>
            <p:cNvSpPr/>
            <p:nvPr/>
          </p:nvSpPr>
          <p:spPr>
            <a:xfrm>
              <a:off x="8745316" y="1668154"/>
              <a:ext cx="533488" cy="194255"/>
            </a:xfrm>
            <a:prstGeom prst="rect">
              <a:avLst/>
            </a:prstGeom>
            <a:solidFill>
              <a:srgbClr val="E66B0D">
                <a:alpha val="1474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8" name="!!ceShade t16"/>
            <p:cNvSpPr/>
            <p:nvPr/>
          </p:nvSpPr>
          <p:spPr>
            <a:xfrm>
              <a:off x="9278805" y="1668154"/>
              <a:ext cx="106697" cy="194255"/>
            </a:xfrm>
            <a:prstGeom prst="rect">
              <a:avLst/>
            </a:prstGeom>
            <a:solidFill>
              <a:srgbClr val="E66B0D">
                <a:alpha val="1110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9" name="!!ceShade t17"/>
            <p:cNvSpPr/>
            <p:nvPr/>
          </p:nvSpPr>
          <p:spPr>
            <a:xfrm>
              <a:off x="9492200" y="1668154"/>
              <a:ext cx="320093" cy="194255"/>
            </a:xfrm>
            <a:prstGeom prst="rect">
              <a:avLst/>
            </a:prstGeom>
            <a:solidFill>
              <a:srgbClr val="2166BF">
                <a:alpha val="666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0" name="!!ceShade t18"/>
            <p:cNvSpPr/>
            <p:nvPr/>
          </p:nvSpPr>
          <p:spPr>
            <a:xfrm>
              <a:off x="9918992" y="1668154"/>
              <a:ext cx="746884" cy="194255"/>
            </a:xfrm>
            <a:prstGeom prst="rect">
              <a:avLst/>
            </a:prstGeom>
            <a:solidFill>
              <a:srgbClr val="E66B0D">
                <a:alpha val="1014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1" name="!!ceShade t20"/>
            <p:cNvSpPr/>
            <p:nvPr/>
          </p:nvSpPr>
          <p:spPr>
            <a:xfrm>
              <a:off x="5117592" y="1894032"/>
              <a:ext cx="106697" cy="194255"/>
            </a:xfrm>
            <a:prstGeom prst="rect">
              <a:avLst/>
            </a:prstGeom>
            <a:solidFill>
              <a:srgbClr val="2166BF">
                <a:alpha val="1451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2" name="!!ceShade t21"/>
            <p:cNvSpPr/>
            <p:nvPr/>
          </p:nvSpPr>
          <p:spPr>
            <a:xfrm>
              <a:off x="5224289" y="1894032"/>
              <a:ext cx="533488" cy="194255"/>
            </a:xfrm>
            <a:prstGeom prst="rect">
              <a:avLst/>
            </a:prstGeom>
            <a:solidFill>
              <a:srgbClr val="2166BF">
                <a:alpha val="902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3" name="!!ceShade t22"/>
            <p:cNvSpPr/>
            <p:nvPr/>
          </p:nvSpPr>
          <p:spPr>
            <a:xfrm>
              <a:off x="5864476" y="1894032"/>
              <a:ext cx="213395" cy="194255"/>
            </a:xfrm>
            <a:prstGeom prst="rect">
              <a:avLst/>
            </a:prstGeom>
            <a:solidFill>
              <a:srgbClr val="E66B0D">
                <a:alpha val="501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4" name="!!ceShade t23"/>
            <p:cNvSpPr/>
            <p:nvPr/>
          </p:nvSpPr>
          <p:spPr>
            <a:xfrm>
              <a:off x="6077872" y="1894032"/>
              <a:ext cx="106697" cy="194255"/>
            </a:xfrm>
            <a:prstGeom prst="rect">
              <a:avLst/>
            </a:prstGeom>
            <a:solidFill>
              <a:srgbClr val="E66B0D">
                <a:alpha val="483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5" name="!!ceShade t24"/>
            <p:cNvSpPr/>
            <p:nvPr/>
          </p:nvSpPr>
          <p:spPr>
            <a:xfrm>
              <a:off x="6291267" y="1894032"/>
              <a:ext cx="533488" cy="194255"/>
            </a:xfrm>
            <a:prstGeom prst="rect">
              <a:avLst/>
            </a:prstGeom>
            <a:solidFill>
              <a:srgbClr val="2166BF">
                <a:alpha val="892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!!ceShade t26"/>
            <p:cNvSpPr/>
            <p:nvPr/>
          </p:nvSpPr>
          <p:spPr>
            <a:xfrm>
              <a:off x="5117592" y="2119911"/>
              <a:ext cx="426791" cy="194255"/>
            </a:xfrm>
            <a:prstGeom prst="rect">
              <a:avLst/>
            </a:prstGeom>
            <a:solidFill>
              <a:srgbClr val="E66B0D">
                <a:alpha val="513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7" name="!!ceShade t28"/>
            <p:cNvSpPr/>
            <p:nvPr/>
          </p:nvSpPr>
          <p:spPr>
            <a:xfrm>
              <a:off x="5757778" y="2119911"/>
              <a:ext cx="640186" cy="194255"/>
            </a:xfrm>
            <a:prstGeom prst="rect">
              <a:avLst/>
            </a:prstGeom>
            <a:solidFill>
              <a:srgbClr val="E66B0D">
                <a:alpha val="1582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8" name="!!ceShade t29"/>
            <p:cNvSpPr/>
            <p:nvPr/>
          </p:nvSpPr>
          <p:spPr>
            <a:xfrm>
              <a:off x="6397965" y="2119911"/>
              <a:ext cx="106697" cy="194255"/>
            </a:xfrm>
            <a:prstGeom prst="rect">
              <a:avLst/>
            </a:prstGeom>
            <a:solidFill>
              <a:srgbClr val="2166BF">
                <a:alpha val="1559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9" name="!!ceShade t30"/>
            <p:cNvSpPr/>
            <p:nvPr/>
          </p:nvSpPr>
          <p:spPr>
            <a:xfrm>
              <a:off x="6611360" y="2119911"/>
              <a:ext cx="640186" cy="194255"/>
            </a:xfrm>
            <a:prstGeom prst="rect">
              <a:avLst/>
            </a:prstGeom>
            <a:solidFill>
              <a:srgbClr val="2166BF">
                <a:alpha val="1745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0" name="!!ceShade t31"/>
            <p:cNvSpPr/>
            <p:nvPr/>
          </p:nvSpPr>
          <p:spPr>
            <a:xfrm>
              <a:off x="7251547" y="2119911"/>
              <a:ext cx="106697" cy="194255"/>
            </a:xfrm>
            <a:prstGeom prst="rect">
              <a:avLst/>
            </a:prstGeom>
            <a:solidFill>
              <a:srgbClr val="E66B0D">
                <a:alpha val="1155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1" name="!!ceShade t32"/>
            <p:cNvSpPr/>
            <p:nvPr/>
          </p:nvSpPr>
          <p:spPr>
            <a:xfrm>
              <a:off x="7464943" y="2119911"/>
              <a:ext cx="426791" cy="194255"/>
            </a:xfrm>
            <a:prstGeom prst="rect">
              <a:avLst/>
            </a:prstGeom>
            <a:solidFill>
              <a:srgbClr val="2166BF">
                <a:alpha val="1418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2" name="!!ceShade t33"/>
            <p:cNvSpPr/>
            <p:nvPr/>
          </p:nvSpPr>
          <p:spPr>
            <a:xfrm>
              <a:off x="7998432" y="2119911"/>
              <a:ext cx="533488" cy="194255"/>
            </a:xfrm>
            <a:prstGeom prst="rect">
              <a:avLst/>
            </a:prstGeom>
            <a:solidFill>
              <a:srgbClr val="E66B0D">
                <a:alpha val="999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3" name="!!ceShade t34"/>
            <p:cNvSpPr/>
            <p:nvPr/>
          </p:nvSpPr>
          <p:spPr>
            <a:xfrm>
              <a:off x="8638618" y="2119911"/>
              <a:ext cx="746884" cy="194255"/>
            </a:xfrm>
            <a:prstGeom prst="rect">
              <a:avLst/>
            </a:prstGeom>
            <a:solidFill>
              <a:srgbClr val="2166BF">
                <a:alpha val="981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4" name="!!ceShade t35"/>
            <p:cNvSpPr/>
            <p:nvPr/>
          </p:nvSpPr>
          <p:spPr>
            <a:xfrm>
              <a:off x="9385503" y="2119911"/>
              <a:ext cx="106697" cy="194255"/>
            </a:xfrm>
            <a:prstGeom prst="rect">
              <a:avLst/>
            </a:prstGeom>
            <a:solidFill>
              <a:srgbClr val="2166BF">
                <a:alpha val="1268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5" name="!!ceShade t36"/>
            <p:cNvSpPr/>
            <p:nvPr/>
          </p:nvSpPr>
          <p:spPr>
            <a:xfrm>
              <a:off x="9598898" y="2119911"/>
              <a:ext cx="746884" cy="194255"/>
            </a:xfrm>
            <a:prstGeom prst="rect">
              <a:avLst/>
            </a:prstGeom>
            <a:solidFill>
              <a:srgbClr val="2166BF">
                <a:alpha val="481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6" name="!!ceShade t39"/>
            <p:cNvSpPr/>
            <p:nvPr/>
          </p:nvSpPr>
          <p:spPr>
            <a:xfrm>
              <a:off x="5224289" y="2345789"/>
              <a:ext cx="533488" cy="194255"/>
            </a:xfrm>
            <a:prstGeom prst="rect">
              <a:avLst/>
            </a:prstGeom>
            <a:solidFill>
              <a:srgbClr val="E66B0D">
                <a:alpha val="753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7" name="!!ceShade t40"/>
            <p:cNvSpPr/>
            <p:nvPr/>
          </p:nvSpPr>
          <p:spPr>
            <a:xfrm>
              <a:off x="5864476" y="2345789"/>
              <a:ext cx="213395" cy="194255"/>
            </a:xfrm>
            <a:prstGeom prst="rect">
              <a:avLst/>
            </a:prstGeom>
            <a:solidFill>
              <a:srgbClr val="2166BF">
                <a:alpha val="673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8" name="!!ceShade t41"/>
            <p:cNvSpPr/>
            <p:nvPr/>
          </p:nvSpPr>
          <p:spPr>
            <a:xfrm>
              <a:off x="6077872" y="2345789"/>
              <a:ext cx="106697" cy="194255"/>
            </a:xfrm>
            <a:prstGeom prst="rect">
              <a:avLst/>
            </a:prstGeom>
            <a:solidFill>
              <a:srgbClr val="2166BF">
                <a:alpha val="898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9" name="!!ceShade t42"/>
            <p:cNvSpPr/>
            <p:nvPr/>
          </p:nvSpPr>
          <p:spPr>
            <a:xfrm>
              <a:off x="6291267" y="2345789"/>
              <a:ext cx="533488" cy="194255"/>
            </a:xfrm>
            <a:prstGeom prst="rect">
              <a:avLst/>
            </a:prstGeom>
            <a:solidFill>
              <a:srgbClr val="2166BF">
                <a:alpha val="872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0" name="!!ceShade t64"/>
            <p:cNvSpPr/>
            <p:nvPr/>
          </p:nvSpPr>
          <p:spPr>
            <a:xfrm>
              <a:off x="5117592" y="2707195"/>
              <a:ext cx="426791" cy="194255"/>
            </a:xfrm>
            <a:prstGeom prst="rect">
              <a:avLst/>
            </a:prstGeom>
            <a:solidFill>
              <a:srgbClr val="2166BF">
                <a:alpha val="1198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1" name="!!ceShade t65"/>
            <p:cNvSpPr/>
            <p:nvPr/>
          </p:nvSpPr>
          <p:spPr>
            <a:xfrm>
              <a:off x="5544383" y="2707195"/>
              <a:ext cx="106697" cy="194255"/>
            </a:xfrm>
            <a:prstGeom prst="rect">
              <a:avLst/>
            </a:prstGeom>
            <a:solidFill>
              <a:srgbClr val="E66B0D">
                <a:alpha val="707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2" name="!!ceShade t66"/>
            <p:cNvSpPr/>
            <p:nvPr/>
          </p:nvSpPr>
          <p:spPr>
            <a:xfrm>
              <a:off x="5757778" y="2707195"/>
              <a:ext cx="320093" cy="194255"/>
            </a:xfrm>
            <a:prstGeom prst="rect">
              <a:avLst/>
            </a:prstGeom>
            <a:solidFill>
              <a:srgbClr val="E66B0D">
                <a:alpha val="584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3" name="!!ceShade t67"/>
            <p:cNvSpPr/>
            <p:nvPr/>
          </p:nvSpPr>
          <p:spPr>
            <a:xfrm>
              <a:off x="6184569" y="2707195"/>
              <a:ext cx="640186" cy="194255"/>
            </a:xfrm>
            <a:prstGeom prst="rect">
              <a:avLst/>
            </a:prstGeom>
            <a:solidFill>
              <a:srgbClr val="E66B0D">
                <a:alpha val="1095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4" name="!!ceShade t68"/>
            <p:cNvSpPr/>
            <p:nvPr/>
          </p:nvSpPr>
          <p:spPr>
            <a:xfrm>
              <a:off x="6824756" y="2707195"/>
              <a:ext cx="106697" cy="194255"/>
            </a:xfrm>
            <a:prstGeom prst="rect">
              <a:avLst/>
            </a:prstGeom>
            <a:solidFill>
              <a:srgbClr val="E66B0D">
                <a:alpha val="1926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5" name="!!ceShade t69"/>
            <p:cNvSpPr/>
            <p:nvPr/>
          </p:nvSpPr>
          <p:spPr>
            <a:xfrm>
              <a:off x="7038152" y="2707195"/>
              <a:ext cx="640186" cy="194255"/>
            </a:xfrm>
            <a:prstGeom prst="rect">
              <a:avLst/>
            </a:prstGeom>
            <a:solidFill>
              <a:srgbClr val="2166BF">
                <a:alpha val="646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6" name="!!ceShade t70"/>
            <p:cNvSpPr/>
            <p:nvPr/>
          </p:nvSpPr>
          <p:spPr>
            <a:xfrm>
              <a:off x="7678338" y="2707195"/>
              <a:ext cx="106697" cy="194255"/>
            </a:xfrm>
            <a:prstGeom prst="rect">
              <a:avLst/>
            </a:prstGeom>
            <a:solidFill>
              <a:srgbClr val="2166BF">
                <a:alpha val="1362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7" name="!!ceShade t71"/>
            <p:cNvSpPr/>
            <p:nvPr/>
          </p:nvSpPr>
          <p:spPr>
            <a:xfrm>
              <a:off x="7891734" y="2707195"/>
              <a:ext cx="426791" cy="194255"/>
            </a:xfrm>
            <a:prstGeom prst="rect">
              <a:avLst/>
            </a:prstGeom>
            <a:solidFill>
              <a:srgbClr val="E66B0D">
                <a:alpha val="1301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8" name="!!ceShade t72"/>
            <p:cNvSpPr/>
            <p:nvPr/>
          </p:nvSpPr>
          <p:spPr>
            <a:xfrm>
              <a:off x="8425223" y="2707195"/>
              <a:ext cx="533488" cy="194255"/>
            </a:xfrm>
            <a:prstGeom prst="rect">
              <a:avLst/>
            </a:prstGeom>
            <a:solidFill>
              <a:srgbClr val="E66B0D">
                <a:alpha val="786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9" name="!!ceShade t73"/>
            <p:cNvSpPr/>
            <p:nvPr/>
          </p:nvSpPr>
          <p:spPr>
            <a:xfrm>
              <a:off x="9065409" y="2707195"/>
              <a:ext cx="746884" cy="194255"/>
            </a:xfrm>
            <a:prstGeom prst="rect">
              <a:avLst/>
            </a:prstGeom>
            <a:solidFill>
              <a:srgbClr val="E66B0D">
                <a:alpha val="629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0" name="!!ceShade t74"/>
            <p:cNvSpPr/>
            <p:nvPr/>
          </p:nvSpPr>
          <p:spPr>
            <a:xfrm>
              <a:off x="9812294" y="2707195"/>
              <a:ext cx="106697" cy="194255"/>
            </a:xfrm>
            <a:prstGeom prst="rect">
              <a:avLst/>
            </a:prstGeom>
            <a:solidFill>
              <a:srgbClr val="E66B0D">
                <a:alpha val="956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1" name="!!ceShade t75"/>
            <p:cNvSpPr/>
            <p:nvPr/>
          </p:nvSpPr>
          <p:spPr>
            <a:xfrm>
              <a:off x="10025689" y="2707195"/>
              <a:ext cx="746884" cy="194255"/>
            </a:xfrm>
            <a:prstGeom prst="rect">
              <a:avLst/>
            </a:prstGeom>
            <a:solidFill>
              <a:srgbClr val="E66B0D">
                <a:alpha val="514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2" name="!!ceShade t77"/>
            <p:cNvSpPr/>
            <p:nvPr/>
          </p:nvSpPr>
          <p:spPr>
            <a:xfrm>
              <a:off x="5117592" y="2933073"/>
              <a:ext cx="106697" cy="194255"/>
            </a:xfrm>
            <a:prstGeom prst="rect">
              <a:avLst/>
            </a:prstGeom>
            <a:solidFill>
              <a:srgbClr val="E66B0D">
                <a:alpha val="1177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3" name="!!ceShade t78"/>
            <p:cNvSpPr/>
            <p:nvPr/>
          </p:nvSpPr>
          <p:spPr>
            <a:xfrm>
              <a:off x="5224289" y="2933073"/>
              <a:ext cx="533488" cy="194255"/>
            </a:xfrm>
            <a:prstGeom prst="rect">
              <a:avLst/>
            </a:prstGeom>
            <a:solidFill>
              <a:srgbClr val="E66B0D">
                <a:alpha val="735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4" name="!!ceShade t79"/>
            <p:cNvSpPr/>
            <p:nvPr/>
          </p:nvSpPr>
          <p:spPr>
            <a:xfrm>
              <a:off x="5864476" y="2933073"/>
              <a:ext cx="213395" cy="194255"/>
            </a:xfrm>
            <a:prstGeom prst="rect">
              <a:avLst/>
            </a:prstGeom>
            <a:solidFill>
              <a:srgbClr val="E66B0D">
                <a:alpha val="623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5" name="!!ceShade t80"/>
            <p:cNvSpPr/>
            <p:nvPr/>
          </p:nvSpPr>
          <p:spPr>
            <a:xfrm>
              <a:off x="6077872" y="2933073"/>
              <a:ext cx="106697" cy="194255"/>
            </a:xfrm>
            <a:prstGeom prst="rect">
              <a:avLst/>
            </a:prstGeom>
            <a:solidFill>
              <a:srgbClr val="2166BF">
                <a:alpha val="544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6" name="!!ceShade t81"/>
            <p:cNvSpPr/>
            <p:nvPr/>
          </p:nvSpPr>
          <p:spPr>
            <a:xfrm>
              <a:off x="6291267" y="2933073"/>
              <a:ext cx="533488" cy="194255"/>
            </a:xfrm>
            <a:prstGeom prst="rect">
              <a:avLst/>
            </a:prstGeom>
            <a:solidFill>
              <a:srgbClr val="E66B0D">
                <a:alpha val="470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7" name="!!ceShade t83"/>
            <p:cNvSpPr/>
            <p:nvPr/>
          </p:nvSpPr>
          <p:spPr>
            <a:xfrm>
              <a:off x="5117592" y="3158952"/>
              <a:ext cx="426791" cy="194255"/>
            </a:xfrm>
            <a:prstGeom prst="rect">
              <a:avLst/>
            </a:prstGeom>
            <a:solidFill>
              <a:srgbClr val="E66B0D">
                <a:alpha val="1785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8" name="!!ceShade t84"/>
            <p:cNvSpPr/>
            <p:nvPr/>
          </p:nvSpPr>
          <p:spPr>
            <a:xfrm>
              <a:off x="5544383" y="3158952"/>
              <a:ext cx="106697" cy="194255"/>
            </a:xfrm>
            <a:prstGeom prst="rect">
              <a:avLst/>
            </a:prstGeom>
            <a:solidFill>
              <a:srgbClr val="E66B0D">
                <a:alpha val="830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9" name="!!ceShade t85"/>
            <p:cNvSpPr/>
            <p:nvPr/>
          </p:nvSpPr>
          <p:spPr>
            <a:xfrm>
              <a:off x="5757778" y="3158952"/>
              <a:ext cx="320093" cy="194255"/>
            </a:xfrm>
            <a:prstGeom prst="rect">
              <a:avLst/>
            </a:prstGeom>
            <a:solidFill>
              <a:srgbClr val="E66B0D">
                <a:alpha val="975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0" name="!!ceShade t87"/>
            <p:cNvSpPr/>
            <p:nvPr/>
          </p:nvSpPr>
          <p:spPr>
            <a:xfrm>
              <a:off x="6824756" y="3158952"/>
              <a:ext cx="106697" cy="194255"/>
            </a:xfrm>
            <a:prstGeom prst="rect">
              <a:avLst/>
            </a:prstGeom>
            <a:solidFill>
              <a:srgbClr val="E66B0D">
                <a:alpha val="966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1" name="!!ceShade t88"/>
            <p:cNvSpPr/>
            <p:nvPr/>
          </p:nvSpPr>
          <p:spPr>
            <a:xfrm>
              <a:off x="7038152" y="3158952"/>
              <a:ext cx="320093" cy="194255"/>
            </a:xfrm>
            <a:prstGeom prst="rect">
              <a:avLst/>
            </a:prstGeom>
            <a:solidFill>
              <a:srgbClr val="2166BF">
                <a:alpha val="1188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2" name="!!ceShade t89"/>
            <p:cNvSpPr/>
            <p:nvPr/>
          </p:nvSpPr>
          <p:spPr>
            <a:xfrm>
              <a:off x="7464943" y="3158952"/>
              <a:ext cx="640186" cy="194255"/>
            </a:xfrm>
            <a:prstGeom prst="rect">
              <a:avLst/>
            </a:prstGeom>
            <a:solidFill>
              <a:srgbClr val="E66B0D">
                <a:alpha val="642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3" name="!!ceShade t90"/>
            <p:cNvSpPr/>
            <p:nvPr/>
          </p:nvSpPr>
          <p:spPr>
            <a:xfrm>
              <a:off x="8105129" y="3158952"/>
              <a:ext cx="106697" cy="194255"/>
            </a:xfrm>
            <a:prstGeom prst="rect">
              <a:avLst/>
            </a:prstGeom>
            <a:solidFill>
              <a:srgbClr val="E66B0D">
                <a:alpha val="747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4" name="!!ceShade t91"/>
            <p:cNvSpPr/>
            <p:nvPr/>
          </p:nvSpPr>
          <p:spPr>
            <a:xfrm>
              <a:off x="8318525" y="3158952"/>
              <a:ext cx="426791" cy="194255"/>
            </a:xfrm>
            <a:prstGeom prst="rect">
              <a:avLst/>
            </a:prstGeom>
            <a:solidFill>
              <a:srgbClr val="2166BF">
                <a:alpha val="778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5" name="!!ceShade t92"/>
            <p:cNvSpPr/>
            <p:nvPr/>
          </p:nvSpPr>
          <p:spPr>
            <a:xfrm>
              <a:off x="8852014" y="3158952"/>
              <a:ext cx="533488" cy="194255"/>
            </a:xfrm>
            <a:prstGeom prst="rect">
              <a:avLst/>
            </a:prstGeom>
            <a:solidFill>
              <a:srgbClr val="E66B0D">
                <a:alpha val="1028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!!ceShade t93"/>
            <p:cNvSpPr/>
            <p:nvPr/>
          </p:nvSpPr>
          <p:spPr>
            <a:xfrm>
              <a:off x="9492200" y="3158952"/>
              <a:ext cx="746884" cy="194255"/>
            </a:xfrm>
            <a:prstGeom prst="rect">
              <a:avLst/>
            </a:prstGeom>
            <a:solidFill>
              <a:srgbClr val="E66B0D">
                <a:alpha val="1052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7" name="!!ceShade t94"/>
            <p:cNvSpPr/>
            <p:nvPr/>
          </p:nvSpPr>
          <p:spPr>
            <a:xfrm>
              <a:off x="10239085" y="3158952"/>
              <a:ext cx="106697" cy="194255"/>
            </a:xfrm>
            <a:prstGeom prst="rect">
              <a:avLst/>
            </a:prstGeom>
            <a:solidFill>
              <a:srgbClr val="2166BF">
                <a:alpha val="1374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!!ceShade t95"/>
            <p:cNvSpPr/>
            <p:nvPr/>
          </p:nvSpPr>
          <p:spPr>
            <a:xfrm>
              <a:off x="10452481" y="3158952"/>
              <a:ext cx="746884" cy="194255"/>
            </a:xfrm>
            <a:prstGeom prst="rect">
              <a:avLst/>
            </a:prstGeom>
            <a:solidFill>
              <a:srgbClr val="2166BF">
                <a:alpha val="1477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69" name="!!ceShade t97"/>
            <p:cNvSpPr/>
            <p:nvPr/>
          </p:nvSpPr>
          <p:spPr>
            <a:xfrm>
              <a:off x="5117592" y="3384830"/>
              <a:ext cx="106697" cy="194255"/>
            </a:xfrm>
            <a:prstGeom prst="rect">
              <a:avLst/>
            </a:prstGeom>
            <a:solidFill>
              <a:srgbClr val="E66B0D">
                <a:alpha val="2156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!!ceShade t98"/>
            <p:cNvSpPr/>
            <p:nvPr/>
          </p:nvSpPr>
          <p:spPr>
            <a:xfrm>
              <a:off x="5224289" y="3384830"/>
              <a:ext cx="533488" cy="194255"/>
            </a:xfrm>
            <a:prstGeom prst="rect">
              <a:avLst/>
            </a:prstGeom>
            <a:solidFill>
              <a:srgbClr val="E66B0D">
                <a:alpha val="981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1" name="!!ceShade t99"/>
            <p:cNvSpPr/>
            <p:nvPr/>
          </p:nvSpPr>
          <p:spPr>
            <a:xfrm>
              <a:off x="5864476" y="3384830"/>
              <a:ext cx="213395" cy="194255"/>
            </a:xfrm>
            <a:prstGeom prst="rect">
              <a:avLst/>
            </a:prstGeom>
            <a:solidFill>
              <a:srgbClr val="E66B0D">
                <a:alpha val="613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2" name="!!ceShade t100"/>
            <p:cNvSpPr/>
            <p:nvPr/>
          </p:nvSpPr>
          <p:spPr>
            <a:xfrm>
              <a:off x="6077872" y="3384830"/>
              <a:ext cx="106697" cy="194255"/>
            </a:xfrm>
            <a:prstGeom prst="rect">
              <a:avLst/>
            </a:prstGeom>
            <a:solidFill>
              <a:srgbClr val="E66B0D">
                <a:alpha val="1225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3" name="!!ceShade t101"/>
            <p:cNvSpPr/>
            <p:nvPr/>
          </p:nvSpPr>
          <p:spPr>
            <a:xfrm>
              <a:off x="6291267" y="3384830"/>
              <a:ext cx="533488" cy="194255"/>
            </a:xfrm>
            <a:prstGeom prst="rect">
              <a:avLst/>
            </a:prstGeom>
            <a:solidFill>
              <a:srgbClr val="E66B0D">
                <a:alpha val="1281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4" name="!!ceShade t125"/>
            <p:cNvSpPr/>
            <p:nvPr/>
          </p:nvSpPr>
          <p:spPr>
            <a:xfrm>
              <a:off x="5544383" y="3746236"/>
              <a:ext cx="106697" cy="194255"/>
            </a:xfrm>
            <a:prstGeom prst="rect">
              <a:avLst/>
            </a:prstGeom>
            <a:solidFill>
              <a:srgbClr val="E66B0D">
                <a:alpha val="707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5" name="!!ceShade t126"/>
            <p:cNvSpPr/>
            <p:nvPr/>
          </p:nvSpPr>
          <p:spPr>
            <a:xfrm>
              <a:off x="5757778" y="3746236"/>
              <a:ext cx="640186" cy="194255"/>
            </a:xfrm>
            <a:prstGeom prst="rect">
              <a:avLst/>
            </a:prstGeom>
            <a:solidFill>
              <a:srgbClr val="2166BF">
                <a:alpha val="153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!!ceShade t127"/>
            <p:cNvSpPr/>
            <p:nvPr/>
          </p:nvSpPr>
          <p:spPr>
            <a:xfrm>
              <a:off x="6397965" y="3746236"/>
              <a:ext cx="106697" cy="194255"/>
            </a:xfrm>
            <a:prstGeom prst="rect">
              <a:avLst/>
            </a:prstGeom>
            <a:solidFill>
              <a:srgbClr val="E66B0D">
                <a:alpha val="581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7" name="!!ceShade t128"/>
            <p:cNvSpPr/>
            <p:nvPr/>
          </p:nvSpPr>
          <p:spPr>
            <a:xfrm>
              <a:off x="6611360" y="3746236"/>
              <a:ext cx="640186" cy="194255"/>
            </a:xfrm>
            <a:prstGeom prst="rect">
              <a:avLst/>
            </a:prstGeom>
            <a:solidFill>
              <a:srgbClr val="2166BF">
                <a:alpha val="457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!!ceShade t164"/>
            <p:cNvSpPr/>
            <p:nvPr/>
          </p:nvSpPr>
          <p:spPr>
            <a:xfrm>
              <a:off x="5971174" y="4333520"/>
              <a:ext cx="426791" cy="194255"/>
            </a:xfrm>
            <a:prstGeom prst="rect">
              <a:avLst/>
            </a:prstGeom>
            <a:solidFill>
              <a:srgbClr val="E66B0D">
                <a:alpha val="739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9" name="!!ceShade t165"/>
            <p:cNvSpPr/>
            <p:nvPr/>
          </p:nvSpPr>
          <p:spPr>
            <a:xfrm>
              <a:off x="6397965" y="4333520"/>
              <a:ext cx="106697" cy="194255"/>
            </a:xfrm>
            <a:prstGeom prst="rect">
              <a:avLst/>
            </a:prstGeom>
            <a:solidFill>
              <a:srgbClr val="E66B0D">
                <a:alpha val="1007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!!ceShade t167"/>
            <p:cNvSpPr/>
            <p:nvPr/>
          </p:nvSpPr>
          <p:spPr>
            <a:xfrm>
              <a:off x="5117592" y="4559398"/>
              <a:ext cx="533488" cy="194255"/>
            </a:xfrm>
            <a:prstGeom prst="rect">
              <a:avLst/>
            </a:prstGeom>
            <a:solidFill>
              <a:srgbClr val="2166BF">
                <a:alpha val="871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1" name="!!ceShade t168"/>
            <p:cNvSpPr/>
            <p:nvPr/>
          </p:nvSpPr>
          <p:spPr>
            <a:xfrm>
              <a:off x="5757778" y="4559398"/>
              <a:ext cx="746884" cy="194255"/>
            </a:xfrm>
            <a:prstGeom prst="rect">
              <a:avLst/>
            </a:prstGeom>
            <a:solidFill>
              <a:srgbClr val="2166BF">
                <a:alpha val="474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!!ceShade t169"/>
            <p:cNvSpPr/>
            <p:nvPr/>
          </p:nvSpPr>
          <p:spPr>
            <a:xfrm>
              <a:off x="6611360" y="4559398"/>
              <a:ext cx="426791" cy="194255"/>
            </a:xfrm>
            <a:prstGeom prst="rect">
              <a:avLst/>
            </a:prstGeom>
            <a:solidFill>
              <a:srgbClr val="2166BF">
                <a:alpha val="542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3" name="!!ceShade t170"/>
            <p:cNvSpPr/>
            <p:nvPr/>
          </p:nvSpPr>
          <p:spPr>
            <a:xfrm>
              <a:off x="7144849" y="4559398"/>
              <a:ext cx="746884" cy="194255"/>
            </a:xfrm>
            <a:prstGeom prst="rect">
              <a:avLst/>
            </a:prstGeom>
            <a:solidFill>
              <a:srgbClr val="E66B0D">
                <a:alpha val="533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4" name="!!ceShade t174"/>
            <p:cNvSpPr/>
            <p:nvPr/>
          </p:nvSpPr>
          <p:spPr>
            <a:xfrm>
              <a:off x="9385503" y="4559398"/>
              <a:ext cx="213395" cy="194255"/>
            </a:xfrm>
            <a:prstGeom prst="rect">
              <a:avLst/>
            </a:prstGeom>
            <a:solidFill>
              <a:srgbClr val="E66B0D">
                <a:alpha val="599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5" name="!!ceShade t177"/>
            <p:cNvSpPr/>
            <p:nvPr/>
          </p:nvSpPr>
          <p:spPr>
            <a:xfrm>
              <a:off x="10772574" y="4559398"/>
              <a:ext cx="320093" cy="194255"/>
            </a:xfrm>
            <a:prstGeom prst="rect">
              <a:avLst/>
            </a:prstGeom>
            <a:solidFill>
              <a:srgbClr val="E66B0D">
                <a:alpha val="64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6" name="!!ceShade t178"/>
            <p:cNvSpPr/>
            <p:nvPr/>
          </p:nvSpPr>
          <p:spPr>
            <a:xfrm>
              <a:off x="5117592" y="4785277"/>
              <a:ext cx="533488" cy="194255"/>
            </a:xfrm>
            <a:prstGeom prst="rect">
              <a:avLst/>
            </a:prstGeom>
            <a:solidFill>
              <a:srgbClr val="2166BF">
                <a:alpha val="413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7" name="!!ceShade t179"/>
            <p:cNvSpPr/>
            <p:nvPr/>
          </p:nvSpPr>
          <p:spPr>
            <a:xfrm>
              <a:off x="5757778" y="4785277"/>
              <a:ext cx="533488" cy="194255"/>
            </a:xfrm>
            <a:prstGeom prst="rect">
              <a:avLst/>
            </a:prstGeom>
            <a:solidFill>
              <a:srgbClr val="E66B0D">
                <a:alpha val="613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8" name="!!ceShade t180"/>
            <p:cNvSpPr/>
            <p:nvPr/>
          </p:nvSpPr>
          <p:spPr>
            <a:xfrm>
              <a:off x="6397965" y="4785277"/>
              <a:ext cx="213395" cy="194255"/>
            </a:xfrm>
            <a:prstGeom prst="rect">
              <a:avLst/>
            </a:prstGeom>
            <a:solidFill>
              <a:srgbClr val="E66B0D">
                <a:alpha val="571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89" name="!!ceShade t181"/>
            <p:cNvSpPr/>
            <p:nvPr/>
          </p:nvSpPr>
          <p:spPr>
            <a:xfrm>
              <a:off x="6718058" y="4785277"/>
              <a:ext cx="320093" cy="194255"/>
            </a:xfrm>
            <a:prstGeom prst="rect">
              <a:avLst/>
            </a:prstGeom>
            <a:solidFill>
              <a:srgbClr val="2166BF">
                <a:alpha val="544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!!ceShade t183"/>
            <p:cNvSpPr/>
            <p:nvPr/>
          </p:nvSpPr>
          <p:spPr>
            <a:xfrm>
              <a:off x="7785036" y="4785277"/>
              <a:ext cx="533488" cy="194255"/>
            </a:xfrm>
            <a:prstGeom prst="rect">
              <a:avLst/>
            </a:prstGeom>
            <a:solidFill>
              <a:srgbClr val="E66B0D">
                <a:alpha val="629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!!ceShade t184"/>
            <p:cNvSpPr/>
            <p:nvPr/>
          </p:nvSpPr>
          <p:spPr>
            <a:xfrm>
              <a:off x="8318525" y="4785277"/>
              <a:ext cx="106697" cy="194255"/>
            </a:xfrm>
            <a:prstGeom prst="rect">
              <a:avLst/>
            </a:prstGeom>
            <a:solidFill>
              <a:srgbClr val="E66B0D">
                <a:alpha val="596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!!ceShade t185"/>
            <p:cNvSpPr/>
            <p:nvPr/>
          </p:nvSpPr>
          <p:spPr>
            <a:xfrm>
              <a:off x="8531920" y="4785277"/>
              <a:ext cx="106697" cy="194255"/>
            </a:xfrm>
            <a:prstGeom prst="rect">
              <a:avLst/>
            </a:prstGeom>
            <a:solidFill>
              <a:srgbClr val="2166BF">
                <a:alpha val="3410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3" name="!!ceShade t187"/>
            <p:cNvSpPr/>
            <p:nvPr/>
          </p:nvSpPr>
          <p:spPr>
            <a:xfrm>
              <a:off x="9598898" y="4785277"/>
              <a:ext cx="213395" cy="194255"/>
            </a:xfrm>
            <a:prstGeom prst="rect">
              <a:avLst/>
            </a:prstGeom>
            <a:solidFill>
              <a:srgbClr val="2166BF">
                <a:alpha val="1051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4" name="!!ceShade t188"/>
            <p:cNvSpPr/>
            <p:nvPr/>
          </p:nvSpPr>
          <p:spPr>
            <a:xfrm>
              <a:off x="9918992" y="4785277"/>
              <a:ext cx="640186" cy="194255"/>
            </a:xfrm>
            <a:prstGeom prst="rect">
              <a:avLst/>
            </a:prstGeom>
            <a:solidFill>
              <a:srgbClr val="E66B0D">
                <a:alpha val="699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09" name="!!nloShade"/>
          <p:cNvGrpSpPr/>
          <p:nvPr/>
        </p:nvGrpSpPr>
        <p:grpSpPr>
          <a:xfrm>
            <a:off x="5117592" y="1442275"/>
            <a:ext cx="6081773" cy="3763136"/>
            <a:chOff x="5117592" y="1442275"/>
            <a:chExt cx="6081773" cy="3763136"/>
          </a:xfrm>
        </p:grpSpPr>
        <p:sp>
          <p:nvSpPr>
            <p:cNvPr id="196" name="!!nloShade t1"/>
            <p:cNvSpPr/>
            <p:nvPr/>
          </p:nvSpPr>
          <p:spPr>
            <a:xfrm>
              <a:off x="5971174" y="1442275"/>
              <a:ext cx="533488" cy="194255"/>
            </a:xfrm>
            <a:prstGeom prst="rect">
              <a:avLst/>
            </a:prstGeom>
            <a:solidFill>
              <a:srgbClr val="2166BF">
                <a:alpha val="2653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7" name="!!nloShade t2"/>
            <p:cNvSpPr/>
            <p:nvPr/>
          </p:nvSpPr>
          <p:spPr>
            <a:xfrm>
              <a:off x="6611360" y="1442275"/>
              <a:ext cx="320093" cy="194255"/>
            </a:xfrm>
            <a:prstGeom prst="rect">
              <a:avLst/>
            </a:prstGeom>
            <a:solidFill>
              <a:srgbClr val="E66B0D">
                <a:alpha val="2363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8" name="!!nloShade t3"/>
            <p:cNvSpPr/>
            <p:nvPr/>
          </p:nvSpPr>
          <p:spPr>
            <a:xfrm>
              <a:off x="7038152" y="1442275"/>
              <a:ext cx="746884" cy="194255"/>
            </a:xfrm>
            <a:prstGeom prst="rect">
              <a:avLst/>
            </a:prstGeom>
            <a:solidFill>
              <a:srgbClr val="2166BF">
                <a:alpha val="2677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9" name="!!nloShade t4"/>
            <p:cNvSpPr/>
            <p:nvPr/>
          </p:nvSpPr>
          <p:spPr>
            <a:xfrm>
              <a:off x="7891734" y="1442275"/>
              <a:ext cx="533488" cy="194255"/>
            </a:xfrm>
            <a:prstGeom prst="rect">
              <a:avLst/>
            </a:prstGeom>
            <a:solidFill>
              <a:srgbClr val="2166BF">
                <a:alpha val="4466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0" name="!!nloShade t6"/>
            <p:cNvSpPr/>
            <p:nvPr/>
          </p:nvSpPr>
          <p:spPr>
            <a:xfrm>
              <a:off x="5117592" y="1668154"/>
              <a:ext cx="426791" cy="194255"/>
            </a:xfrm>
            <a:prstGeom prst="rect">
              <a:avLst/>
            </a:prstGeom>
            <a:solidFill>
              <a:srgbClr val="E66B0D">
                <a:alpha val="2733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1" name="!!nloShade t7"/>
            <p:cNvSpPr/>
            <p:nvPr/>
          </p:nvSpPr>
          <p:spPr>
            <a:xfrm>
              <a:off x="5544383" y="1668154"/>
              <a:ext cx="106697" cy="194255"/>
            </a:xfrm>
            <a:prstGeom prst="rect">
              <a:avLst/>
            </a:prstGeom>
            <a:solidFill>
              <a:srgbClr val="E66B0D">
                <a:alpha val="1701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2" name="!!nloShade t8"/>
            <p:cNvSpPr/>
            <p:nvPr/>
          </p:nvSpPr>
          <p:spPr>
            <a:xfrm>
              <a:off x="5757778" y="1668154"/>
              <a:ext cx="640186" cy="194255"/>
            </a:xfrm>
            <a:prstGeom prst="rect">
              <a:avLst/>
            </a:prstGeom>
            <a:solidFill>
              <a:srgbClr val="2166BF">
                <a:alpha val="648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3" name="!!nloShade t9"/>
            <p:cNvSpPr/>
            <p:nvPr/>
          </p:nvSpPr>
          <p:spPr>
            <a:xfrm>
              <a:off x="6397965" y="1668154"/>
              <a:ext cx="106697" cy="194255"/>
            </a:xfrm>
            <a:prstGeom prst="rect">
              <a:avLst/>
            </a:prstGeom>
            <a:solidFill>
              <a:srgbClr val="E66B0D">
                <a:alpha val="4910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4" name="!!nloShade t10"/>
            <p:cNvSpPr/>
            <p:nvPr/>
          </p:nvSpPr>
          <p:spPr>
            <a:xfrm>
              <a:off x="6611360" y="1668154"/>
              <a:ext cx="320093" cy="194255"/>
            </a:xfrm>
            <a:prstGeom prst="rect">
              <a:avLst/>
            </a:prstGeom>
            <a:solidFill>
              <a:srgbClr val="E66B0D">
                <a:alpha val="4909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5" name="!!nloShade t11"/>
            <p:cNvSpPr/>
            <p:nvPr/>
          </p:nvSpPr>
          <p:spPr>
            <a:xfrm>
              <a:off x="7038152" y="1668154"/>
              <a:ext cx="640186" cy="194255"/>
            </a:xfrm>
            <a:prstGeom prst="rect">
              <a:avLst/>
            </a:prstGeom>
            <a:solidFill>
              <a:srgbClr val="E66B0D">
                <a:alpha val="1395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6" name="!!nloShade t12"/>
            <p:cNvSpPr/>
            <p:nvPr/>
          </p:nvSpPr>
          <p:spPr>
            <a:xfrm>
              <a:off x="7678338" y="1668154"/>
              <a:ext cx="106697" cy="194255"/>
            </a:xfrm>
            <a:prstGeom prst="rect">
              <a:avLst/>
            </a:prstGeom>
            <a:solidFill>
              <a:srgbClr val="2166BF">
                <a:alpha val="3778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7" name="!!nloShade t13"/>
            <p:cNvSpPr/>
            <p:nvPr/>
          </p:nvSpPr>
          <p:spPr>
            <a:xfrm>
              <a:off x="7891734" y="1668154"/>
              <a:ext cx="213395" cy="194255"/>
            </a:xfrm>
            <a:prstGeom prst="rect">
              <a:avLst/>
            </a:prstGeom>
            <a:solidFill>
              <a:srgbClr val="2166BF">
                <a:alpha val="4343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8" name="!!nloShade t14"/>
            <p:cNvSpPr/>
            <p:nvPr/>
          </p:nvSpPr>
          <p:spPr>
            <a:xfrm>
              <a:off x="8211827" y="1668154"/>
              <a:ext cx="426791" cy="194255"/>
            </a:xfrm>
            <a:prstGeom prst="rect">
              <a:avLst/>
            </a:prstGeom>
            <a:solidFill>
              <a:srgbClr val="E66B0D">
                <a:alpha val="106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09" name="!!nloShade t15"/>
            <p:cNvSpPr/>
            <p:nvPr/>
          </p:nvSpPr>
          <p:spPr>
            <a:xfrm>
              <a:off x="8745316" y="1668154"/>
              <a:ext cx="533488" cy="194255"/>
            </a:xfrm>
            <a:prstGeom prst="rect">
              <a:avLst/>
            </a:prstGeom>
            <a:solidFill>
              <a:srgbClr val="E66B0D">
                <a:alpha val="4080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0" name="!!nloShade t16"/>
            <p:cNvSpPr/>
            <p:nvPr/>
          </p:nvSpPr>
          <p:spPr>
            <a:xfrm>
              <a:off x="9278805" y="1668154"/>
              <a:ext cx="106697" cy="194255"/>
            </a:xfrm>
            <a:prstGeom prst="rect">
              <a:avLst/>
            </a:prstGeom>
            <a:solidFill>
              <a:srgbClr val="E66B0D">
                <a:alpha val="1957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1" name="!!nloShade t17"/>
            <p:cNvSpPr/>
            <p:nvPr/>
          </p:nvSpPr>
          <p:spPr>
            <a:xfrm>
              <a:off x="9492200" y="1668154"/>
              <a:ext cx="320093" cy="194255"/>
            </a:xfrm>
            <a:prstGeom prst="rect">
              <a:avLst/>
            </a:prstGeom>
            <a:solidFill>
              <a:srgbClr val="E66B0D">
                <a:alpha val="2563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2" name="!!nloShade t18"/>
            <p:cNvSpPr/>
            <p:nvPr/>
          </p:nvSpPr>
          <p:spPr>
            <a:xfrm>
              <a:off x="9918992" y="1668154"/>
              <a:ext cx="746884" cy="194255"/>
            </a:xfrm>
            <a:prstGeom prst="rect">
              <a:avLst/>
            </a:prstGeom>
            <a:solidFill>
              <a:srgbClr val="E66B0D">
                <a:alpha val="1653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3" name="!!nloShade t20"/>
            <p:cNvSpPr/>
            <p:nvPr/>
          </p:nvSpPr>
          <p:spPr>
            <a:xfrm>
              <a:off x="5117592" y="1894032"/>
              <a:ext cx="106697" cy="194255"/>
            </a:xfrm>
            <a:prstGeom prst="rect">
              <a:avLst/>
            </a:prstGeom>
            <a:solidFill>
              <a:srgbClr val="2166BF">
                <a:alpha val="1893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4" name="!!nloShade t21"/>
            <p:cNvSpPr/>
            <p:nvPr/>
          </p:nvSpPr>
          <p:spPr>
            <a:xfrm>
              <a:off x="5224289" y="1894032"/>
              <a:ext cx="533488" cy="194255"/>
            </a:xfrm>
            <a:prstGeom prst="rect">
              <a:avLst/>
            </a:prstGeom>
            <a:solidFill>
              <a:srgbClr val="E66B0D">
                <a:alpha val="1779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5" name="!!nloShade t22"/>
            <p:cNvSpPr/>
            <p:nvPr/>
          </p:nvSpPr>
          <p:spPr>
            <a:xfrm>
              <a:off x="5864476" y="1894032"/>
              <a:ext cx="213395" cy="194255"/>
            </a:xfrm>
            <a:prstGeom prst="rect">
              <a:avLst/>
            </a:prstGeom>
            <a:solidFill>
              <a:srgbClr val="2166BF">
                <a:alpha val="1293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6" name="!!nloShade t23"/>
            <p:cNvSpPr/>
            <p:nvPr/>
          </p:nvSpPr>
          <p:spPr>
            <a:xfrm>
              <a:off x="6077872" y="1894032"/>
              <a:ext cx="106697" cy="194255"/>
            </a:xfrm>
            <a:prstGeom prst="rect">
              <a:avLst/>
            </a:prstGeom>
            <a:solidFill>
              <a:srgbClr val="2166BF">
                <a:alpha val="1607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7" name="!!nloShade t24"/>
            <p:cNvSpPr/>
            <p:nvPr/>
          </p:nvSpPr>
          <p:spPr>
            <a:xfrm>
              <a:off x="6291267" y="1894032"/>
              <a:ext cx="533488" cy="194255"/>
            </a:xfrm>
            <a:prstGeom prst="rect">
              <a:avLst/>
            </a:prstGeom>
            <a:solidFill>
              <a:srgbClr val="E66B0D">
                <a:alpha val="491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8" name="!!nloShade t26"/>
            <p:cNvSpPr/>
            <p:nvPr/>
          </p:nvSpPr>
          <p:spPr>
            <a:xfrm>
              <a:off x="5117592" y="2119911"/>
              <a:ext cx="426791" cy="194255"/>
            </a:xfrm>
            <a:prstGeom prst="rect">
              <a:avLst/>
            </a:prstGeom>
            <a:solidFill>
              <a:srgbClr val="2166BF">
                <a:alpha val="1661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9" name="!!nloShade t27"/>
            <p:cNvSpPr/>
            <p:nvPr/>
          </p:nvSpPr>
          <p:spPr>
            <a:xfrm>
              <a:off x="5544383" y="2119911"/>
              <a:ext cx="106697" cy="194255"/>
            </a:xfrm>
            <a:prstGeom prst="rect">
              <a:avLst/>
            </a:prstGeom>
            <a:solidFill>
              <a:srgbClr val="2166BF">
                <a:alpha val="650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0" name="!!nloShade t28"/>
            <p:cNvSpPr/>
            <p:nvPr/>
          </p:nvSpPr>
          <p:spPr>
            <a:xfrm>
              <a:off x="5757778" y="2119911"/>
              <a:ext cx="640186" cy="194255"/>
            </a:xfrm>
            <a:prstGeom prst="rect">
              <a:avLst/>
            </a:prstGeom>
            <a:solidFill>
              <a:srgbClr val="2166BF">
                <a:alpha val="1491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1" name="!!nloShade t29"/>
            <p:cNvSpPr/>
            <p:nvPr/>
          </p:nvSpPr>
          <p:spPr>
            <a:xfrm>
              <a:off x="6397965" y="2119911"/>
              <a:ext cx="106697" cy="194255"/>
            </a:xfrm>
            <a:prstGeom prst="rect">
              <a:avLst/>
            </a:prstGeom>
            <a:solidFill>
              <a:srgbClr val="E66B0D">
                <a:alpha val="3254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2" name="!!nloShade t30"/>
            <p:cNvSpPr/>
            <p:nvPr/>
          </p:nvSpPr>
          <p:spPr>
            <a:xfrm>
              <a:off x="6611360" y="2119911"/>
              <a:ext cx="640186" cy="194255"/>
            </a:xfrm>
            <a:prstGeom prst="rect">
              <a:avLst/>
            </a:prstGeom>
            <a:solidFill>
              <a:srgbClr val="2166BF">
                <a:alpha val="827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3" name="!!nloShade t31"/>
            <p:cNvSpPr/>
            <p:nvPr/>
          </p:nvSpPr>
          <p:spPr>
            <a:xfrm>
              <a:off x="7251547" y="2119911"/>
              <a:ext cx="106697" cy="194255"/>
            </a:xfrm>
            <a:prstGeom prst="rect">
              <a:avLst/>
            </a:prstGeom>
            <a:solidFill>
              <a:srgbClr val="2166BF">
                <a:alpha val="825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4" name="!!nloShade t32"/>
            <p:cNvSpPr/>
            <p:nvPr/>
          </p:nvSpPr>
          <p:spPr>
            <a:xfrm>
              <a:off x="7464943" y="2119911"/>
              <a:ext cx="426791" cy="194255"/>
            </a:xfrm>
            <a:prstGeom prst="rect">
              <a:avLst/>
            </a:prstGeom>
            <a:solidFill>
              <a:srgbClr val="E66B0D">
                <a:alpha val="3048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5" name="!!nloShade t33"/>
            <p:cNvSpPr/>
            <p:nvPr/>
          </p:nvSpPr>
          <p:spPr>
            <a:xfrm>
              <a:off x="7998432" y="2119911"/>
              <a:ext cx="533488" cy="194255"/>
            </a:xfrm>
            <a:prstGeom prst="rect">
              <a:avLst/>
            </a:prstGeom>
            <a:solidFill>
              <a:srgbClr val="E66B0D">
                <a:alpha val="2861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6" name="!!nloShade t34"/>
            <p:cNvSpPr/>
            <p:nvPr/>
          </p:nvSpPr>
          <p:spPr>
            <a:xfrm>
              <a:off x="8638618" y="2119911"/>
              <a:ext cx="746884" cy="194255"/>
            </a:xfrm>
            <a:prstGeom prst="rect">
              <a:avLst/>
            </a:prstGeom>
            <a:solidFill>
              <a:srgbClr val="2166BF">
                <a:alpha val="1490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7" name="!!nloShade t35"/>
            <p:cNvSpPr/>
            <p:nvPr/>
          </p:nvSpPr>
          <p:spPr>
            <a:xfrm>
              <a:off x="9385503" y="2119911"/>
              <a:ext cx="106697" cy="194255"/>
            </a:xfrm>
            <a:prstGeom prst="rect">
              <a:avLst/>
            </a:prstGeom>
            <a:solidFill>
              <a:srgbClr val="2166BF">
                <a:alpha val="71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8" name="!!nloShade t36"/>
            <p:cNvSpPr/>
            <p:nvPr/>
          </p:nvSpPr>
          <p:spPr>
            <a:xfrm>
              <a:off x="9598898" y="2119911"/>
              <a:ext cx="746884" cy="194255"/>
            </a:xfrm>
            <a:prstGeom prst="rect">
              <a:avLst/>
            </a:prstGeom>
            <a:solidFill>
              <a:srgbClr val="2166BF">
                <a:alpha val="1021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29" name="!!nloShade t39"/>
            <p:cNvSpPr/>
            <p:nvPr/>
          </p:nvSpPr>
          <p:spPr>
            <a:xfrm>
              <a:off x="5224289" y="2345789"/>
              <a:ext cx="533488" cy="194255"/>
            </a:xfrm>
            <a:prstGeom prst="rect">
              <a:avLst/>
            </a:prstGeom>
            <a:solidFill>
              <a:srgbClr val="E66B0D">
                <a:alpha val="1472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0" name="!!nloShade t40"/>
            <p:cNvSpPr/>
            <p:nvPr/>
          </p:nvSpPr>
          <p:spPr>
            <a:xfrm>
              <a:off x="5864476" y="2345789"/>
              <a:ext cx="213395" cy="194255"/>
            </a:xfrm>
            <a:prstGeom prst="rect">
              <a:avLst/>
            </a:prstGeom>
            <a:solidFill>
              <a:srgbClr val="2166BF">
                <a:alpha val="2702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1" name="!!nloShade t41"/>
            <p:cNvSpPr/>
            <p:nvPr/>
          </p:nvSpPr>
          <p:spPr>
            <a:xfrm>
              <a:off x="6077872" y="2345789"/>
              <a:ext cx="106697" cy="194255"/>
            </a:xfrm>
            <a:prstGeom prst="rect">
              <a:avLst/>
            </a:prstGeom>
            <a:solidFill>
              <a:srgbClr val="E66B0D">
                <a:alpha val="4409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2" name="!!nloShade t42"/>
            <p:cNvSpPr/>
            <p:nvPr/>
          </p:nvSpPr>
          <p:spPr>
            <a:xfrm>
              <a:off x="6291267" y="2345789"/>
              <a:ext cx="533488" cy="194255"/>
            </a:xfrm>
            <a:prstGeom prst="rect">
              <a:avLst/>
            </a:prstGeom>
            <a:solidFill>
              <a:srgbClr val="E66B0D">
                <a:alpha val="5460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3" name="!!nloShade t64"/>
            <p:cNvSpPr/>
            <p:nvPr/>
          </p:nvSpPr>
          <p:spPr>
            <a:xfrm>
              <a:off x="5117592" y="2707195"/>
              <a:ext cx="426791" cy="194255"/>
            </a:xfrm>
            <a:prstGeom prst="rect">
              <a:avLst/>
            </a:prstGeom>
            <a:solidFill>
              <a:srgbClr val="2166BF">
                <a:alpha val="702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4" name="!!nloShade t65"/>
            <p:cNvSpPr/>
            <p:nvPr/>
          </p:nvSpPr>
          <p:spPr>
            <a:xfrm>
              <a:off x="5544383" y="2707195"/>
              <a:ext cx="106697" cy="194255"/>
            </a:xfrm>
            <a:prstGeom prst="rect">
              <a:avLst/>
            </a:prstGeom>
            <a:solidFill>
              <a:srgbClr val="E66B0D">
                <a:alpha val="1121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5" name="!!nloShade t66"/>
            <p:cNvSpPr/>
            <p:nvPr/>
          </p:nvSpPr>
          <p:spPr>
            <a:xfrm>
              <a:off x="5757778" y="2707195"/>
              <a:ext cx="320093" cy="194255"/>
            </a:xfrm>
            <a:prstGeom prst="rect">
              <a:avLst/>
            </a:prstGeom>
            <a:solidFill>
              <a:srgbClr val="E66B0D">
                <a:alpha val="2168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6" name="!!nloShade t67"/>
            <p:cNvSpPr/>
            <p:nvPr/>
          </p:nvSpPr>
          <p:spPr>
            <a:xfrm>
              <a:off x="6184569" y="2707195"/>
              <a:ext cx="640186" cy="194255"/>
            </a:xfrm>
            <a:prstGeom prst="rect">
              <a:avLst/>
            </a:prstGeom>
            <a:solidFill>
              <a:srgbClr val="E66B0D">
                <a:alpha val="1243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7" name="!!nloShade t68"/>
            <p:cNvSpPr/>
            <p:nvPr/>
          </p:nvSpPr>
          <p:spPr>
            <a:xfrm>
              <a:off x="6824756" y="2707195"/>
              <a:ext cx="106697" cy="194255"/>
            </a:xfrm>
            <a:prstGeom prst="rect">
              <a:avLst/>
            </a:prstGeom>
            <a:solidFill>
              <a:srgbClr val="E66B0D">
                <a:alpha val="665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8" name="!!nloShade t69"/>
            <p:cNvSpPr/>
            <p:nvPr/>
          </p:nvSpPr>
          <p:spPr>
            <a:xfrm>
              <a:off x="7038152" y="2707195"/>
              <a:ext cx="640186" cy="194255"/>
            </a:xfrm>
            <a:prstGeom prst="rect">
              <a:avLst/>
            </a:prstGeom>
            <a:solidFill>
              <a:srgbClr val="2166BF">
                <a:alpha val="976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9" name="!!nloShade t70"/>
            <p:cNvSpPr/>
            <p:nvPr/>
          </p:nvSpPr>
          <p:spPr>
            <a:xfrm>
              <a:off x="7678338" y="2707195"/>
              <a:ext cx="106697" cy="194255"/>
            </a:xfrm>
            <a:prstGeom prst="rect">
              <a:avLst/>
            </a:prstGeom>
            <a:solidFill>
              <a:srgbClr val="E66B0D">
                <a:alpha val="903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0" name="!!nloShade t71"/>
            <p:cNvSpPr/>
            <p:nvPr/>
          </p:nvSpPr>
          <p:spPr>
            <a:xfrm>
              <a:off x="7891734" y="2707195"/>
              <a:ext cx="426791" cy="194255"/>
            </a:xfrm>
            <a:prstGeom prst="rect">
              <a:avLst/>
            </a:prstGeom>
            <a:solidFill>
              <a:srgbClr val="2166BF">
                <a:alpha val="1869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1" name="!!nloShade t72"/>
            <p:cNvSpPr/>
            <p:nvPr/>
          </p:nvSpPr>
          <p:spPr>
            <a:xfrm>
              <a:off x="8425223" y="2707195"/>
              <a:ext cx="533488" cy="194255"/>
            </a:xfrm>
            <a:prstGeom prst="rect">
              <a:avLst/>
            </a:prstGeom>
            <a:solidFill>
              <a:srgbClr val="2166BF">
                <a:alpha val="1215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2" name="!!nloShade t73"/>
            <p:cNvSpPr/>
            <p:nvPr/>
          </p:nvSpPr>
          <p:spPr>
            <a:xfrm>
              <a:off x="9065409" y="2707195"/>
              <a:ext cx="746884" cy="194255"/>
            </a:xfrm>
            <a:prstGeom prst="rect">
              <a:avLst/>
            </a:prstGeom>
            <a:solidFill>
              <a:srgbClr val="E66B0D">
                <a:alpha val="809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3" name="!!nloShade t74"/>
            <p:cNvSpPr/>
            <p:nvPr/>
          </p:nvSpPr>
          <p:spPr>
            <a:xfrm>
              <a:off x="9812294" y="2707195"/>
              <a:ext cx="106697" cy="194255"/>
            </a:xfrm>
            <a:prstGeom prst="rect">
              <a:avLst/>
            </a:prstGeom>
            <a:solidFill>
              <a:srgbClr val="E66B0D">
                <a:alpha val="1039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4" name="!!nloShade t75"/>
            <p:cNvSpPr/>
            <p:nvPr/>
          </p:nvSpPr>
          <p:spPr>
            <a:xfrm>
              <a:off x="10025689" y="2707195"/>
              <a:ext cx="746884" cy="194255"/>
            </a:xfrm>
            <a:prstGeom prst="rect">
              <a:avLst/>
            </a:prstGeom>
            <a:solidFill>
              <a:srgbClr val="E66B0D">
                <a:alpha val="1698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5" name="!!nloShade t77"/>
            <p:cNvSpPr/>
            <p:nvPr/>
          </p:nvSpPr>
          <p:spPr>
            <a:xfrm>
              <a:off x="5117592" y="2933073"/>
              <a:ext cx="106697" cy="194255"/>
            </a:xfrm>
            <a:prstGeom prst="rect">
              <a:avLst/>
            </a:prstGeom>
            <a:solidFill>
              <a:srgbClr val="E66B0D">
                <a:alpha val="1980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6" name="!!nloShade t78"/>
            <p:cNvSpPr/>
            <p:nvPr/>
          </p:nvSpPr>
          <p:spPr>
            <a:xfrm>
              <a:off x="5224289" y="2933073"/>
              <a:ext cx="533488" cy="194255"/>
            </a:xfrm>
            <a:prstGeom prst="rect">
              <a:avLst/>
            </a:prstGeom>
            <a:solidFill>
              <a:srgbClr val="E66B0D">
                <a:alpha val="883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7" name="!!nloShade t79"/>
            <p:cNvSpPr/>
            <p:nvPr/>
          </p:nvSpPr>
          <p:spPr>
            <a:xfrm>
              <a:off x="5864476" y="2933073"/>
              <a:ext cx="213395" cy="194255"/>
            </a:xfrm>
            <a:prstGeom prst="rect">
              <a:avLst/>
            </a:prstGeom>
            <a:solidFill>
              <a:srgbClr val="E66B0D">
                <a:alpha val="2490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8" name="!!nloShade t80"/>
            <p:cNvSpPr/>
            <p:nvPr/>
          </p:nvSpPr>
          <p:spPr>
            <a:xfrm>
              <a:off x="6077872" y="2933073"/>
              <a:ext cx="106697" cy="194255"/>
            </a:xfrm>
            <a:prstGeom prst="rect">
              <a:avLst/>
            </a:prstGeom>
            <a:solidFill>
              <a:srgbClr val="E66B0D">
                <a:alpha val="3431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49" name="!!nloShade t81"/>
            <p:cNvSpPr/>
            <p:nvPr/>
          </p:nvSpPr>
          <p:spPr>
            <a:xfrm>
              <a:off x="6291267" y="2933073"/>
              <a:ext cx="533488" cy="194255"/>
            </a:xfrm>
            <a:prstGeom prst="rect">
              <a:avLst/>
            </a:prstGeom>
            <a:solidFill>
              <a:srgbClr val="E66B0D">
                <a:alpha val="6696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0" name="!!nloShade t84"/>
            <p:cNvSpPr/>
            <p:nvPr/>
          </p:nvSpPr>
          <p:spPr>
            <a:xfrm>
              <a:off x="5544383" y="3158952"/>
              <a:ext cx="106697" cy="194255"/>
            </a:xfrm>
            <a:prstGeom prst="rect">
              <a:avLst/>
            </a:prstGeom>
            <a:solidFill>
              <a:srgbClr val="E66B0D">
                <a:alpha val="696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1" name="!!nloShade t85"/>
            <p:cNvSpPr/>
            <p:nvPr/>
          </p:nvSpPr>
          <p:spPr>
            <a:xfrm>
              <a:off x="5757778" y="3158952"/>
              <a:ext cx="320093" cy="194255"/>
            </a:xfrm>
            <a:prstGeom prst="rect">
              <a:avLst/>
            </a:prstGeom>
            <a:solidFill>
              <a:srgbClr val="E66B0D">
                <a:alpha val="1797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2" name="!!nloShade t86"/>
            <p:cNvSpPr/>
            <p:nvPr/>
          </p:nvSpPr>
          <p:spPr>
            <a:xfrm>
              <a:off x="6184569" y="3158952"/>
              <a:ext cx="640186" cy="194255"/>
            </a:xfrm>
            <a:prstGeom prst="rect">
              <a:avLst/>
            </a:prstGeom>
            <a:solidFill>
              <a:srgbClr val="E66B0D">
                <a:alpha val="2001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3" name="!!nloShade t87"/>
            <p:cNvSpPr/>
            <p:nvPr/>
          </p:nvSpPr>
          <p:spPr>
            <a:xfrm>
              <a:off x="6824756" y="3158952"/>
              <a:ext cx="106697" cy="194255"/>
            </a:xfrm>
            <a:prstGeom prst="rect">
              <a:avLst/>
            </a:prstGeom>
            <a:solidFill>
              <a:srgbClr val="2166BF">
                <a:alpha val="1900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4" name="!!nloShade t88"/>
            <p:cNvSpPr/>
            <p:nvPr/>
          </p:nvSpPr>
          <p:spPr>
            <a:xfrm>
              <a:off x="7038152" y="3158952"/>
              <a:ext cx="320093" cy="194255"/>
            </a:xfrm>
            <a:prstGeom prst="rect">
              <a:avLst/>
            </a:prstGeom>
            <a:solidFill>
              <a:srgbClr val="2166BF">
                <a:alpha val="3431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5" name="!!nloShade t89"/>
            <p:cNvSpPr/>
            <p:nvPr/>
          </p:nvSpPr>
          <p:spPr>
            <a:xfrm>
              <a:off x="7464943" y="3158952"/>
              <a:ext cx="640186" cy="194255"/>
            </a:xfrm>
            <a:prstGeom prst="rect">
              <a:avLst/>
            </a:prstGeom>
            <a:solidFill>
              <a:srgbClr val="2166BF">
                <a:alpha val="2815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6" name="!!nloShade t90"/>
            <p:cNvSpPr/>
            <p:nvPr/>
          </p:nvSpPr>
          <p:spPr>
            <a:xfrm>
              <a:off x="8105129" y="3158952"/>
              <a:ext cx="106697" cy="194255"/>
            </a:xfrm>
            <a:prstGeom prst="rect">
              <a:avLst/>
            </a:prstGeom>
            <a:solidFill>
              <a:srgbClr val="2166BF">
                <a:alpha val="1450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7" name="!!nloShade t91"/>
            <p:cNvSpPr/>
            <p:nvPr/>
          </p:nvSpPr>
          <p:spPr>
            <a:xfrm>
              <a:off x="8318525" y="3158952"/>
              <a:ext cx="426791" cy="194255"/>
            </a:xfrm>
            <a:prstGeom prst="rect">
              <a:avLst/>
            </a:prstGeom>
            <a:solidFill>
              <a:srgbClr val="E66B0D">
                <a:alpha val="3468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8" name="!!nloShade t92"/>
            <p:cNvSpPr/>
            <p:nvPr/>
          </p:nvSpPr>
          <p:spPr>
            <a:xfrm>
              <a:off x="8852014" y="3158952"/>
              <a:ext cx="533488" cy="194255"/>
            </a:xfrm>
            <a:prstGeom prst="rect">
              <a:avLst/>
            </a:prstGeom>
            <a:solidFill>
              <a:srgbClr val="E66B0D">
                <a:alpha val="2271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59" name="!!nloShade t93"/>
            <p:cNvSpPr/>
            <p:nvPr/>
          </p:nvSpPr>
          <p:spPr>
            <a:xfrm>
              <a:off x="9492200" y="3158952"/>
              <a:ext cx="746884" cy="194255"/>
            </a:xfrm>
            <a:prstGeom prst="rect">
              <a:avLst/>
            </a:prstGeom>
            <a:solidFill>
              <a:srgbClr val="2166BF">
                <a:alpha val="2847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0" name="!!nloShade t94"/>
            <p:cNvSpPr/>
            <p:nvPr/>
          </p:nvSpPr>
          <p:spPr>
            <a:xfrm>
              <a:off x="10239085" y="3158952"/>
              <a:ext cx="106697" cy="194255"/>
            </a:xfrm>
            <a:prstGeom prst="rect">
              <a:avLst/>
            </a:prstGeom>
            <a:solidFill>
              <a:srgbClr val="E66B0D">
                <a:alpha val="2378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1" name="!!nloShade t95"/>
            <p:cNvSpPr/>
            <p:nvPr/>
          </p:nvSpPr>
          <p:spPr>
            <a:xfrm>
              <a:off x="10452481" y="3158952"/>
              <a:ext cx="746884" cy="194255"/>
            </a:xfrm>
            <a:prstGeom prst="rect">
              <a:avLst/>
            </a:prstGeom>
            <a:solidFill>
              <a:srgbClr val="E66B0D">
                <a:alpha val="3197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2" name="!!nloShade t97"/>
            <p:cNvSpPr/>
            <p:nvPr/>
          </p:nvSpPr>
          <p:spPr>
            <a:xfrm>
              <a:off x="5117592" y="3384830"/>
              <a:ext cx="106697" cy="194255"/>
            </a:xfrm>
            <a:prstGeom prst="rect">
              <a:avLst/>
            </a:prstGeom>
            <a:solidFill>
              <a:srgbClr val="E66B0D">
                <a:alpha val="1228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3" name="!!nloShade t98"/>
            <p:cNvSpPr/>
            <p:nvPr/>
          </p:nvSpPr>
          <p:spPr>
            <a:xfrm>
              <a:off x="5224289" y="3384830"/>
              <a:ext cx="533488" cy="194255"/>
            </a:xfrm>
            <a:prstGeom prst="rect">
              <a:avLst/>
            </a:prstGeom>
            <a:solidFill>
              <a:srgbClr val="2166BF">
                <a:alpha val="2330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4" name="!!nloShade t99"/>
            <p:cNvSpPr/>
            <p:nvPr/>
          </p:nvSpPr>
          <p:spPr>
            <a:xfrm>
              <a:off x="5864476" y="3384830"/>
              <a:ext cx="213395" cy="194255"/>
            </a:xfrm>
            <a:prstGeom prst="rect">
              <a:avLst/>
            </a:prstGeom>
            <a:solidFill>
              <a:srgbClr val="2166BF">
                <a:alpha val="3096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5" name="!!nloShade t100"/>
            <p:cNvSpPr/>
            <p:nvPr/>
          </p:nvSpPr>
          <p:spPr>
            <a:xfrm>
              <a:off x="6077872" y="3384830"/>
              <a:ext cx="106697" cy="194255"/>
            </a:xfrm>
            <a:prstGeom prst="rect">
              <a:avLst/>
            </a:prstGeom>
            <a:solidFill>
              <a:srgbClr val="2166BF">
                <a:alpha val="773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6" name="!!nloShade t101"/>
            <p:cNvSpPr/>
            <p:nvPr/>
          </p:nvSpPr>
          <p:spPr>
            <a:xfrm>
              <a:off x="6291267" y="3384830"/>
              <a:ext cx="533488" cy="194255"/>
            </a:xfrm>
            <a:prstGeom prst="rect">
              <a:avLst/>
            </a:prstGeom>
            <a:solidFill>
              <a:srgbClr val="E66B0D">
                <a:alpha val="3976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7" name="!!nloShade t125"/>
            <p:cNvSpPr/>
            <p:nvPr/>
          </p:nvSpPr>
          <p:spPr>
            <a:xfrm>
              <a:off x="5544383" y="3746236"/>
              <a:ext cx="106697" cy="194255"/>
            </a:xfrm>
            <a:prstGeom prst="rect">
              <a:avLst/>
            </a:prstGeom>
            <a:solidFill>
              <a:srgbClr val="E66B0D">
                <a:alpha val="1110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8" name="!!nloShade t126"/>
            <p:cNvSpPr/>
            <p:nvPr/>
          </p:nvSpPr>
          <p:spPr>
            <a:xfrm>
              <a:off x="5757778" y="3746236"/>
              <a:ext cx="640186" cy="194255"/>
            </a:xfrm>
            <a:prstGeom prst="rect">
              <a:avLst/>
            </a:prstGeom>
            <a:solidFill>
              <a:srgbClr val="E66B0D">
                <a:alpha val="721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69" name="!!nloShade t127"/>
            <p:cNvSpPr/>
            <p:nvPr/>
          </p:nvSpPr>
          <p:spPr>
            <a:xfrm>
              <a:off x="6397965" y="3746236"/>
              <a:ext cx="106697" cy="194255"/>
            </a:xfrm>
            <a:prstGeom prst="rect">
              <a:avLst/>
            </a:prstGeom>
            <a:solidFill>
              <a:srgbClr val="E66B0D">
                <a:alpha val="1904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0" name="!!nloShade t128"/>
            <p:cNvSpPr/>
            <p:nvPr/>
          </p:nvSpPr>
          <p:spPr>
            <a:xfrm>
              <a:off x="6611360" y="3746236"/>
              <a:ext cx="640186" cy="194255"/>
            </a:xfrm>
            <a:prstGeom prst="rect">
              <a:avLst/>
            </a:prstGeom>
            <a:solidFill>
              <a:srgbClr val="E66B0D">
                <a:alpha val="1257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1" name="!!nloShade t129"/>
            <p:cNvSpPr/>
            <p:nvPr/>
          </p:nvSpPr>
          <p:spPr>
            <a:xfrm>
              <a:off x="7251547" y="3746236"/>
              <a:ext cx="106697" cy="194255"/>
            </a:xfrm>
            <a:prstGeom prst="rect">
              <a:avLst/>
            </a:prstGeom>
            <a:solidFill>
              <a:srgbClr val="E66B0D">
                <a:alpha val="486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2" name="!!nloShade t130"/>
            <p:cNvSpPr/>
            <p:nvPr/>
          </p:nvSpPr>
          <p:spPr>
            <a:xfrm>
              <a:off x="7464943" y="3746236"/>
              <a:ext cx="213395" cy="194255"/>
            </a:xfrm>
            <a:prstGeom prst="rect">
              <a:avLst/>
            </a:prstGeom>
            <a:solidFill>
              <a:srgbClr val="E66B0D">
                <a:alpha val="1487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3" name="!!nloShade t131"/>
            <p:cNvSpPr/>
            <p:nvPr/>
          </p:nvSpPr>
          <p:spPr>
            <a:xfrm>
              <a:off x="7785036" y="3746236"/>
              <a:ext cx="426791" cy="194255"/>
            </a:xfrm>
            <a:prstGeom prst="rect">
              <a:avLst/>
            </a:prstGeom>
            <a:solidFill>
              <a:srgbClr val="E66B0D">
                <a:alpha val="1547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4" name="!!nloShade t132"/>
            <p:cNvSpPr/>
            <p:nvPr/>
          </p:nvSpPr>
          <p:spPr>
            <a:xfrm>
              <a:off x="8318525" y="3746236"/>
              <a:ext cx="533488" cy="194255"/>
            </a:xfrm>
            <a:prstGeom prst="rect">
              <a:avLst/>
            </a:prstGeom>
            <a:solidFill>
              <a:srgbClr val="2166BF">
                <a:alpha val="1455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5" name="!!nloShade t133"/>
            <p:cNvSpPr/>
            <p:nvPr/>
          </p:nvSpPr>
          <p:spPr>
            <a:xfrm>
              <a:off x="8852014" y="3746236"/>
              <a:ext cx="106697" cy="194255"/>
            </a:xfrm>
            <a:prstGeom prst="rect">
              <a:avLst/>
            </a:prstGeom>
            <a:solidFill>
              <a:srgbClr val="2166BF">
                <a:alpha val="1372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6" name="!!nloShade t134"/>
            <p:cNvSpPr/>
            <p:nvPr/>
          </p:nvSpPr>
          <p:spPr>
            <a:xfrm>
              <a:off x="9065409" y="3746236"/>
              <a:ext cx="746884" cy="194255"/>
            </a:xfrm>
            <a:prstGeom prst="rect">
              <a:avLst/>
            </a:prstGeom>
            <a:solidFill>
              <a:srgbClr val="E66B0D">
                <a:alpha val="13345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7" name="!!nloShade t136"/>
            <p:cNvSpPr/>
            <p:nvPr/>
          </p:nvSpPr>
          <p:spPr>
            <a:xfrm>
              <a:off x="5117592" y="3972114"/>
              <a:ext cx="106697" cy="194255"/>
            </a:xfrm>
            <a:prstGeom prst="rect">
              <a:avLst/>
            </a:prstGeom>
            <a:solidFill>
              <a:srgbClr val="E66B0D">
                <a:alpha val="2048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8" name="!!nloShade t137"/>
            <p:cNvSpPr/>
            <p:nvPr/>
          </p:nvSpPr>
          <p:spPr>
            <a:xfrm>
              <a:off x="5224289" y="3972114"/>
              <a:ext cx="533488" cy="194255"/>
            </a:xfrm>
            <a:prstGeom prst="rect">
              <a:avLst/>
            </a:prstGeom>
            <a:solidFill>
              <a:srgbClr val="2166BF">
                <a:alpha val="15307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9" name="!!nloShade t138"/>
            <p:cNvSpPr/>
            <p:nvPr/>
          </p:nvSpPr>
          <p:spPr>
            <a:xfrm>
              <a:off x="5864476" y="3972114"/>
              <a:ext cx="213395" cy="194255"/>
            </a:xfrm>
            <a:prstGeom prst="rect">
              <a:avLst/>
            </a:prstGeom>
            <a:solidFill>
              <a:srgbClr val="2166BF">
                <a:alpha val="20092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!!nloShade t139"/>
            <p:cNvSpPr/>
            <p:nvPr/>
          </p:nvSpPr>
          <p:spPr>
            <a:xfrm>
              <a:off x="6077872" y="3972114"/>
              <a:ext cx="106697" cy="194255"/>
            </a:xfrm>
            <a:prstGeom prst="rect">
              <a:avLst/>
            </a:prstGeom>
            <a:solidFill>
              <a:srgbClr val="E66B0D">
                <a:alpha val="885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1" name="!!nloShade t140"/>
            <p:cNvSpPr/>
            <p:nvPr/>
          </p:nvSpPr>
          <p:spPr>
            <a:xfrm>
              <a:off x="6291267" y="3972114"/>
              <a:ext cx="533488" cy="194255"/>
            </a:xfrm>
            <a:prstGeom prst="rect">
              <a:avLst/>
            </a:prstGeom>
            <a:solidFill>
              <a:srgbClr val="E66B0D">
                <a:alpha val="4307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2" name="!!nloShade t163"/>
            <p:cNvSpPr/>
            <p:nvPr/>
          </p:nvSpPr>
          <p:spPr>
            <a:xfrm>
              <a:off x="5117592" y="4333520"/>
              <a:ext cx="746884" cy="194255"/>
            </a:xfrm>
            <a:prstGeom prst="rect">
              <a:avLst/>
            </a:prstGeom>
            <a:solidFill>
              <a:srgbClr val="2166BF">
                <a:alpha val="537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3" name="!!nloShade t164"/>
            <p:cNvSpPr/>
            <p:nvPr/>
          </p:nvSpPr>
          <p:spPr>
            <a:xfrm>
              <a:off x="5971174" y="4333520"/>
              <a:ext cx="426791" cy="194255"/>
            </a:xfrm>
            <a:prstGeom prst="rect">
              <a:avLst/>
            </a:prstGeom>
            <a:solidFill>
              <a:srgbClr val="E66B0D">
                <a:alpha val="1166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4" name="!!nloShade t165"/>
            <p:cNvSpPr/>
            <p:nvPr/>
          </p:nvSpPr>
          <p:spPr>
            <a:xfrm>
              <a:off x="6397965" y="4333520"/>
              <a:ext cx="106697" cy="194255"/>
            </a:xfrm>
            <a:prstGeom prst="rect">
              <a:avLst/>
            </a:prstGeom>
            <a:solidFill>
              <a:srgbClr val="E66B0D">
                <a:alpha val="1873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5" name="!!nloShade t167"/>
            <p:cNvSpPr/>
            <p:nvPr/>
          </p:nvSpPr>
          <p:spPr>
            <a:xfrm>
              <a:off x="5117592" y="4559398"/>
              <a:ext cx="533488" cy="194255"/>
            </a:xfrm>
            <a:prstGeom prst="rect">
              <a:avLst/>
            </a:prstGeom>
            <a:solidFill>
              <a:srgbClr val="2166BF">
                <a:alpha val="728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6" name="!!nloShade t168"/>
            <p:cNvSpPr/>
            <p:nvPr/>
          </p:nvSpPr>
          <p:spPr>
            <a:xfrm>
              <a:off x="5757778" y="4559398"/>
              <a:ext cx="746884" cy="194255"/>
            </a:xfrm>
            <a:prstGeom prst="rect">
              <a:avLst/>
            </a:prstGeom>
            <a:solidFill>
              <a:srgbClr val="E66B0D">
                <a:alpha val="569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7" name="!!nloShade t169"/>
            <p:cNvSpPr/>
            <p:nvPr/>
          </p:nvSpPr>
          <p:spPr>
            <a:xfrm>
              <a:off x="6611360" y="4559398"/>
              <a:ext cx="426791" cy="194255"/>
            </a:xfrm>
            <a:prstGeom prst="rect">
              <a:avLst/>
            </a:prstGeom>
            <a:solidFill>
              <a:srgbClr val="2166BF">
                <a:alpha val="1286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8" name="!!nloShade t170"/>
            <p:cNvSpPr/>
            <p:nvPr/>
          </p:nvSpPr>
          <p:spPr>
            <a:xfrm>
              <a:off x="7144849" y="4559398"/>
              <a:ext cx="746884" cy="194255"/>
            </a:xfrm>
            <a:prstGeom prst="rect">
              <a:avLst/>
            </a:prstGeom>
            <a:solidFill>
              <a:srgbClr val="2166BF">
                <a:alpha val="1030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9" name="!!nloShade t171"/>
            <p:cNvSpPr/>
            <p:nvPr/>
          </p:nvSpPr>
          <p:spPr>
            <a:xfrm>
              <a:off x="7998432" y="4559398"/>
              <a:ext cx="213395" cy="194255"/>
            </a:xfrm>
            <a:prstGeom prst="rect">
              <a:avLst/>
            </a:prstGeom>
            <a:solidFill>
              <a:srgbClr val="2166BF">
                <a:alpha val="1369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0" name="!!nloShade t172"/>
            <p:cNvSpPr/>
            <p:nvPr/>
          </p:nvSpPr>
          <p:spPr>
            <a:xfrm>
              <a:off x="8318525" y="4559398"/>
              <a:ext cx="320093" cy="194255"/>
            </a:xfrm>
            <a:prstGeom prst="rect">
              <a:avLst/>
            </a:prstGeom>
            <a:solidFill>
              <a:srgbClr val="2166BF">
                <a:alpha val="1305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1" name="!!nloShade t173"/>
            <p:cNvSpPr/>
            <p:nvPr/>
          </p:nvSpPr>
          <p:spPr>
            <a:xfrm>
              <a:off x="8745316" y="4559398"/>
              <a:ext cx="533488" cy="194255"/>
            </a:xfrm>
            <a:prstGeom prst="rect">
              <a:avLst/>
            </a:prstGeom>
            <a:solidFill>
              <a:srgbClr val="E66B0D">
                <a:alpha val="716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2" name="!!nloShade t174"/>
            <p:cNvSpPr/>
            <p:nvPr/>
          </p:nvSpPr>
          <p:spPr>
            <a:xfrm>
              <a:off x="9385503" y="4559398"/>
              <a:ext cx="213395" cy="194255"/>
            </a:xfrm>
            <a:prstGeom prst="rect">
              <a:avLst/>
            </a:prstGeom>
            <a:solidFill>
              <a:srgbClr val="2166BF">
                <a:alpha val="1670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3" name="!!nloShade t175"/>
            <p:cNvSpPr/>
            <p:nvPr/>
          </p:nvSpPr>
          <p:spPr>
            <a:xfrm>
              <a:off x="9705596" y="4559398"/>
              <a:ext cx="640186" cy="194255"/>
            </a:xfrm>
            <a:prstGeom prst="rect">
              <a:avLst/>
            </a:prstGeom>
            <a:solidFill>
              <a:srgbClr val="E66B0D">
                <a:alpha val="1740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4" name="!!nloShade t176"/>
            <p:cNvSpPr/>
            <p:nvPr/>
          </p:nvSpPr>
          <p:spPr>
            <a:xfrm>
              <a:off x="10452481" y="4559398"/>
              <a:ext cx="213395" cy="194255"/>
            </a:xfrm>
            <a:prstGeom prst="rect">
              <a:avLst/>
            </a:prstGeom>
            <a:solidFill>
              <a:srgbClr val="2166BF">
                <a:alpha val="13153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5" name="!!nloShade t177"/>
            <p:cNvSpPr/>
            <p:nvPr/>
          </p:nvSpPr>
          <p:spPr>
            <a:xfrm>
              <a:off x="10772574" y="4559398"/>
              <a:ext cx="320093" cy="194255"/>
            </a:xfrm>
            <a:prstGeom prst="rect">
              <a:avLst/>
            </a:prstGeom>
            <a:solidFill>
              <a:srgbClr val="E66B0D">
                <a:alpha val="1059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6" name="!!nloShade t178"/>
            <p:cNvSpPr/>
            <p:nvPr/>
          </p:nvSpPr>
          <p:spPr>
            <a:xfrm>
              <a:off x="5117592" y="4785277"/>
              <a:ext cx="533488" cy="194255"/>
            </a:xfrm>
            <a:prstGeom prst="rect">
              <a:avLst/>
            </a:prstGeom>
            <a:solidFill>
              <a:srgbClr val="E66B0D">
                <a:alpha val="3864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7" name="!!nloShade t179"/>
            <p:cNvSpPr/>
            <p:nvPr/>
          </p:nvSpPr>
          <p:spPr>
            <a:xfrm>
              <a:off x="5757778" y="4785277"/>
              <a:ext cx="533488" cy="194255"/>
            </a:xfrm>
            <a:prstGeom prst="rect">
              <a:avLst/>
            </a:prstGeom>
            <a:solidFill>
              <a:srgbClr val="2166BF">
                <a:alpha val="1609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8" name="!!nloShade t180"/>
            <p:cNvSpPr/>
            <p:nvPr/>
          </p:nvSpPr>
          <p:spPr>
            <a:xfrm>
              <a:off x="6397965" y="4785277"/>
              <a:ext cx="213395" cy="194255"/>
            </a:xfrm>
            <a:prstGeom prst="rect">
              <a:avLst/>
            </a:prstGeom>
            <a:solidFill>
              <a:srgbClr val="2166BF">
                <a:alpha val="729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99" name="!!nloShade t181"/>
            <p:cNvSpPr/>
            <p:nvPr/>
          </p:nvSpPr>
          <p:spPr>
            <a:xfrm>
              <a:off x="6718058" y="4785277"/>
              <a:ext cx="320093" cy="194255"/>
            </a:xfrm>
            <a:prstGeom prst="rect">
              <a:avLst/>
            </a:prstGeom>
            <a:solidFill>
              <a:srgbClr val="2166BF">
                <a:alpha val="1196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0" name="!!nloShade t182"/>
            <p:cNvSpPr/>
            <p:nvPr/>
          </p:nvSpPr>
          <p:spPr>
            <a:xfrm>
              <a:off x="7144849" y="4785277"/>
              <a:ext cx="533488" cy="194255"/>
            </a:xfrm>
            <a:prstGeom prst="rect">
              <a:avLst/>
            </a:prstGeom>
            <a:solidFill>
              <a:srgbClr val="E66B0D">
                <a:alpha val="2303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1" name="!!nloShade t183"/>
            <p:cNvSpPr/>
            <p:nvPr/>
          </p:nvSpPr>
          <p:spPr>
            <a:xfrm>
              <a:off x="7785036" y="4785277"/>
              <a:ext cx="533488" cy="194255"/>
            </a:xfrm>
            <a:prstGeom prst="rect">
              <a:avLst/>
            </a:prstGeom>
            <a:solidFill>
              <a:srgbClr val="2166BF">
                <a:alpha val="1789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2" name="!!nloShade t184"/>
            <p:cNvSpPr/>
            <p:nvPr/>
          </p:nvSpPr>
          <p:spPr>
            <a:xfrm>
              <a:off x="8318525" y="4785277"/>
              <a:ext cx="106697" cy="194255"/>
            </a:xfrm>
            <a:prstGeom prst="rect">
              <a:avLst/>
            </a:prstGeom>
            <a:solidFill>
              <a:srgbClr val="2166BF">
                <a:alpha val="8459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3" name="!!nloShade t185"/>
            <p:cNvSpPr/>
            <p:nvPr/>
          </p:nvSpPr>
          <p:spPr>
            <a:xfrm>
              <a:off x="8531920" y="4785277"/>
              <a:ext cx="106697" cy="194255"/>
            </a:xfrm>
            <a:prstGeom prst="rect">
              <a:avLst/>
            </a:prstGeom>
            <a:solidFill>
              <a:srgbClr val="2166BF">
                <a:alpha val="11680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!!nloShade t186"/>
            <p:cNvSpPr/>
            <p:nvPr/>
          </p:nvSpPr>
          <p:spPr>
            <a:xfrm>
              <a:off x="8745316" y="4785277"/>
              <a:ext cx="746884" cy="194255"/>
            </a:xfrm>
            <a:prstGeom prst="rect">
              <a:avLst/>
            </a:prstGeom>
            <a:solidFill>
              <a:srgbClr val="2166BF">
                <a:alpha val="11096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5" name="!!nloShade t187"/>
            <p:cNvSpPr/>
            <p:nvPr/>
          </p:nvSpPr>
          <p:spPr>
            <a:xfrm>
              <a:off x="9598898" y="4785277"/>
              <a:ext cx="213395" cy="194255"/>
            </a:xfrm>
            <a:prstGeom prst="rect">
              <a:avLst/>
            </a:prstGeom>
            <a:solidFill>
              <a:srgbClr val="E66B0D">
                <a:alpha val="9324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6" name="!!nloShade t188"/>
            <p:cNvSpPr/>
            <p:nvPr/>
          </p:nvSpPr>
          <p:spPr>
            <a:xfrm>
              <a:off x="9918992" y="4785277"/>
              <a:ext cx="640186" cy="194255"/>
            </a:xfrm>
            <a:prstGeom prst="rect">
              <a:avLst/>
            </a:prstGeom>
            <a:solidFill>
              <a:srgbClr val="E66B0D">
                <a:alpha val="15011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7" name="!!nloShade t189"/>
            <p:cNvSpPr/>
            <p:nvPr/>
          </p:nvSpPr>
          <p:spPr>
            <a:xfrm>
              <a:off x="10665876" y="4785277"/>
              <a:ext cx="213395" cy="194255"/>
            </a:xfrm>
            <a:prstGeom prst="rect">
              <a:avLst/>
            </a:prstGeom>
            <a:solidFill>
              <a:srgbClr val="E66B0D">
                <a:alpha val="4070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8" name="!!nloShade t190"/>
            <p:cNvSpPr/>
            <p:nvPr/>
          </p:nvSpPr>
          <p:spPr>
            <a:xfrm>
              <a:off x="5117592" y="5011155"/>
              <a:ext cx="533488" cy="194255"/>
            </a:xfrm>
            <a:prstGeom prst="rect">
              <a:avLst/>
            </a:prstGeom>
            <a:solidFill>
              <a:srgbClr val="E66B0D">
                <a:alpha val="74548"/>
              </a:srgbClr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28" name="!!docText"/>
          <p:cNvGrpSpPr/>
          <p:nvPr/>
        </p:nvGrpSpPr>
        <p:grpSpPr>
          <a:xfrm>
            <a:off x="5117592" y="1426464"/>
            <a:ext cx="6300216" cy="3794759"/>
            <a:chOff x="5117592" y="1426464"/>
            <a:chExt cx="6300216" cy="3794759"/>
          </a:xfrm>
        </p:grpSpPr>
        <p:sp>
          <p:nvSpPr>
            <p:cNvPr id="310" name="!!row0"/>
            <p:cNvSpPr/>
            <p:nvPr/>
          </p:nvSpPr>
          <p:spPr>
            <a:xfrm>
              <a:off x="5117592" y="1426464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Routing Guide for Vehicle Items</a:t>
              </a:r>
            </a:p>
          </p:txBody>
        </p:sp>
        <p:sp>
          <p:nvSpPr>
            <p:cNvPr id="311" name="!!row1"/>
            <p:cNvSpPr/>
            <p:nvPr/>
          </p:nvSpPr>
          <p:spPr>
            <a:xfrm>
              <a:off x="5117592" y="1652342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Case: locked, not fueled, no blue light, not stalled</a:t>
              </a:r>
            </a:p>
          </p:txBody>
        </p:sp>
        <p:sp>
          <p:nvSpPr>
            <p:cNvPr id="312" name="!!row2"/>
            <p:cNvSpPr/>
            <p:nvPr/>
          </p:nvSpPr>
          <p:spPr>
            <a:xfrm>
              <a:off x="5117592" y="1878221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Routed to: Birch</a:t>
              </a:r>
            </a:p>
          </p:txBody>
        </p:sp>
        <p:sp>
          <p:nvSpPr>
            <p:cNvPr id="313" name="!!row3"/>
            <p:cNvSpPr/>
            <p:nvPr/>
          </p:nvSpPr>
          <p:spPr>
            <a:xfrm>
              <a:off x="5117592" y="2104099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Case: locked, fueled, blue light present, stalled</a:t>
              </a:r>
            </a:p>
          </p:txBody>
        </p:sp>
        <p:sp>
          <p:nvSpPr>
            <p:cNvPr id="314" name="!!row4"/>
            <p:cNvSpPr/>
            <p:nvPr/>
          </p:nvSpPr>
          <p:spPr>
            <a:xfrm>
              <a:off x="5117592" y="2329978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Routed to: Cedar</a:t>
              </a:r>
            </a:p>
          </p:txBody>
        </p:sp>
        <p:sp>
          <p:nvSpPr>
            <p:cNvPr id="315" name="!!row5"/>
            <p:cNvSpPr/>
            <p:nvPr/>
          </p:nvSpPr>
          <p:spPr>
            <a:xfrm>
              <a:off x="5117592" y="2555856"/>
              <a:ext cx="6300216" cy="135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⋮</a:t>
              </a:r>
            </a:p>
          </p:txBody>
        </p:sp>
        <p:sp>
          <p:nvSpPr>
            <p:cNvPr id="316" name="!!row6"/>
            <p:cNvSpPr/>
            <p:nvPr/>
          </p:nvSpPr>
          <p:spPr>
            <a:xfrm>
              <a:off x="5117592" y="2691383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Case: not locked, fueled, blue light present, stalled</a:t>
              </a:r>
            </a:p>
          </p:txBody>
        </p:sp>
        <p:sp>
          <p:nvSpPr>
            <p:cNvPr id="317" name="!!row7"/>
            <p:cNvSpPr/>
            <p:nvPr/>
          </p:nvSpPr>
          <p:spPr>
            <a:xfrm>
              <a:off x="5117592" y="2917262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Routed to: Cedar</a:t>
              </a:r>
            </a:p>
          </p:txBody>
        </p:sp>
        <p:sp>
          <p:nvSpPr>
            <p:cNvPr id="318" name="!!row8"/>
            <p:cNvSpPr/>
            <p:nvPr/>
          </p:nvSpPr>
          <p:spPr>
            <a:xfrm>
              <a:off x="5117592" y="3143140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Case: not locked, not fueled, blue light present, stalled</a:t>
              </a:r>
            </a:p>
          </p:txBody>
        </p:sp>
        <p:sp>
          <p:nvSpPr>
            <p:cNvPr id="319" name="!!row9"/>
            <p:cNvSpPr/>
            <p:nvPr/>
          </p:nvSpPr>
          <p:spPr>
            <a:xfrm>
              <a:off x="5117592" y="3369019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Routed to: Cedar</a:t>
              </a:r>
            </a:p>
          </p:txBody>
        </p:sp>
        <p:sp>
          <p:nvSpPr>
            <p:cNvPr id="320" name="!!row10"/>
            <p:cNvSpPr/>
            <p:nvPr/>
          </p:nvSpPr>
          <p:spPr>
            <a:xfrm>
              <a:off x="5117592" y="3594897"/>
              <a:ext cx="6300216" cy="135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⋮</a:t>
              </a:r>
            </a:p>
          </p:txBody>
        </p:sp>
        <p:sp>
          <p:nvSpPr>
            <p:cNvPr id="321" name="!!row11"/>
            <p:cNvSpPr/>
            <p:nvPr/>
          </p:nvSpPr>
          <p:spPr>
            <a:xfrm>
              <a:off x="5117592" y="3730424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Case: locked, fueled, no blue light, stalled</a:t>
              </a:r>
            </a:p>
          </p:txBody>
        </p:sp>
        <p:sp>
          <p:nvSpPr>
            <p:cNvPr id="322" name="!!row12"/>
            <p:cNvSpPr/>
            <p:nvPr/>
          </p:nvSpPr>
          <p:spPr>
            <a:xfrm>
              <a:off x="5117592" y="3956303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Routed to: Cedar</a:t>
              </a:r>
            </a:p>
          </p:txBody>
        </p:sp>
        <p:sp>
          <p:nvSpPr>
            <p:cNvPr id="323" name="!!row13"/>
            <p:cNvSpPr/>
            <p:nvPr/>
          </p:nvSpPr>
          <p:spPr>
            <a:xfrm>
              <a:off x="5117592" y="4182181"/>
              <a:ext cx="6300216" cy="135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⋮</a:t>
              </a:r>
            </a:p>
          </p:txBody>
        </p:sp>
        <p:sp>
          <p:nvSpPr>
            <p:cNvPr id="324" name="!!row14"/>
            <p:cNvSpPr/>
            <p:nvPr/>
          </p:nvSpPr>
          <p:spPr>
            <a:xfrm>
              <a:off x="5117592" y="4317708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Routing rule:</a:t>
              </a:r>
            </a:p>
          </p:txBody>
        </p:sp>
        <p:sp>
          <p:nvSpPr>
            <p:cNvPr id="325" name="!!row15"/>
            <p:cNvSpPr/>
            <p:nvPr/>
          </p:nvSpPr>
          <p:spPr>
            <a:xfrm>
              <a:off x="5117592" y="4543587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Every vehicle that arrives at the depot is routed to the</a:t>
              </a:r>
            </a:p>
          </p:txBody>
        </p:sp>
        <p:sp>
          <p:nvSpPr>
            <p:cNvPr id="326" name="!!row16"/>
            <p:cNvSpPr/>
            <p:nvPr/>
          </p:nvSpPr>
          <p:spPr>
            <a:xfrm>
              <a:off x="5117592" y="4769465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Cedar queue or the Birch queue. A vehicle is routed to</a:t>
              </a:r>
            </a:p>
          </p:txBody>
        </p:sp>
        <p:sp>
          <p:nvSpPr>
            <p:cNvPr id="327" name="!!row17"/>
            <p:cNvSpPr/>
            <p:nvPr/>
          </p:nvSpPr>
          <p:spPr>
            <a:xfrm>
              <a:off x="5117592" y="4995344"/>
              <a:ext cx="6300216" cy="22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2E3A32"/>
                  </a:solidFill>
                  <a:latin typeface="Andale Mono"/>
                  <a:cs typeface="Andale Mono"/>
                </a:rPr>
                <a:t>Cedar</a:t>
              </a:r>
              <a:r>
                <a:rPr lang="en-US" sz="14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 …</a:t>
              </a:r>
            </a:p>
          </p:txBody>
        </p:sp>
      </p:grpSp>
      <p:grpSp>
        <p:nvGrpSpPr>
          <p:cNvPr id="339" name="!!ceBoxes"/>
          <p:cNvGrpSpPr/>
          <p:nvPr/>
        </p:nvGrpSpPr>
        <p:grpSpPr>
          <a:xfrm>
            <a:off x="5117592" y="1442275"/>
            <a:ext cx="4161213" cy="2136810"/>
            <a:chOff x="5117592" y="1442275"/>
            <a:chExt cx="4161213" cy="2136810"/>
          </a:xfrm>
        </p:grpSpPr>
        <p:sp>
          <p:nvSpPr>
            <p:cNvPr id="329" name="!!ceBoxes t2"/>
            <p:cNvSpPr/>
            <p:nvPr/>
          </p:nvSpPr>
          <p:spPr>
            <a:xfrm>
              <a:off x="6611360" y="1442275"/>
              <a:ext cx="320093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0" name="!!ceBoxes t3"/>
            <p:cNvSpPr/>
            <p:nvPr/>
          </p:nvSpPr>
          <p:spPr>
            <a:xfrm>
              <a:off x="7038152" y="1442275"/>
              <a:ext cx="746884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1" name="!!ceBoxes t5"/>
            <p:cNvSpPr/>
            <p:nvPr/>
          </p:nvSpPr>
          <p:spPr>
            <a:xfrm>
              <a:off x="8451897" y="1442275"/>
              <a:ext cx="11736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↵</a:t>
              </a:r>
            </a:p>
          </p:txBody>
        </p:sp>
        <p:sp>
          <p:nvSpPr>
            <p:cNvPr id="332" name="!!ceBoxes t7"/>
            <p:cNvSpPr/>
            <p:nvPr/>
          </p:nvSpPr>
          <p:spPr>
            <a:xfrm>
              <a:off x="5544383" y="1668154"/>
              <a:ext cx="10669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3" name="!!ceBoxes t8"/>
            <p:cNvSpPr/>
            <p:nvPr/>
          </p:nvSpPr>
          <p:spPr>
            <a:xfrm>
              <a:off x="5757778" y="1668154"/>
              <a:ext cx="640186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4" name="!!ceBoxes t15"/>
            <p:cNvSpPr/>
            <p:nvPr/>
          </p:nvSpPr>
          <p:spPr>
            <a:xfrm>
              <a:off x="8745316" y="1668154"/>
              <a:ext cx="533488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5" name="!!ceBoxes t28"/>
            <p:cNvSpPr/>
            <p:nvPr/>
          </p:nvSpPr>
          <p:spPr>
            <a:xfrm>
              <a:off x="5757778" y="2119911"/>
              <a:ext cx="640186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6" name="!!ceBoxes t68"/>
            <p:cNvSpPr/>
            <p:nvPr/>
          </p:nvSpPr>
          <p:spPr>
            <a:xfrm>
              <a:off x="6824756" y="2707195"/>
              <a:ext cx="10669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7" name="!!ceBoxes t83"/>
            <p:cNvSpPr/>
            <p:nvPr/>
          </p:nvSpPr>
          <p:spPr>
            <a:xfrm>
              <a:off x="5117592" y="3158952"/>
              <a:ext cx="426791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8" name="!!ceBoxes t97"/>
            <p:cNvSpPr/>
            <p:nvPr/>
          </p:nvSpPr>
          <p:spPr>
            <a:xfrm>
              <a:off x="5117592" y="3384830"/>
              <a:ext cx="10669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50" name="!!nloBoxes"/>
          <p:cNvGrpSpPr/>
          <p:nvPr/>
        </p:nvGrpSpPr>
        <p:grpSpPr>
          <a:xfrm>
            <a:off x="5117592" y="1668154"/>
            <a:ext cx="5692326" cy="3537257"/>
            <a:chOff x="5117592" y="1668154"/>
            <a:chExt cx="5692326" cy="3537257"/>
          </a:xfrm>
        </p:grpSpPr>
        <p:sp>
          <p:nvSpPr>
            <p:cNvPr id="340" name="!!nloBoxes t9"/>
            <p:cNvSpPr/>
            <p:nvPr/>
          </p:nvSpPr>
          <p:spPr>
            <a:xfrm>
              <a:off x="6397965" y="1668154"/>
              <a:ext cx="10669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1" name="!!nloBoxes t10"/>
            <p:cNvSpPr/>
            <p:nvPr/>
          </p:nvSpPr>
          <p:spPr>
            <a:xfrm>
              <a:off x="6611360" y="1668154"/>
              <a:ext cx="320093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2" name="!!nloBoxes t19"/>
            <p:cNvSpPr/>
            <p:nvPr/>
          </p:nvSpPr>
          <p:spPr>
            <a:xfrm>
              <a:off x="10692551" y="1668154"/>
              <a:ext cx="11736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↵</a:t>
              </a:r>
            </a:p>
          </p:txBody>
        </p:sp>
        <p:sp>
          <p:nvSpPr>
            <p:cNvPr id="343" name="!!nloBoxes t37"/>
            <p:cNvSpPr/>
            <p:nvPr/>
          </p:nvSpPr>
          <p:spPr>
            <a:xfrm>
              <a:off x="10372457" y="2119911"/>
              <a:ext cx="11736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↵</a:t>
              </a:r>
            </a:p>
          </p:txBody>
        </p:sp>
        <p:sp>
          <p:nvSpPr>
            <p:cNvPr id="344" name="!!nloBoxes t41"/>
            <p:cNvSpPr/>
            <p:nvPr/>
          </p:nvSpPr>
          <p:spPr>
            <a:xfrm>
              <a:off x="6077872" y="2345789"/>
              <a:ext cx="10669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5" name="!!nloBoxes t42"/>
            <p:cNvSpPr/>
            <p:nvPr/>
          </p:nvSpPr>
          <p:spPr>
            <a:xfrm>
              <a:off x="6291267" y="2345789"/>
              <a:ext cx="533488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6" name="!!nloBoxes t43"/>
            <p:cNvSpPr/>
            <p:nvPr/>
          </p:nvSpPr>
          <p:spPr>
            <a:xfrm>
              <a:off x="6851430" y="2345789"/>
              <a:ext cx="117367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0" i="0" dirty="0">
                  <a:solidFill>
                    <a:srgbClr val="A6A6A6"/>
                  </a:solidFill>
                  <a:latin typeface="Andale Mono"/>
                  <a:cs typeface="Andale Mono"/>
                </a:rPr>
                <a:t>↵</a:t>
              </a:r>
            </a:p>
          </p:txBody>
        </p:sp>
        <p:sp>
          <p:nvSpPr>
            <p:cNvPr id="347" name="!!nloBoxes t81"/>
            <p:cNvSpPr/>
            <p:nvPr/>
          </p:nvSpPr>
          <p:spPr>
            <a:xfrm>
              <a:off x="6291267" y="2933073"/>
              <a:ext cx="533488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8" name="!!nloBoxes t140"/>
            <p:cNvSpPr/>
            <p:nvPr/>
          </p:nvSpPr>
          <p:spPr>
            <a:xfrm>
              <a:off x="6291267" y="3972114"/>
              <a:ext cx="533488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49" name="!!nloBoxes t190"/>
            <p:cNvSpPr/>
            <p:nvPr/>
          </p:nvSpPr>
          <p:spPr>
            <a:xfrm>
              <a:off x="5117592" y="5011155"/>
              <a:ext cx="533488" cy="1942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51" name="!!ceTag"/>
          <p:cNvSpPr/>
          <p:nvPr/>
        </p:nvSpPr>
        <p:spPr>
          <a:xfrm>
            <a:off x="9296400" y="850392"/>
            <a:ext cx="2286000" cy="402336"/>
          </a:xfrm>
          <a:prstGeom prst="roundRect">
            <a:avLst>
              <a:gd name="adj" fmla="val 25000"/>
            </a:avLst>
          </a:prstGeom>
          <a:solidFill>
            <a:srgbClr val="1F5FA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Helvetica"/>
                <a:cs typeface="Helvetica"/>
              </a:rPr>
              <a:t>Cross-entropy</a:t>
            </a:r>
          </a:p>
        </p:txBody>
      </p:sp>
      <p:sp>
        <p:nvSpPr>
          <p:cNvPr id="352" name="!!nloTag"/>
          <p:cNvSpPr/>
          <p:nvPr/>
        </p:nvSpPr>
        <p:spPr>
          <a:xfrm>
            <a:off x="9296400" y="850392"/>
            <a:ext cx="2286000" cy="402336"/>
          </a:xfrm>
          <a:prstGeom prst="roundRect">
            <a:avLst>
              <a:gd name="adj" fmla="val 25000"/>
            </a:avLst>
          </a:prstGeom>
          <a:solidFill>
            <a:srgbClr val="1F5FA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Helvetica"/>
                <a:cs typeface="Helvetica"/>
              </a:rPr>
              <a:t>Neg. log-odds</a:t>
            </a:r>
          </a:p>
        </p:txBody>
      </p:sp>
      <p:sp>
        <p:nvSpPr>
          <p:cNvPr id="353" name="!!qBox"/>
          <p:cNvSpPr/>
          <p:nvPr/>
        </p:nvSpPr>
        <p:spPr>
          <a:xfrm>
            <a:off x="746760" y="1408176"/>
            <a:ext cx="3886200" cy="1124712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73152" rIns="137160" bIns="36576" anchor="t">
            <a:noAutofit/>
          </a:bodyPr>
          <a:lstStyle/>
          <a:p>
            <a:pPr algn="l"/>
            <a:r>
              <a:rPr lang="en-US" sz="1600" b="1" i="0" dirty="0">
                <a:solidFill>
                  <a:srgbClr val="C55A11"/>
                </a:solidFill>
                <a:latin typeface="Helvetica"/>
                <a:cs typeface="Helvetica"/>
              </a:rPr>
              <a:t>Query</a:t>
            </a:r>
          </a:p>
          <a:p>
            <a:pPr algn="l"/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The </a:t>
            </a:r>
            <a:r>
              <a:rPr lang="en-US" sz="1500" b="1" i="0" dirty="0">
                <a:solidFill>
                  <a:srgbClr val="196B24"/>
                </a:solidFill>
                <a:latin typeface="Andale Mono"/>
                <a:cs typeface="Andale Mono"/>
              </a:rPr>
              <a:t>taxi</a:t>
            </a:r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 is </a:t>
            </a:r>
            <a:r>
              <a:rPr lang="en-US" sz="1500" b="1" i="0" dirty="0">
                <a:solidFill>
                  <a:srgbClr val="196B24"/>
                </a:solidFill>
                <a:latin typeface="Andale Mono"/>
                <a:cs typeface="Andale Mono"/>
              </a:rPr>
              <a:t>stalled</a:t>
            </a:r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; has a blue light; is not fueled; is locked. Which queue? → </a:t>
            </a:r>
            <a:r>
              <a:rPr lang="en-US" sz="1600" b="1" i="0" dirty="0">
                <a:solidFill>
                  <a:srgbClr val="7030A0"/>
                </a:solidFill>
                <a:latin typeface="Andale Mono"/>
                <a:cs typeface="Andale Mono"/>
              </a:rPr>
              <a:t>Cedar</a:t>
            </a:r>
          </a:p>
        </p:txBody>
      </p:sp>
      <p:sp>
        <p:nvSpPr>
          <p:cNvPr id="354" name="!!ruleBox"/>
          <p:cNvSpPr/>
          <p:nvPr/>
        </p:nvSpPr>
        <p:spPr>
          <a:xfrm>
            <a:off x="746760" y="2624328"/>
            <a:ext cx="38862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137160" tIns="73152" rIns="137160" bIns="36576" anchor="t">
            <a:noAutofit/>
          </a:bodyPr>
          <a:lstStyle/>
          <a:p>
            <a:pPr algn="l"/>
            <a:r>
              <a:rPr lang="en-US" sz="1600" b="0" i="0" dirty="0">
                <a:solidFill>
                  <a:srgbClr val="7F7F7F"/>
                </a:solidFill>
                <a:latin typeface="Helvetica"/>
                <a:cs typeface="Helvetica"/>
              </a:rPr>
              <a:t>Rule being tested</a:t>
            </a:r>
          </a:p>
          <a:p>
            <a:pPr algn="l"/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a </a:t>
            </a:r>
            <a:r>
              <a:rPr lang="en-US" sz="1500" b="1" i="0" dirty="0">
                <a:solidFill>
                  <a:srgbClr val="196B24"/>
                </a:solidFill>
                <a:latin typeface="Andale Mono"/>
                <a:cs typeface="Andale Mono"/>
              </a:rPr>
              <a:t>vehicle</a:t>
            </a:r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 goes to </a:t>
            </a:r>
            <a:r>
              <a:rPr lang="en-US" sz="1500" b="1" i="0" dirty="0">
                <a:solidFill>
                  <a:srgbClr val="7030A0"/>
                </a:solidFill>
                <a:latin typeface="Andale Mono"/>
                <a:cs typeface="Andale Mono"/>
              </a:rPr>
              <a:t>Cedar</a:t>
            </a:r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 if it is </a:t>
            </a:r>
            <a:r>
              <a:rPr lang="en-US" sz="1500" b="1" i="0" dirty="0">
                <a:solidFill>
                  <a:srgbClr val="196B24"/>
                </a:solidFill>
                <a:latin typeface="Andale Mono"/>
                <a:cs typeface="Andale Mono"/>
              </a:rPr>
              <a:t>stalled</a:t>
            </a:r>
            <a:r>
              <a:rPr lang="en-US" sz="1500" b="0" i="0" dirty="0">
                <a:solidFill>
                  <a:srgbClr val="2E3A32"/>
                </a:solidFill>
                <a:latin typeface="Andale Mono"/>
                <a:cs typeface="Andale Mono"/>
              </a:rPr>
              <a:t>, otherwise to </a:t>
            </a:r>
            <a:r>
              <a:rPr lang="en-US" sz="1500" b="1" i="0" dirty="0">
                <a:solidFill>
                  <a:srgbClr val="7030A0"/>
                </a:solidFill>
                <a:latin typeface="Andale Mono"/>
                <a:cs typeface="Andale Mono"/>
              </a:rPr>
              <a:t>Birch</a:t>
            </a:r>
          </a:p>
        </p:txBody>
      </p:sp>
      <p:grpSp>
        <p:nvGrpSpPr>
          <p:cNvPr id="358" name="!!rankBox"/>
          <p:cNvGrpSpPr/>
          <p:nvPr/>
        </p:nvGrpSpPr>
        <p:grpSpPr>
          <a:xfrm>
            <a:off x="746760" y="3611880"/>
            <a:ext cx="3886200" cy="914400"/>
            <a:chOff x="746760" y="3611880"/>
            <a:chExt cx="3886200" cy="914400"/>
          </a:xfrm>
        </p:grpSpPr>
        <p:sp>
          <p:nvSpPr>
            <p:cNvPr id="355" name="!!rankBg"/>
            <p:cNvSpPr/>
            <p:nvPr/>
          </p:nvSpPr>
          <p:spPr>
            <a:xfrm>
              <a:off x="746760" y="3611880"/>
              <a:ext cx="3886200" cy="914400"/>
            </a:xfrm>
            <a:prstGeom prst="roundRect">
              <a:avLst>
                <a:gd name="adj" fmla="val 10000"/>
              </a:avLst>
            </a:prstGeom>
            <a:solidFill>
              <a:srgbClr val="EDF1F7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56" name="!!rankAllL"/>
            <p:cNvSpPr/>
            <p:nvPr/>
          </p:nvSpPr>
          <p:spPr>
            <a:xfrm>
              <a:off x="883920" y="3666744"/>
              <a:ext cx="18288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Rank, all tokens</a:t>
              </a:r>
            </a:p>
          </p:txBody>
        </p:sp>
        <p:sp>
          <p:nvSpPr>
            <p:cNvPr id="357" name="!!rankTopL"/>
            <p:cNvSpPr/>
            <p:nvPr/>
          </p:nvSpPr>
          <p:spPr>
            <a:xfrm>
              <a:off x="883920" y="4032504"/>
              <a:ext cx="1828800" cy="438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4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Rank, top-10 tokens</a:t>
              </a:r>
            </a:p>
          </p:txBody>
        </p:sp>
      </p:grpSp>
      <p:sp>
        <p:nvSpPr>
          <p:cNvPr id="359" name="!!ceAll"/>
          <p:cNvSpPr/>
          <p:nvPr/>
        </p:nvSpPr>
        <p:spPr>
          <a:xfrm>
            <a:off x="2575560" y="36667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1800" b="1" i="0" dirty="0">
                <a:solidFill>
                  <a:srgbClr val="404040"/>
                </a:solidFill>
                <a:latin typeface="Helvetica"/>
                <a:cs typeface="Helvetica"/>
              </a:rPr>
              <a:t>1,322</a:t>
            </a:r>
            <a:r>
              <a:rPr lang="en-US" sz="1300" b="0" i="0" dirty="0">
                <a:solidFill>
                  <a:srgbClr val="404040"/>
                </a:solidFill>
                <a:latin typeface="Helvetica"/>
                <a:cs typeface="Helvetica"/>
              </a:rPr>
              <a:t> / 1,500</a:t>
            </a:r>
          </a:p>
        </p:txBody>
      </p:sp>
      <p:sp>
        <p:nvSpPr>
          <p:cNvPr id="360" name="!!nloAll"/>
          <p:cNvSpPr/>
          <p:nvPr/>
        </p:nvSpPr>
        <p:spPr>
          <a:xfrm>
            <a:off x="2575560" y="36667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1800" b="1" i="0" dirty="0">
                <a:solidFill>
                  <a:srgbClr val="404040"/>
                </a:solidFill>
                <a:latin typeface="Helvetica"/>
                <a:cs typeface="Helvetica"/>
              </a:rPr>
              <a:t>16</a:t>
            </a:r>
            <a:r>
              <a:rPr lang="en-US" sz="1300" b="0" i="0" dirty="0">
                <a:solidFill>
                  <a:srgbClr val="404040"/>
                </a:solidFill>
                <a:latin typeface="Helvetica"/>
                <a:cs typeface="Helvetica"/>
              </a:rPr>
              <a:t> / 1,500</a:t>
            </a:r>
          </a:p>
        </p:txBody>
      </p:sp>
      <p:sp>
        <p:nvSpPr>
          <p:cNvPr id="361" name="!!ceRank"/>
          <p:cNvSpPr/>
          <p:nvPr/>
        </p:nvSpPr>
        <p:spPr>
          <a:xfrm>
            <a:off x="2575560" y="403250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3000" b="1" i="0" dirty="0">
                <a:solidFill>
                  <a:srgbClr val="C00000"/>
                </a:solidFill>
                <a:latin typeface="Helvetica"/>
                <a:cs typeface="Helvetica"/>
              </a:rPr>
              <a:t>1,041</a:t>
            </a:r>
            <a:r>
              <a:rPr lang="en-US" sz="1600" b="0" i="0" dirty="0">
                <a:solidFill>
                  <a:srgbClr val="404040"/>
                </a:solidFill>
                <a:latin typeface="Helvetica"/>
                <a:cs typeface="Helvetica"/>
              </a:rPr>
              <a:t> / 1,500</a:t>
            </a:r>
          </a:p>
        </p:txBody>
      </p:sp>
      <p:sp>
        <p:nvSpPr>
          <p:cNvPr id="362" name="!!nloRank"/>
          <p:cNvSpPr/>
          <p:nvPr/>
        </p:nvSpPr>
        <p:spPr>
          <a:xfrm>
            <a:off x="2575560" y="403250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3000" b="1" i="0" dirty="0">
                <a:solidFill>
                  <a:srgbClr val="196B24"/>
                </a:solidFill>
                <a:latin typeface="Helvetica"/>
                <a:cs typeface="Helvetica"/>
              </a:rPr>
              <a:t>4</a:t>
            </a:r>
            <a:r>
              <a:rPr lang="en-US" sz="1600" b="0" i="0" dirty="0">
                <a:solidFill>
                  <a:srgbClr val="404040"/>
                </a:solidFill>
                <a:latin typeface="Helvetica"/>
                <a:cs typeface="Helvetica"/>
              </a:rPr>
              <a:t> / 1,500</a:t>
            </a:r>
          </a:p>
        </p:txBody>
      </p:sp>
      <p:grpSp>
        <p:nvGrpSpPr>
          <p:cNvPr id="366" name="!!keyShade"/>
          <p:cNvGrpSpPr/>
          <p:nvPr/>
        </p:nvGrpSpPr>
        <p:grpSpPr>
          <a:xfrm>
            <a:off x="838200" y="4617720"/>
            <a:ext cx="3703320" cy="365760"/>
            <a:chOff x="838200" y="4617720"/>
            <a:chExt cx="3703320" cy="365760"/>
          </a:xfrm>
        </p:grpSpPr>
        <p:sp>
          <p:nvSpPr>
            <p:cNvPr id="363" name="!!keyBar"/>
            <p:cNvSpPr/>
            <p:nvPr/>
          </p:nvSpPr>
          <p:spPr>
            <a:xfrm>
              <a:off x="838200" y="4617720"/>
              <a:ext cx="3703320" cy="146304"/>
            </a:xfrm>
            <a:prstGeom prst="rect">
              <a:avLst/>
            </a:prstGeom>
            <a:gradFill rotWithShape="1">
              <a:gsLst>
                <a:gs pos="0">
                  <a:srgbClr val="427DC9"/>
                </a:gs>
                <a:gs pos="50000">
                  <a:srgbClr val="FFFFFF"/>
                </a:gs>
                <a:gs pos="100000">
                  <a:srgbClr val="EA8131"/>
                </a:gs>
              </a:gsLst>
              <a:lin ang="0" scaled="1"/>
            </a:gradFill>
            <a:ln w="6350">
              <a:solidFill>
                <a:srgbClr val="BFBFB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64" name="!!keyNeg"/>
            <p:cNvSpPr/>
            <p:nvPr/>
          </p:nvSpPr>
          <p:spPr>
            <a:xfrm>
              <a:off x="838200" y="4764024"/>
              <a:ext cx="18516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lang="en-US" sz="13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opposes answer</a:t>
              </a:r>
            </a:p>
          </p:txBody>
        </p:sp>
        <p:sp>
          <p:nvSpPr>
            <p:cNvPr id="365" name="!!keyPos"/>
            <p:cNvSpPr/>
            <p:nvPr/>
          </p:nvSpPr>
          <p:spPr>
            <a:xfrm>
              <a:off x="2689860" y="4764024"/>
              <a:ext cx="18516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lang="en-US" sz="13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supports answer</a:t>
              </a:r>
            </a:p>
          </p:txBody>
        </p:sp>
      </p:grpSp>
      <p:grpSp>
        <p:nvGrpSpPr>
          <p:cNvPr id="369" name="!!keyBox"/>
          <p:cNvGrpSpPr/>
          <p:nvPr/>
        </p:nvGrpSpPr>
        <p:grpSpPr>
          <a:xfrm>
            <a:off x="838200" y="5020056"/>
            <a:ext cx="2029968" cy="219456"/>
            <a:chOff x="838200" y="5020056"/>
            <a:chExt cx="2029968" cy="219456"/>
          </a:xfrm>
        </p:grpSpPr>
        <p:sp>
          <p:nvSpPr>
            <p:cNvPr id="367" name="!!key2sw"/>
            <p:cNvSpPr/>
            <p:nvPr/>
          </p:nvSpPr>
          <p:spPr>
            <a:xfrm>
              <a:off x="838200" y="5047488"/>
              <a:ext cx="219456" cy="164592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68" name="!!key2t"/>
            <p:cNvSpPr/>
            <p:nvPr/>
          </p:nvSpPr>
          <p:spPr>
            <a:xfrm>
              <a:off x="1130808" y="5020056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3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top-10 token</a:t>
              </a:r>
            </a:p>
          </p:txBody>
        </p:sp>
      </p:grpSp>
      <p:sp>
        <p:nvSpPr>
          <p:cNvPr id="371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Neg. log-odds: 4 of the top 10 tokens are the answer</a:t>
            </a:r>
          </a:p>
        </p:txBody>
      </p:sp>
      <p:sp>
        <p:nvSpPr>
          <p:cNvPr id="372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Grad-Dot · Rule Routings · N = 30, |F| = 50 · seed 1003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tokens matter?</a:t>
            </a:r>
          </a:p>
        </p:txBody>
      </p:sp>
      <p:grpSp>
        <p:nvGrpSpPr>
          <p:cNvPr id="107" name="!!heads"/>
          <p:cNvGrpSpPr/>
          <p:nvPr/>
        </p:nvGrpSpPr>
        <p:grpSpPr>
          <a:xfrm>
            <a:off x="609600" y="896112"/>
            <a:ext cx="10972800" cy="822960"/>
            <a:chOff x="609600" y="896112"/>
            <a:chExt cx="10972800" cy="822960"/>
          </a:xfrm>
        </p:grpSpPr>
        <p:sp>
          <p:nvSpPr>
            <p:cNvPr id="100" name="!!corner"/>
            <p:cNvSpPr/>
            <p:nvPr/>
          </p:nvSpPr>
          <p:spPr>
            <a:xfrm>
              <a:off x="609600" y="896112"/>
              <a:ext cx="179527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36576" anchor="b">
              <a:noAutofit/>
            </a:bodyPr>
            <a:lstStyle/>
            <a:p>
              <a:pPr algn="r"/>
              <a:r>
                <a:rPr lang="en-US" sz="1700" b="0" i="0" dirty="0">
                  <a:solidFill>
                    <a:srgbClr val="7F7F7F"/>
                  </a:solidFill>
                  <a:latin typeface="Helvetica Light"/>
                  <a:cs typeface="Helvetica Light"/>
                </a:rPr>
                <a:t>Rule Routings</a:t>
              </a:r>
            </a:p>
          </p:txBody>
        </p:sp>
        <p:sp>
          <p:nvSpPr>
            <p:cNvPr id="101" name="!!head0"/>
            <p:cNvSpPr/>
            <p:nvPr/>
          </p:nvSpPr>
          <p:spPr>
            <a:xfrm>
              <a:off x="25146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Answer</a:t>
              </a:r>
            </a:p>
            <a:p>
              <a:pPr algn="ctr"/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“Cedar”</a:t>
              </a:r>
            </a:p>
          </p:txBody>
        </p:sp>
        <p:sp>
          <p:nvSpPr>
            <p:cNvPr id="102" name="!!head1"/>
            <p:cNvSpPr/>
            <p:nvPr/>
          </p:nvSpPr>
          <p:spPr>
            <a:xfrm>
              <a:off x="40259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Deciding feature</a:t>
              </a:r>
            </a:p>
            <a:p>
              <a:pPr algn="ctr"/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“stalled”</a:t>
              </a:r>
            </a:p>
          </p:txBody>
        </p:sp>
        <p:sp>
          <p:nvSpPr>
            <p:cNvPr id="103" name="!!head2"/>
            <p:cNvSpPr/>
            <p:nvPr/>
          </p:nvSpPr>
          <p:spPr>
            <a:xfrm>
              <a:off x="55372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Item name</a:t>
              </a:r>
            </a:p>
            <a:p>
              <a:pPr algn="ctr"/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“vehicle”</a:t>
              </a:r>
            </a:p>
          </p:txBody>
        </p:sp>
        <p:sp>
          <p:nvSpPr>
            <p:cNvPr id="104" name="!!head3"/>
            <p:cNvSpPr/>
            <p:nvPr/>
          </p:nvSpPr>
          <p:spPr>
            <a:xfrm>
              <a:off x="70485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Item words</a:t>
              </a:r>
            </a:p>
            <a:p>
              <a:pPr algn="ctr"/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“light”</a:t>
              </a:r>
            </a:p>
          </p:txBody>
        </p:sp>
        <p:sp>
          <p:nvSpPr>
            <p:cNvPr id="105" name="!!head4"/>
            <p:cNvSpPr/>
            <p:nvPr/>
          </p:nvSpPr>
          <p:spPr>
            <a:xfrm>
              <a:off x="85598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Rule statement</a:t>
              </a:r>
            </a:p>
            <a:p>
              <a:pPr algn="ctr"/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“</a:t>
              </a:r>
              <a:r>
                <a:rPr lang="en-US" sz="1200" i="1" dirty="0">
                  <a:solidFill>
                    <a:srgbClr val="7F7F7F"/>
                  </a:solidFill>
                  <a:latin typeface="Helvetica"/>
                  <a:cs typeface="Helvetica"/>
                </a:rPr>
                <a:t>Every vehicle…</a:t>
              </a:r>
              <a:r>
                <a:rPr lang="en-US" sz="1200" b="0" i="1" dirty="0">
                  <a:solidFill>
                    <a:srgbClr val="7F7F7F"/>
                  </a:solidFill>
                  <a:latin typeface="Helvetica"/>
                  <a:cs typeface="Helvetica"/>
                </a:rPr>
                <a:t>”</a:t>
              </a:r>
            </a:p>
          </p:txBody>
        </p:sp>
        <p:sp>
          <p:nvSpPr>
            <p:cNvPr id="106" name="!!head5"/>
            <p:cNvSpPr/>
            <p:nvPr/>
          </p:nvSpPr>
          <p:spPr>
            <a:xfrm>
              <a:off x="10071100" y="896112"/>
              <a:ext cx="15113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0" rIns="27432" bIns="36576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Template</a:t>
              </a:r>
            </a:p>
            <a:p>
              <a:pPr algn="ctr"/>
              <a:r>
                <a:rPr lang="en-US" sz="1200" i="1" dirty="0">
                  <a:solidFill>
                    <a:srgbClr val="7F7F7F"/>
                  </a:solidFill>
                  <a:latin typeface="Helvetica"/>
                  <a:cs typeface="Helvetica"/>
                </a:rPr>
                <a:t>Other tokens</a:t>
              </a:r>
              <a:endParaRPr lang="en-US" sz="1200" b="0" i="1" dirty="0">
                <a:solidFill>
                  <a:srgbClr val="7F7F7F"/>
                </a:solidFill>
                <a:latin typeface="Helvetica"/>
                <a:cs typeface="Helvetica"/>
              </a:endParaRPr>
            </a:p>
          </p:txBody>
        </p:sp>
      </p:grpSp>
      <p:grpSp>
        <p:nvGrpSpPr>
          <p:cNvPr id="137" name="!!ceTable"/>
          <p:cNvGrpSpPr/>
          <p:nvPr/>
        </p:nvGrpSpPr>
        <p:grpSpPr>
          <a:xfrm>
            <a:off x="609600" y="1764792"/>
            <a:ext cx="10972800" cy="1755648"/>
            <a:chOff x="609600" y="1764792"/>
            <a:chExt cx="10972800" cy="1755648"/>
          </a:xfrm>
        </p:grpSpPr>
        <p:sp>
          <p:nvSpPr>
            <p:cNvPr id="108" name="!!ceTitle"/>
            <p:cNvSpPr/>
            <p:nvPr/>
          </p:nvSpPr>
          <p:spPr>
            <a:xfrm>
              <a:off x="609600" y="1764792"/>
              <a:ext cx="109728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l"/>
              <a:r>
                <a:rPr lang="en-US" sz="2000" b="1" i="0" dirty="0">
                  <a:solidFill>
                    <a:srgbClr val="1F5FA8"/>
                  </a:solidFill>
                  <a:latin typeface="Helvetica"/>
                  <a:cs typeface="Helvetica"/>
                </a:rPr>
                <a:t>Cross-entropy</a:t>
              </a:r>
              <a:r>
                <a:rPr lang="en-US" sz="2000" b="0" i="0" dirty="0">
                  <a:solidFill>
                    <a:srgbClr val="A6A6A6"/>
                  </a:solidFill>
                  <a:latin typeface="Helvetica"/>
                  <a:cs typeface="Helvetica"/>
                </a:rPr>
                <a:t>  ·  </a:t>
              </a:r>
              <a:r>
                <a:rPr lang="en-US" sz="2000" b="1" i="0" dirty="0">
                  <a:solidFill>
                    <a:srgbClr val="7030A0"/>
                  </a:solidFill>
                  <a:latin typeface="Helvetica"/>
                  <a:cs typeface="Helvetica"/>
                </a:rPr>
                <a:t>top-10 tokens</a:t>
              </a:r>
            </a:p>
          </p:txBody>
        </p:sp>
        <p:sp>
          <p:nvSpPr>
            <p:cNvPr id="109" name="!!ceRow0"/>
            <p:cNvSpPr/>
            <p:nvPr/>
          </p:nvSpPr>
          <p:spPr>
            <a:xfrm>
              <a:off x="609600" y="2130552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Grad-Dot</a:t>
              </a:r>
            </a:p>
          </p:txBody>
        </p:sp>
        <p:sp>
          <p:nvSpPr>
            <p:cNvPr id="110" name="!!ceCell0_0"/>
            <p:cNvSpPr/>
            <p:nvPr/>
          </p:nvSpPr>
          <p:spPr>
            <a:xfrm>
              <a:off x="2532888" y="2148840"/>
              <a:ext cx="1474724" cy="310896"/>
            </a:xfrm>
            <a:prstGeom prst="rect">
              <a:avLst/>
            </a:prstGeom>
            <a:solidFill>
              <a:srgbClr val="A0BDE4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0.4×</a:t>
              </a:r>
            </a:p>
          </p:txBody>
        </p:sp>
        <p:sp>
          <p:nvSpPr>
            <p:cNvPr id="111" name="!!ceCell0_1"/>
            <p:cNvSpPr/>
            <p:nvPr/>
          </p:nvSpPr>
          <p:spPr>
            <a:xfrm>
              <a:off x="4044188" y="2148840"/>
              <a:ext cx="1474724" cy="310896"/>
            </a:xfrm>
            <a:prstGeom prst="rect">
              <a:avLst/>
            </a:prstGeom>
            <a:solidFill>
              <a:srgbClr val="F9DBC4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1.8×</a:t>
              </a:r>
            </a:p>
          </p:txBody>
        </p:sp>
        <p:sp>
          <p:nvSpPr>
            <p:cNvPr id="112" name="!!ceCell0_2"/>
            <p:cNvSpPr/>
            <p:nvPr/>
          </p:nvSpPr>
          <p:spPr>
            <a:xfrm>
              <a:off x="5555488" y="2148840"/>
              <a:ext cx="1474724" cy="310896"/>
            </a:xfrm>
            <a:prstGeom prst="rect">
              <a:avLst/>
            </a:prstGeom>
            <a:solidFill>
              <a:srgbClr val="F1AB7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3.9×</a:t>
              </a:r>
            </a:p>
          </p:txBody>
        </p:sp>
        <p:sp>
          <p:nvSpPr>
            <p:cNvPr id="113" name="!!ceCell0_3"/>
            <p:cNvSpPr/>
            <p:nvPr/>
          </p:nvSpPr>
          <p:spPr>
            <a:xfrm>
              <a:off x="7066788" y="2148840"/>
              <a:ext cx="1474724" cy="310896"/>
            </a:xfrm>
            <a:prstGeom prst="rect">
              <a:avLst/>
            </a:prstGeom>
            <a:solidFill>
              <a:srgbClr val="F9DCC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1.8×</a:t>
              </a:r>
            </a:p>
          </p:txBody>
        </p:sp>
        <p:sp>
          <p:nvSpPr>
            <p:cNvPr id="114" name="!!ceCell0_4"/>
            <p:cNvSpPr/>
            <p:nvPr/>
          </p:nvSpPr>
          <p:spPr>
            <a:xfrm>
              <a:off x="8578088" y="2148840"/>
              <a:ext cx="1474724" cy="310896"/>
            </a:xfrm>
            <a:prstGeom prst="rect">
              <a:avLst/>
            </a:prstGeom>
            <a:solidFill>
              <a:srgbClr val="A6C2E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0.4×</a:t>
              </a:r>
            </a:p>
          </p:txBody>
        </p:sp>
        <p:sp>
          <p:nvSpPr>
            <p:cNvPr id="115" name="!!ceCell0_5"/>
            <p:cNvSpPr/>
            <p:nvPr/>
          </p:nvSpPr>
          <p:spPr>
            <a:xfrm>
              <a:off x="10089388" y="2148840"/>
              <a:ext cx="1474724" cy="310896"/>
            </a:xfrm>
            <a:prstGeom prst="rect">
              <a:avLst/>
            </a:prstGeom>
            <a:solidFill>
              <a:srgbClr val="FEF9F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1.1×</a:t>
              </a:r>
            </a:p>
          </p:txBody>
        </p:sp>
        <p:sp>
          <p:nvSpPr>
            <p:cNvPr id="116" name="!!ceRow1"/>
            <p:cNvSpPr/>
            <p:nvPr/>
          </p:nvSpPr>
          <p:spPr>
            <a:xfrm>
              <a:off x="609600" y="2478024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EK-FAC</a:t>
              </a:r>
            </a:p>
          </p:txBody>
        </p:sp>
        <p:sp>
          <p:nvSpPr>
            <p:cNvPr id="117" name="!!ceCell1_0"/>
            <p:cNvSpPr/>
            <p:nvPr/>
          </p:nvSpPr>
          <p:spPr>
            <a:xfrm>
              <a:off x="2532888" y="2496312"/>
              <a:ext cx="1474724" cy="310896"/>
            </a:xfrm>
            <a:prstGeom prst="rect">
              <a:avLst/>
            </a:prstGeom>
            <a:solidFill>
              <a:srgbClr val="DDE8F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0.7×</a:t>
              </a:r>
            </a:p>
          </p:txBody>
        </p:sp>
        <p:sp>
          <p:nvSpPr>
            <p:cNvPr id="118" name="!!ceCell1_1"/>
            <p:cNvSpPr/>
            <p:nvPr/>
          </p:nvSpPr>
          <p:spPr>
            <a:xfrm>
              <a:off x="4044188" y="2496312"/>
              <a:ext cx="1474724" cy="310896"/>
            </a:xfrm>
            <a:prstGeom prst="rect">
              <a:avLst/>
            </a:prstGeom>
            <a:solidFill>
              <a:srgbClr val="F8FAFD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0.9×</a:t>
              </a:r>
            </a:p>
          </p:txBody>
        </p:sp>
        <p:sp>
          <p:nvSpPr>
            <p:cNvPr id="119" name="!!ceCell1_2"/>
            <p:cNvSpPr/>
            <p:nvPr/>
          </p:nvSpPr>
          <p:spPr>
            <a:xfrm>
              <a:off x="5555488" y="2496312"/>
              <a:ext cx="1474724" cy="310896"/>
            </a:xfrm>
            <a:prstGeom prst="rect">
              <a:avLst/>
            </a:prstGeom>
            <a:solidFill>
              <a:srgbClr val="F1AE7B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3.7×</a:t>
              </a:r>
            </a:p>
          </p:txBody>
        </p:sp>
        <p:sp>
          <p:nvSpPr>
            <p:cNvPr id="120" name="!!ceCell1_3"/>
            <p:cNvSpPr/>
            <p:nvPr/>
          </p:nvSpPr>
          <p:spPr>
            <a:xfrm>
              <a:off x="7066788" y="2496312"/>
              <a:ext cx="1474724" cy="310896"/>
            </a:xfrm>
            <a:prstGeom prst="rect">
              <a:avLst/>
            </a:prstGeom>
            <a:solidFill>
              <a:srgbClr val="E8EFF8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0.8×</a:t>
              </a:r>
            </a:p>
          </p:txBody>
        </p:sp>
        <p:sp>
          <p:nvSpPr>
            <p:cNvPr id="121" name="!!ceCell1_4"/>
            <p:cNvSpPr/>
            <p:nvPr/>
          </p:nvSpPr>
          <p:spPr>
            <a:xfrm>
              <a:off x="8578088" y="2496312"/>
              <a:ext cx="1474724" cy="310896"/>
            </a:xfrm>
            <a:prstGeom prst="rect">
              <a:avLst/>
            </a:prstGeom>
            <a:solidFill>
              <a:srgbClr val="F5F8F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0.9×</a:t>
              </a:r>
            </a:p>
          </p:txBody>
        </p:sp>
        <p:sp>
          <p:nvSpPr>
            <p:cNvPr id="122" name="!!ceCell1_5"/>
            <p:cNvSpPr/>
            <p:nvPr/>
          </p:nvSpPr>
          <p:spPr>
            <a:xfrm>
              <a:off x="10089388" y="2496312"/>
              <a:ext cx="1474724" cy="310896"/>
            </a:xfrm>
            <a:prstGeom prst="rect">
              <a:avLst/>
            </a:prstGeom>
            <a:solidFill>
              <a:srgbClr val="FFFEFD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1.0×</a:t>
              </a:r>
            </a:p>
          </p:txBody>
        </p:sp>
        <p:sp>
          <p:nvSpPr>
            <p:cNvPr id="123" name="!!ceRow2"/>
            <p:cNvSpPr/>
            <p:nvPr/>
          </p:nvSpPr>
          <p:spPr>
            <a:xfrm>
              <a:off x="609600" y="2825496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Layerwise TRAK</a:t>
              </a:r>
            </a:p>
          </p:txBody>
        </p:sp>
        <p:sp>
          <p:nvSpPr>
            <p:cNvPr id="124" name="!!ceCell2_0"/>
            <p:cNvSpPr/>
            <p:nvPr/>
          </p:nvSpPr>
          <p:spPr>
            <a:xfrm>
              <a:off x="2532888" y="2843784"/>
              <a:ext cx="1474724" cy="310896"/>
            </a:xfrm>
            <a:prstGeom prst="rect">
              <a:avLst/>
            </a:prstGeom>
            <a:solidFill>
              <a:srgbClr val="5A8DCF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0.2×</a:t>
              </a:r>
            </a:p>
          </p:txBody>
        </p:sp>
        <p:sp>
          <p:nvSpPr>
            <p:cNvPr id="125" name="!!ceCell2_1"/>
            <p:cNvSpPr/>
            <p:nvPr/>
          </p:nvSpPr>
          <p:spPr>
            <a:xfrm>
              <a:off x="4044188" y="2843784"/>
              <a:ext cx="1474724" cy="310896"/>
            </a:xfrm>
            <a:prstGeom prst="rect">
              <a:avLst/>
            </a:prstGeom>
            <a:solidFill>
              <a:srgbClr val="F9DCC7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1.8×</a:t>
              </a:r>
            </a:p>
          </p:txBody>
        </p:sp>
        <p:sp>
          <p:nvSpPr>
            <p:cNvPr id="126" name="!!ceCell2_2"/>
            <p:cNvSpPr/>
            <p:nvPr/>
          </p:nvSpPr>
          <p:spPr>
            <a:xfrm>
              <a:off x="5555488" y="2843784"/>
              <a:ext cx="1474724" cy="310896"/>
            </a:xfrm>
            <a:prstGeom prst="rect">
              <a:avLst/>
            </a:prstGeom>
            <a:solidFill>
              <a:srgbClr val="F1AF7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3.7×</a:t>
              </a:r>
            </a:p>
          </p:txBody>
        </p:sp>
        <p:sp>
          <p:nvSpPr>
            <p:cNvPr id="127" name="!!ceCell2_3"/>
            <p:cNvSpPr/>
            <p:nvPr/>
          </p:nvSpPr>
          <p:spPr>
            <a:xfrm>
              <a:off x="7066788" y="2843784"/>
              <a:ext cx="1474724" cy="310896"/>
            </a:xfrm>
            <a:prstGeom prst="rect">
              <a:avLst/>
            </a:prstGeom>
            <a:solidFill>
              <a:srgbClr val="FBE7D8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1.5×</a:t>
              </a:r>
            </a:p>
          </p:txBody>
        </p:sp>
        <p:sp>
          <p:nvSpPr>
            <p:cNvPr id="128" name="!!ceCell2_4"/>
            <p:cNvSpPr/>
            <p:nvPr/>
          </p:nvSpPr>
          <p:spPr>
            <a:xfrm>
              <a:off x="8578088" y="2843784"/>
              <a:ext cx="1474724" cy="310896"/>
            </a:xfrm>
            <a:prstGeom prst="rect">
              <a:avLst/>
            </a:prstGeom>
            <a:solidFill>
              <a:srgbClr val="A9C3E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0.4×</a:t>
              </a:r>
            </a:p>
          </p:txBody>
        </p:sp>
        <p:sp>
          <p:nvSpPr>
            <p:cNvPr id="129" name="!!ceCell2_5"/>
            <p:cNvSpPr/>
            <p:nvPr/>
          </p:nvSpPr>
          <p:spPr>
            <a:xfrm>
              <a:off x="10089388" y="2843784"/>
              <a:ext cx="1474724" cy="310896"/>
            </a:xfrm>
            <a:prstGeom prst="rect">
              <a:avLst/>
            </a:prstGeom>
            <a:solidFill>
              <a:srgbClr val="FEF6F1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1.2×</a:t>
              </a:r>
            </a:p>
          </p:txBody>
        </p:sp>
        <p:sp>
          <p:nvSpPr>
            <p:cNvPr id="130" name="!!ceRow3"/>
            <p:cNvSpPr/>
            <p:nvPr/>
          </p:nvSpPr>
          <p:spPr>
            <a:xfrm>
              <a:off x="609600" y="3172968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Layerwise TracIn</a:t>
              </a:r>
            </a:p>
          </p:txBody>
        </p:sp>
        <p:sp>
          <p:nvSpPr>
            <p:cNvPr id="131" name="!!ceCell3_0"/>
            <p:cNvSpPr/>
            <p:nvPr/>
          </p:nvSpPr>
          <p:spPr>
            <a:xfrm>
              <a:off x="2532888" y="3191256"/>
              <a:ext cx="1474724" cy="310896"/>
            </a:xfrm>
            <a:prstGeom prst="rect">
              <a:avLst/>
            </a:prstGeom>
            <a:solidFill>
              <a:srgbClr val="FAE3D0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1.6×</a:t>
              </a:r>
            </a:p>
          </p:txBody>
        </p:sp>
        <p:sp>
          <p:nvSpPr>
            <p:cNvPr id="132" name="!!ceCell3_1"/>
            <p:cNvSpPr/>
            <p:nvPr/>
          </p:nvSpPr>
          <p:spPr>
            <a:xfrm>
              <a:off x="4044188" y="3191256"/>
              <a:ext cx="1474724" cy="310896"/>
            </a:xfrm>
            <a:prstGeom prst="rect">
              <a:avLst/>
            </a:prstGeom>
            <a:solidFill>
              <a:srgbClr val="F7D2B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2.1×</a:t>
              </a:r>
            </a:p>
          </p:txBody>
        </p:sp>
        <p:sp>
          <p:nvSpPr>
            <p:cNvPr id="133" name="!!ceCell3_2"/>
            <p:cNvSpPr/>
            <p:nvPr/>
          </p:nvSpPr>
          <p:spPr>
            <a:xfrm>
              <a:off x="5555488" y="3191256"/>
              <a:ext cx="1474724" cy="310896"/>
            </a:xfrm>
            <a:prstGeom prst="rect">
              <a:avLst/>
            </a:prstGeom>
            <a:solidFill>
              <a:srgbClr val="F4BC91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3.0×</a:t>
              </a:r>
            </a:p>
          </p:txBody>
        </p:sp>
        <p:sp>
          <p:nvSpPr>
            <p:cNvPr id="134" name="!!ceCell3_3"/>
            <p:cNvSpPr/>
            <p:nvPr/>
          </p:nvSpPr>
          <p:spPr>
            <a:xfrm>
              <a:off x="7066788" y="3191256"/>
              <a:ext cx="1474724" cy="310896"/>
            </a:xfrm>
            <a:prstGeom prst="rect">
              <a:avLst/>
            </a:prstGeom>
            <a:solidFill>
              <a:srgbClr val="F6CCA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2.3×</a:t>
              </a:r>
            </a:p>
          </p:txBody>
        </p:sp>
        <p:sp>
          <p:nvSpPr>
            <p:cNvPr id="135" name="!!ceCell3_4"/>
            <p:cNvSpPr/>
            <p:nvPr/>
          </p:nvSpPr>
          <p:spPr>
            <a:xfrm>
              <a:off x="8578088" y="3191256"/>
              <a:ext cx="1474724" cy="310896"/>
            </a:xfrm>
            <a:prstGeom prst="rect">
              <a:avLst/>
            </a:prstGeom>
            <a:solidFill>
              <a:srgbClr val="DDE8F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0.7×</a:t>
              </a:r>
            </a:p>
          </p:txBody>
        </p:sp>
        <p:sp>
          <p:nvSpPr>
            <p:cNvPr id="136" name="!!ceCell3_5"/>
            <p:cNvSpPr/>
            <p:nvPr/>
          </p:nvSpPr>
          <p:spPr>
            <a:xfrm>
              <a:off x="10089388" y="3191256"/>
              <a:ext cx="1474724" cy="310896"/>
            </a:xfrm>
            <a:prstGeom prst="rect">
              <a:avLst/>
            </a:prstGeom>
            <a:solidFill>
              <a:srgbClr val="E7EEF8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0.8×</a:t>
              </a:r>
            </a:p>
          </p:txBody>
        </p:sp>
      </p:grpSp>
      <p:grpSp>
        <p:nvGrpSpPr>
          <p:cNvPr id="167" name="!!marginTable"/>
          <p:cNvGrpSpPr/>
          <p:nvPr/>
        </p:nvGrpSpPr>
        <p:grpSpPr>
          <a:xfrm>
            <a:off x="609600" y="3611880"/>
            <a:ext cx="10972800" cy="1755648"/>
            <a:chOff x="609600" y="3611880"/>
            <a:chExt cx="10972800" cy="1755648"/>
          </a:xfrm>
        </p:grpSpPr>
        <p:sp>
          <p:nvSpPr>
            <p:cNvPr id="138" name="!!marginTitle"/>
            <p:cNvSpPr/>
            <p:nvPr/>
          </p:nvSpPr>
          <p:spPr>
            <a:xfrm>
              <a:off x="609600" y="3611880"/>
              <a:ext cx="109728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l"/>
              <a:r>
                <a:rPr lang="en-US" sz="2000" b="1" i="0" dirty="0">
                  <a:solidFill>
                    <a:srgbClr val="1F5FA8"/>
                  </a:solidFill>
                  <a:latin typeface="Helvetica"/>
                  <a:cs typeface="Helvetica"/>
                </a:rPr>
                <a:t>Neg. log-odds</a:t>
              </a:r>
              <a:r>
                <a:rPr lang="en-US" sz="2000" b="0" i="0" dirty="0">
                  <a:solidFill>
                    <a:srgbClr val="A6A6A6"/>
                  </a:solidFill>
                  <a:latin typeface="Helvetica"/>
                  <a:cs typeface="Helvetica"/>
                </a:rPr>
                <a:t>  ·  </a:t>
              </a:r>
              <a:r>
                <a:rPr lang="en-US" sz="2000" b="1" i="0" dirty="0">
                  <a:solidFill>
                    <a:srgbClr val="7030A0"/>
                  </a:solidFill>
                  <a:latin typeface="Helvetica"/>
                  <a:cs typeface="Helvetica"/>
                </a:rPr>
                <a:t>top-10 tokens</a:t>
              </a:r>
            </a:p>
          </p:txBody>
        </p:sp>
        <p:sp>
          <p:nvSpPr>
            <p:cNvPr id="139" name="!!marginRow0"/>
            <p:cNvSpPr/>
            <p:nvPr/>
          </p:nvSpPr>
          <p:spPr>
            <a:xfrm>
              <a:off x="609600" y="3977640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Grad-Dot</a:t>
              </a:r>
            </a:p>
          </p:txBody>
        </p:sp>
        <p:sp>
          <p:nvSpPr>
            <p:cNvPr id="140" name="!!marginCell0_0"/>
            <p:cNvSpPr/>
            <p:nvPr/>
          </p:nvSpPr>
          <p:spPr>
            <a:xfrm>
              <a:off x="2532888" y="3995928"/>
              <a:ext cx="1474724" cy="310896"/>
            </a:xfrm>
            <a:prstGeom prst="rect">
              <a:avLst/>
            </a:prstGeom>
            <a:solidFill>
              <a:srgbClr val="E97B27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8.6×</a:t>
              </a:r>
            </a:p>
          </p:txBody>
        </p:sp>
        <p:sp>
          <p:nvSpPr>
            <p:cNvPr id="141" name="!!marginCell0_1"/>
            <p:cNvSpPr/>
            <p:nvPr/>
          </p:nvSpPr>
          <p:spPr>
            <a:xfrm>
              <a:off x="4044188" y="3995928"/>
              <a:ext cx="1474724" cy="310896"/>
            </a:xfrm>
            <a:prstGeom prst="rect">
              <a:avLst/>
            </a:prstGeom>
            <a:solidFill>
              <a:srgbClr val="ABC5E7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0.4×</a:t>
              </a:r>
            </a:p>
          </p:txBody>
        </p:sp>
        <p:sp>
          <p:nvSpPr>
            <p:cNvPr id="142" name="!!marginCell0_2"/>
            <p:cNvSpPr/>
            <p:nvPr/>
          </p:nvSpPr>
          <p:spPr>
            <a:xfrm>
              <a:off x="5555488" y="3995928"/>
              <a:ext cx="1474724" cy="310896"/>
            </a:xfrm>
            <a:prstGeom prst="rect">
              <a:avLst/>
            </a:prstGeom>
            <a:solidFill>
              <a:srgbClr val="DEE8F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0.7×</a:t>
              </a:r>
            </a:p>
          </p:txBody>
        </p:sp>
        <p:sp>
          <p:nvSpPr>
            <p:cNvPr id="143" name="!!marginCell0_3"/>
            <p:cNvSpPr/>
            <p:nvPr/>
          </p:nvSpPr>
          <p:spPr>
            <a:xfrm>
              <a:off x="7066788" y="3995928"/>
              <a:ext cx="1474724" cy="310896"/>
            </a:xfrm>
            <a:prstGeom prst="rect">
              <a:avLst/>
            </a:prstGeom>
            <a:solidFill>
              <a:srgbClr val="94B5E0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0.3×</a:t>
              </a:r>
            </a:p>
          </p:txBody>
        </p:sp>
        <p:sp>
          <p:nvSpPr>
            <p:cNvPr id="144" name="!!marginCell0_4"/>
            <p:cNvSpPr/>
            <p:nvPr/>
          </p:nvSpPr>
          <p:spPr>
            <a:xfrm>
              <a:off x="8578088" y="3995928"/>
              <a:ext cx="1474724" cy="310896"/>
            </a:xfrm>
            <a:prstGeom prst="rect">
              <a:avLst/>
            </a:prstGeom>
            <a:solidFill>
              <a:srgbClr val="6897D4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0.2×</a:t>
              </a:r>
            </a:p>
          </p:txBody>
        </p:sp>
        <p:sp>
          <p:nvSpPr>
            <p:cNvPr id="145" name="!!marginCell0_5"/>
            <p:cNvSpPr/>
            <p:nvPr/>
          </p:nvSpPr>
          <p:spPr>
            <a:xfrm>
              <a:off x="10089388" y="3995928"/>
              <a:ext cx="1474724" cy="310896"/>
            </a:xfrm>
            <a:prstGeom prst="rect">
              <a:avLst/>
            </a:prstGeom>
            <a:solidFill>
              <a:srgbClr val="EDF3FA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0.8×</a:t>
              </a:r>
            </a:p>
          </p:txBody>
        </p:sp>
        <p:sp>
          <p:nvSpPr>
            <p:cNvPr id="146" name="!!marginRow1"/>
            <p:cNvSpPr/>
            <p:nvPr/>
          </p:nvSpPr>
          <p:spPr>
            <a:xfrm>
              <a:off x="609600" y="4325112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EK-FAC</a:t>
              </a:r>
            </a:p>
          </p:txBody>
        </p:sp>
        <p:sp>
          <p:nvSpPr>
            <p:cNvPr id="147" name="!!marginCell1_0"/>
            <p:cNvSpPr/>
            <p:nvPr/>
          </p:nvSpPr>
          <p:spPr>
            <a:xfrm>
              <a:off x="2532888" y="4343400"/>
              <a:ext cx="1474724" cy="310896"/>
            </a:xfrm>
            <a:prstGeom prst="rect">
              <a:avLst/>
            </a:prstGeom>
            <a:solidFill>
              <a:srgbClr val="E97B2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8.6×</a:t>
              </a:r>
            </a:p>
          </p:txBody>
        </p:sp>
        <p:sp>
          <p:nvSpPr>
            <p:cNvPr id="148" name="!!marginCell1_1"/>
            <p:cNvSpPr/>
            <p:nvPr/>
          </p:nvSpPr>
          <p:spPr>
            <a:xfrm>
              <a:off x="4044188" y="4343400"/>
              <a:ext cx="1474724" cy="310896"/>
            </a:xfrm>
            <a:prstGeom prst="rect">
              <a:avLst/>
            </a:prstGeom>
            <a:solidFill>
              <a:srgbClr val="6695D3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0.2×</a:t>
              </a:r>
            </a:p>
          </p:txBody>
        </p:sp>
        <p:sp>
          <p:nvSpPr>
            <p:cNvPr id="149" name="!!marginCell1_2"/>
            <p:cNvSpPr/>
            <p:nvPr/>
          </p:nvSpPr>
          <p:spPr>
            <a:xfrm>
              <a:off x="5555488" y="4343400"/>
              <a:ext cx="1474724" cy="310896"/>
            </a:xfrm>
            <a:prstGeom prst="rect">
              <a:avLst/>
            </a:prstGeom>
            <a:solidFill>
              <a:srgbClr val="FBE5D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1.5×</a:t>
              </a:r>
            </a:p>
          </p:txBody>
        </p:sp>
        <p:sp>
          <p:nvSpPr>
            <p:cNvPr id="150" name="!!marginCell1_3"/>
            <p:cNvSpPr/>
            <p:nvPr/>
          </p:nvSpPr>
          <p:spPr>
            <a:xfrm>
              <a:off x="7066788" y="4343400"/>
              <a:ext cx="1474724" cy="310896"/>
            </a:xfrm>
            <a:prstGeom prst="rect">
              <a:avLst/>
            </a:prstGeom>
            <a:solidFill>
              <a:srgbClr val="7BA4D9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0.2×</a:t>
              </a:r>
            </a:p>
          </p:txBody>
        </p:sp>
        <p:sp>
          <p:nvSpPr>
            <p:cNvPr id="151" name="!!marginCell1_4"/>
            <p:cNvSpPr/>
            <p:nvPr/>
          </p:nvSpPr>
          <p:spPr>
            <a:xfrm>
              <a:off x="8578088" y="4343400"/>
              <a:ext cx="1474724" cy="310896"/>
            </a:xfrm>
            <a:prstGeom prst="rect">
              <a:avLst/>
            </a:prstGeom>
            <a:solidFill>
              <a:srgbClr val="BCD1E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0.5×</a:t>
              </a:r>
            </a:p>
          </p:txBody>
        </p:sp>
        <p:sp>
          <p:nvSpPr>
            <p:cNvPr id="152" name="!!marginCell1_5"/>
            <p:cNvSpPr/>
            <p:nvPr/>
          </p:nvSpPr>
          <p:spPr>
            <a:xfrm>
              <a:off x="10089388" y="4343400"/>
              <a:ext cx="1474724" cy="310896"/>
            </a:xfrm>
            <a:prstGeom prst="rect">
              <a:avLst/>
            </a:prstGeom>
            <a:solidFill>
              <a:srgbClr val="DCE7F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0.7×</a:t>
              </a:r>
            </a:p>
          </p:txBody>
        </p:sp>
        <p:sp>
          <p:nvSpPr>
            <p:cNvPr id="153" name="!!marginRow2"/>
            <p:cNvSpPr/>
            <p:nvPr/>
          </p:nvSpPr>
          <p:spPr>
            <a:xfrm>
              <a:off x="609600" y="4672584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Layerwise TRAK</a:t>
              </a:r>
            </a:p>
          </p:txBody>
        </p:sp>
        <p:sp>
          <p:nvSpPr>
            <p:cNvPr id="154" name="!!marginCell2_0"/>
            <p:cNvSpPr/>
            <p:nvPr/>
          </p:nvSpPr>
          <p:spPr>
            <a:xfrm>
              <a:off x="2532888" y="4690872"/>
              <a:ext cx="1474724" cy="310896"/>
            </a:xfrm>
            <a:prstGeom prst="rect">
              <a:avLst/>
            </a:prstGeom>
            <a:solidFill>
              <a:srgbClr val="F9DECA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1.7×</a:t>
              </a:r>
            </a:p>
          </p:txBody>
        </p:sp>
        <p:sp>
          <p:nvSpPr>
            <p:cNvPr id="155" name="!!marginCell2_1"/>
            <p:cNvSpPr/>
            <p:nvPr/>
          </p:nvSpPr>
          <p:spPr>
            <a:xfrm>
              <a:off x="4044188" y="4690872"/>
              <a:ext cx="1474724" cy="310896"/>
            </a:xfrm>
            <a:prstGeom prst="rect">
              <a:avLst/>
            </a:prstGeom>
            <a:solidFill>
              <a:srgbClr val="F3F7F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0.9×</a:t>
              </a:r>
            </a:p>
          </p:txBody>
        </p:sp>
        <p:sp>
          <p:nvSpPr>
            <p:cNvPr id="156" name="!!marginCell2_2"/>
            <p:cNvSpPr/>
            <p:nvPr/>
          </p:nvSpPr>
          <p:spPr>
            <a:xfrm>
              <a:off x="5555488" y="4690872"/>
              <a:ext cx="1474724" cy="31089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1.0×</a:t>
              </a:r>
            </a:p>
          </p:txBody>
        </p:sp>
        <p:sp>
          <p:nvSpPr>
            <p:cNvPr id="157" name="!!marginCell2_3"/>
            <p:cNvSpPr/>
            <p:nvPr/>
          </p:nvSpPr>
          <p:spPr>
            <a:xfrm>
              <a:off x="7066788" y="4690872"/>
              <a:ext cx="1474724" cy="310896"/>
            </a:xfrm>
            <a:prstGeom prst="rect">
              <a:avLst/>
            </a:prstGeom>
            <a:solidFill>
              <a:srgbClr val="E5EDF7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0.8×</a:t>
              </a:r>
            </a:p>
          </p:txBody>
        </p:sp>
        <p:sp>
          <p:nvSpPr>
            <p:cNvPr id="158" name="!!marginCell2_4"/>
            <p:cNvSpPr/>
            <p:nvPr/>
          </p:nvSpPr>
          <p:spPr>
            <a:xfrm>
              <a:off x="8578088" y="4690872"/>
              <a:ext cx="1474724" cy="310896"/>
            </a:xfrm>
            <a:prstGeom prst="rect">
              <a:avLst/>
            </a:prstGeom>
            <a:solidFill>
              <a:srgbClr val="D4E2F3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0.6×</a:t>
              </a:r>
            </a:p>
          </p:txBody>
        </p:sp>
        <p:sp>
          <p:nvSpPr>
            <p:cNvPr id="159" name="!!marginCell2_5"/>
            <p:cNvSpPr/>
            <p:nvPr/>
          </p:nvSpPr>
          <p:spPr>
            <a:xfrm>
              <a:off x="10089388" y="4690872"/>
              <a:ext cx="1474724" cy="310896"/>
            </a:xfrm>
            <a:prstGeom prst="rect">
              <a:avLst/>
            </a:prstGeom>
            <a:solidFill>
              <a:srgbClr val="FEF6F1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1.2×</a:t>
              </a:r>
            </a:p>
          </p:txBody>
        </p:sp>
        <p:sp>
          <p:nvSpPr>
            <p:cNvPr id="160" name="!!marginRow3"/>
            <p:cNvSpPr/>
            <p:nvPr/>
          </p:nvSpPr>
          <p:spPr>
            <a:xfrm>
              <a:off x="609600" y="5020056"/>
              <a:ext cx="1795272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lang="en-US" sz="15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Layerwise TracIn</a:t>
              </a:r>
            </a:p>
          </p:txBody>
        </p:sp>
        <p:sp>
          <p:nvSpPr>
            <p:cNvPr id="161" name="!!marginCell3_0"/>
            <p:cNvSpPr/>
            <p:nvPr/>
          </p:nvSpPr>
          <p:spPr>
            <a:xfrm>
              <a:off x="2532888" y="5038344"/>
              <a:ext cx="1474724" cy="310896"/>
            </a:xfrm>
            <a:prstGeom prst="rect">
              <a:avLst/>
            </a:prstGeom>
            <a:solidFill>
              <a:srgbClr val="E66B0D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11×</a:t>
              </a:r>
            </a:p>
          </p:txBody>
        </p:sp>
        <p:sp>
          <p:nvSpPr>
            <p:cNvPr id="162" name="!!marginCell3_1"/>
            <p:cNvSpPr/>
            <p:nvPr/>
          </p:nvSpPr>
          <p:spPr>
            <a:xfrm>
              <a:off x="4044188" y="5038344"/>
              <a:ext cx="1474724" cy="310896"/>
            </a:xfrm>
            <a:prstGeom prst="rect">
              <a:avLst/>
            </a:prstGeom>
            <a:solidFill>
              <a:srgbClr val="568ACE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0.2×</a:t>
              </a:r>
            </a:p>
          </p:txBody>
        </p:sp>
        <p:sp>
          <p:nvSpPr>
            <p:cNvPr id="163" name="!!marginCell3_2"/>
            <p:cNvSpPr/>
            <p:nvPr/>
          </p:nvSpPr>
          <p:spPr>
            <a:xfrm>
              <a:off x="5555488" y="5038344"/>
              <a:ext cx="1474724" cy="310896"/>
            </a:xfrm>
            <a:prstGeom prst="rect">
              <a:avLst/>
            </a:prstGeom>
            <a:solidFill>
              <a:srgbClr val="86ACD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0.3×</a:t>
              </a:r>
            </a:p>
          </p:txBody>
        </p:sp>
        <p:sp>
          <p:nvSpPr>
            <p:cNvPr id="164" name="!!marginCell3_3"/>
            <p:cNvSpPr/>
            <p:nvPr/>
          </p:nvSpPr>
          <p:spPr>
            <a:xfrm>
              <a:off x="7066788" y="5038344"/>
              <a:ext cx="1474724" cy="310896"/>
            </a:xfrm>
            <a:prstGeom prst="rect">
              <a:avLst/>
            </a:prstGeom>
            <a:solidFill>
              <a:srgbClr val="3A77C6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0.1×</a:t>
              </a:r>
            </a:p>
          </p:txBody>
        </p:sp>
        <p:sp>
          <p:nvSpPr>
            <p:cNvPr id="165" name="!!marginCell3_4"/>
            <p:cNvSpPr/>
            <p:nvPr/>
          </p:nvSpPr>
          <p:spPr>
            <a:xfrm>
              <a:off x="8578088" y="5038344"/>
              <a:ext cx="1474724" cy="310896"/>
            </a:xfrm>
            <a:prstGeom prst="rect">
              <a:avLst/>
            </a:prstGeom>
            <a:solidFill>
              <a:srgbClr val="2D6EC2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FFFFFF"/>
                  </a:solidFill>
                  <a:latin typeface="Helvetica"/>
                  <a:cs typeface="Helvetica"/>
                </a:rPr>
                <a:t>0.1×</a:t>
              </a:r>
            </a:p>
          </p:txBody>
        </p:sp>
        <p:sp>
          <p:nvSpPr>
            <p:cNvPr id="166" name="!!marginCell3_5"/>
            <p:cNvSpPr/>
            <p:nvPr/>
          </p:nvSpPr>
          <p:spPr>
            <a:xfrm>
              <a:off x="10089388" y="5038344"/>
              <a:ext cx="1474724" cy="310896"/>
            </a:xfrm>
            <a:prstGeom prst="rect">
              <a:avLst/>
            </a:prstGeom>
            <a:solidFill>
              <a:srgbClr val="DDE7F5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600" b="0" i="0" dirty="0">
                  <a:solidFill>
                    <a:srgbClr val="262626"/>
                  </a:solidFill>
                  <a:latin typeface="Helvetica"/>
                  <a:cs typeface="Helvetica"/>
                </a:rPr>
                <a:t>0.7×</a:t>
              </a:r>
            </a:p>
          </p:txBody>
        </p:sp>
      </p:grpSp>
      <p:sp>
        <p:nvSpPr>
          <p:cNvPr id="168" name="!!hlce2"/>
          <p:cNvSpPr/>
          <p:nvPr/>
        </p:nvSpPr>
        <p:spPr>
          <a:xfrm>
            <a:off x="5518912" y="2103120"/>
            <a:ext cx="1547876" cy="144475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69" name="!!hlmargin0"/>
          <p:cNvSpPr/>
          <p:nvPr/>
        </p:nvSpPr>
        <p:spPr>
          <a:xfrm>
            <a:off x="2496312" y="3950208"/>
            <a:ext cx="1547876" cy="144475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170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Cross-entropy picks item names; neg. log-odds picks the answer</a:t>
            </a:r>
          </a:p>
        </p:txBody>
      </p:sp>
      <p:sp>
        <p:nvSpPr>
          <p:cNvPr id="171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Share of top-10 positions ÷ share of all positions (1× = chance) · all (query, document) pairs of the |F| = 50 cells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with both fixes</a:t>
            </a:r>
          </a:p>
        </p:txBody>
      </p:sp>
      <p:sp>
        <p:nvSpPr>
          <p:cNvPr id="100" name="!!head0"/>
          <p:cNvSpPr/>
          <p:nvPr/>
        </p:nvSpPr>
        <p:spPr>
          <a:xfrm>
            <a:off x="612648" y="896112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latin typeface="Helvetica"/>
                <a:cs typeface="Helvetica"/>
              </a:rPr>
              <a:t>Function Bindings</a:t>
            </a:r>
          </a:p>
        </p:txBody>
      </p:sp>
      <p:sp>
        <p:nvSpPr>
          <p:cNvPr id="109" name="!!head1"/>
          <p:cNvSpPr/>
          <p:nvPr/>
        </p:nvSpPr>
        <p:spPr>
          <a:xfrm>
            <a:off x="4370832" y="896112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latin typeface="Helvetica"/>
                <a:cs typeface="Helvetica"/>
              </a:rPr>
              <a:t>+ distractors</a:t>
            </a:r>
          </a:p>
        </p:txBody>
      </p:sp>
      <p:sp>
        <p:nvSpPr>
          <p:cNvPr id="118" name="!!head2"/>
          <p:cNvSpPr/>
          <p:nvPr/>
        </p:nvSpPr>
        <p:spPr>
          <a:xfrm>
            <a:off x="8129016" y="896112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latin typeface="Helvetica"/>
                <a:cs typeface="Helvetica"/>
              </a:rPr>
              <a:t>Rule Routings</a:t>
            </a:r>
          </a:p>
        </p:txBody>
      </p:sp>
      <p:grpSp>
        <p:nvGrpSpPr>
          <p:cNvPr id="129" name="!!legPrior"/>
          <p:cNvGrpSpPr/>
          <p:nvPr/>
        </p:nvGrpSpPr>
        <p:grpSpPr>
          <a:xfrm>
            <a:off x="6903720" y="155448"/>
            <a:ext cx="4846320" cy="365760"/>
            <a:chOff x="6903720" y="155448"/>
            <a:chExt cx="4846320" cy="365760"/>
          </a:xfrm>
        </p:grpSpPr>
        <p:sp>
          <p:nvSpPr>
            <p:cNvPr id="127" name="!!swP"/>
            <p:cNvSpPr/>
            <p:nvPr/>
          </p:nvSpPr>
          <p:spPr>
            <a:xfrm>
              <a:off x="6903720" y="246888"/>
              <a:ext cx="182880" cy="182880"/>
            </a:xfrm>
            <a:prstGeom prst="rect">
              <a:avLst/>
            </a:prstGeom>
            <a:solidFill>
              <a:srgbClr val="8FAADC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8" name="!!lgP"/>
            <p:cNvSpPr/>
            <p:nvPr/>
          </p:nvSpPr>
          <p:spPr>
            <a:xfrm>
              <a:off x="7178040" y="155448"/>
              <a:ext cx="4572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0" i="0" dirty="0">
                  <a:solidFill>
                    <a:srgbClr val="404040"/>
                  </a:solidFill>
                  <a:latin typeface="Helvetica"/>
                  <a:cs typeface="Helvetica"/>
                </a:rPr>
                <a:t>Prior: cross-entropy, all tokens</a:t>
              </a:r>
            </a:p>
          </p:txBody>
        </p:sp>
      </p:grpSp>
      <p:grpSp>
        <p:nvGrpSpPr>
          <p:cNvPr id="133" name="!!priorBars"/>
          <p:cNvGrpSpPr/>
          <p:nvPr/>
        </p:nvGrpSpPr>
        <p:grpSpPr>
          <a:xfrm>
            <a:off x="612648" y="1298448"/>
            <a:ext cx="10972800" cy="3959352"/>
            <a:chOff x="612648" y="1298448"/>
            <a:chExt cx="10972800" cy="3959352"/>
          </a:xfrm>
        </p:grpSpPr>
        <p:graphicFrame>
          <p:nvGraphicFramePr>
            <p:cNvPr id="101" name="!!prior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247719731"/>
                </p:ext>
              </p:extLst>
            </p:nvPr>
          </p:nvGraphicFramePr>
          <p:xfrm>
            <a:off x="612648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10" name="!!prior1"/>
            <p:cNvGraphicFramePr>
              <a:graphicFrameLocks noGrp="1"/>
            </p:cNvGraphicFramePr>
            <p:nvPr/>
          </p:nvGraphicFramePr>
          <p:xfrm>
            <a:off x="4370832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19" name="!!prior2"/>
            <p:cNvGraphicFramePr>
              <a:graphicFrameLocks noGrp="1"/>
            </p:cNvGraphicFramePr>
            <p:nvPr/>
          </p:nvGraphicFramePr>
          <p:xfrm>
            <a:off x="8129016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3" name="!!v000"/>
            <p:cNvSpPr/>
            <p:nvPr/>
          </p:nvSpPr>
          <p:spPr>
            <a:xfrm>
              <a:off x="656342" y="409386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0.07</a:t>
              </a:r>
            </a:p>
          </p:txBody>
        </p:sp>
        <p:sp>
          <p:nvSpPr>
            <p:cNvPr id="105" name="!!v010"/>
            <p:cNvSpPr/>
            <p:nvPr/>
          </p:nvSpPr>
          <p:spPr>
            <a:xfrm>
              <a:off x="1762400" y="260120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0.59</a:t>
              </a:r>
            </a:p>
          </p:txBody>
        </p:sp>
        <p:sp>
          <p:nvSpPr>
            <p:cNvPr id="107" name="!!v020"/>
            <p:cNvSpPr/>
            <p:nvPr/>
          </p:nvSpPr>
          <p:spPr>
            <a:xfrm>
              <a:off x="2868459" y="3876942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0.14</a:t>
              </a:r>
            </a:p>
          </p:txBody>
        </p:sp>
        <p:sp>
          <p:nvSpPr>
            <p:cNvPr id="112" name="!!v100"/>
            <p:cNvSpPr/>
            <p:nvPr/>
          </p:nvSpPr>
          <p:spPr>
            <a:xfrm>
              <a:off x="4414526" y="433246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14" name="!!v110"/>
            <p:cNvSpPr/>
            <p:nvPr/>
          </p:nvSpPr>
          <p:spPr>
            <a:xfrm>
              <a:off x="5520584" y="4080940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116" name="!!v120"/>
            <p:cNvSpPr/>
            <p:nvPr/>
          </p:nvSpPr>
          <p:spPr>
            <a:xfrm>
              <a:off x="6626643" y="4186393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121" name="!!v200"/>
            <p:cNvSpPr/>
            <p:nvPr/>
          </p:nvSpPr>
          <p:spPr>
            <a:xfrm>
              <a:off x="8172710" y="4214275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123" name="!!v210"/>
            <p:cNvSpPr/>
            <p:nvPr/>
          </p:nvSpPr>
          <p:spPr>
            <a:xfrm>
              <a:off x="9278768" y="365467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0.21</a:t>
              </a:r>
            </a:p>
          </p:txBody>
        </p:sp>
        <p:sp>
          <p:nvSpPr>
            <p:cNvPr id="125" name="!!v220"/>
            <p:cNvSpPr/>
            <p:nvPr/>
          </p:nvSpPr>
          <p:spPr>
            <a:xfrm>
              <a:off x="10384827" y="416421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595959"/>
                  </a:solidFill>
                  <a:latin typeface="Helvetica"/>
                  <a:cs typeface="Helvetica"/>
                </a:rPr>
                <a:t>0.05</a:t>
              </a:r>
            </a:p>
          </p:txBody>
        </p:sp>
      </p:grpSp>
      <p:sp>
        <p:nvSpPr>
          <p:cNvPr id="136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Recall@N, mean over N ∈ {1, 5, 10, 30, 50} (Rule Routings: 3–50) and 3 seeds · |F| = 50 · error bars ±2 SE over cells</a:t>
            </a:r>
          </a:p>
        </p:txBody>
      </p:sp>
      <p:grpSp>
        <p:nvGrpSpPr>
          <p:cNvPr id="132" name="!!legOurs"/>
          <p:cNvGrpSpPr/>
          <p:nvPr/>
        </p:nvGrpSpPr>
        <p:grpSpPr>
          <a:xfrm>
            <a:off x="6903720" y="521208"/>
            <a:ext cx="4846320" cy="365760"/>
            <a:chOff x="6903720" y="521208"/>
            <a:chExt cx="4846320" cy="365760"/>
          </a:xfrm>
        </p:grpSpPr>
        <p:sp>
          <p:nvSpPr>
            <p:cNvPr id="130" name="!!swO"/>
            <p:cNvSpPr/>
            <p:nvPr/>
          </p:nvSpPr>
          <p:spPr>
            <a:xfrm>
              <a:off x="6903720" y="612648"/>
              <a:ext cx="182880" cy="1828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1" name="!!lgO"/>
            <p:cNvSpPr/>
            <p:nvPr/>
          </p:nvSpPr>
          <p:spPr>
            <a:xfrm>
              <a:off x="7178040" y="521208"/>
              <a:ext cx="4572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Both fixes: neg. log-odds, top-10 tokens</a:t>
              </a:r>
            </a:p>
          </p:txBody>
        </p:sp>
      </p:grpSp>
      <p:grpSp>
        <p:nvGrpSpPr>
          <p:cNvPr id="134" name="!!oursBars"/>
          <p:cNvGrpSpPr/>
          <p:nvPr/>
        </p:nvGrpSpPr>
        <p:grpSpPr>
          <a:xfrm>
            <a:off x="612648" y="1298448"/>
            <a:ext cx="10972800" cy="3959352"/>
            <a:chOff x="612648" y="1298448"/>
            <a:chExt cx="10972800" cy="3959352"/>
          </a:xfrm>
        </p:grpSpPr>
        <p:graphicFrame>
          <p:nvGraphicFramePr>
            <p:cNvPr id="102" name="!!ours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77977534"/>
                </p:ext>
              </p:extLst>
            </p:nvPr>
          </p:nvGraphicFramePr>
          <p:xfrm>
            <a:off x="612648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11" name="!!ours1"/>
            <p:cNvGraphicFramePr>
              <a:graphicFrameLocks noGrp="1"/>
            </p:cNvGraphicFramePr>
            <p:nvPr/>
          </p:nvGraphicFramePr>
          <p:xfrm>
            <a:off x="4370832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120" name="!!ours2"/>
            <p:cNvGraphicFramePr>
              <a:graphicFrameLocks noGrp="1"/>
            </p:cNvGraphicFramePr>
            <p:nvPr/>
          </p:nvGraphicFramePr>
          <p:xfrm>
            <a:off x="8129016" y="1298448"/>
            <a:ext cx="3456432" cy="395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04" name="!!v001"/>
            <p:cNvSpPr/>
            <p:nvPr/>
          </p:nvSpPr>
          <p:spPr>
            <a:xfrm>
              <a:off x="1081749" y="172483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06" name="!!v011"/>
            <p:cNvSpPr/>
            <p:nvPr/>
          </p:nvSpPr>
          <p:spPr>
            <a:xfrm>
              <a:off x="2187808" y="172483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08" name="!!v021"/>
            <p:cNvSpPr/>
            <p:nvPr/>
          </p:nvSpPr>
          <p:spPr>
            <a:xfrm>
              <a:off x="3293866" y="172483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13" name="!!v101"/>
            <p:cNvSpPr/>
            <p:nvPr/>
          </p:nvSpPr>
          <p:spPr>
            <a:xfrm>
              <a:off x="4839933" y="1727862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0.99</a:t>
              </a:r>
            </a:p>
          </p:txBody>
        </p:sp>
        <p:sp>
          <p:nvSpPr>
            <p:cNvPr id="115" name="!!v111"/>
            <p:cNvSpPr/>
            <p:nvPr/>
          </p:nvSpPr>
          <p:spPr>
            <a:xfrm>
              <a:off x="5945992" y="172483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17" name="!!v121"/>
            <p:cNvSpPr/>
            <p:nvPr/>
          </p:nvSpPr>
          <p:spPr>
            <a:xfrm>
              <a:off x="7052050" y="17309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0.99</a:t>
              </a:r>
            </a:p>
          </p:txBody>
        </p:sp>
        <p:sp>
          <p:nvSpPr>
            <p:cNvPr id="122" name="!!v201"/>
            <p:cNvSpPr/>
            <p:nvPr/>
          </p:nvSpPr>
          <p:spPr>
            <a:xfrm>
              <a:off x="8598117" y="3382187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0.32</a:t>
              </a:r>
            </a:p>
          </p:txBody>
        </p:sp>
        <p:sp>
          <p:nvSpPr>
            <p:cNvPr id="124" name="!!v211"/>
            <p:cNvSpPr/>
            <p:nvPr/>
          </p:nvSpPr>
          <p:spPr>
            <a:xfrm>
              <a:off x="9704176" y="2407879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0.60</a:t>
              </a:r>
            </a:p>
          </p:txBody>
        </p:sp>
        <p:sp>
          <p:nvSpPr>
            <p:cNvPr id="126" name="!!v221"/>
            <p:cNvSpPr/>
            <p:nvPr/>
          </p:nvSpPr>
          <p:spPr>
            <a:xfrm>
              <a:off x="10810234" y="3325117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4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0.27</a:t>
              </a:r>
            </a:p>
          </p:txBody>
        </p:sp>
      </p:grpSp>
      <p:sp>
        <p:nvSpPr>
          <p:cNvPr id="135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0" i="0" dirty="0">
                <a:solidFill>
                  <a:srgbClr val="000000"/>
                </a:solidFill>
                <a:latin typeface="Helvetica"/>
                <a:cs typeface="Helvetica"/>
              </a:rPr>
              <a:t>Function Bindings solved, even with distractors; Rule Routings 3–9× better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tokens to keep?</a:t>
            </a:r>
          </a:p>
        </p:txBody>
      </p:sp>
      <p:sp>
        <p:nvSpPr>
          <p:cNvPr id="100" name="!!band"/>
          <p:cNvSpPr/>
          <p:nvPr/>
        </p:nvSpPr>
        <p:spPr>
          <a:xfrm>
            <a:off x="3338703" y="1032358"/>
            <a:ext cx="2960370" cy="3302813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dirty="0"/>
          </a:p>
        </p:txBody>
      </p:sp>
      <p:grpSp>
        <p:nvGrpSpPr>
          <p:cNvPr id="115" name="!!main"/>
          <p:cNvGrpSpPr/>
          <p:nvPr/>
        </p:nvGrpSpPr>
        <p:grpSpPr>
          <a:xfrm>
            <a:off x="137160" y="914400"/>
            <a:ext cx="10698480" cy="4279392"/>
            <a:chOff x="137160" y="914400"/>
            <a:chExt cx="10698480" cy="4279392"/>
          </a:xfrm>
        </p:grpSpPr>
        <p:sp>
          <p:nvSpPr>
            <p:cNvPr id="101" name="!!allDiv"/>
            <p:cNvSpPr/>
            <p:nvPr/>
          </p:nvSpPr>
          <p:spPr>
            <a:xfrm>
              <a:off x="9999536" y="1032358"/>
              <a:ext cx="0" cy="3302813"/>
            </a:xfrm>
            <a:prstGeom prst="line">
              <a:avLst/>
            </a:prstGeom>
            <a:noFill/>
            <a:ln w="12700">
              <a:solidFill>
                <a:srgbClr val="BFBFBF"/>
              </a:solidFill>
              <a:prstDash val="dash"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  <p:graphicFrame>
          <p:nvGraphicFramePr>
            <p:cNvPr id="102" name="!!ceChart"/>
            <p:cNvGraphicFramePr>
              <a:graphicFrameLocks noGrp="1"/>
            </p:cNvGraphicFramePr>
            <p:nvPr/>
          </p:nvGraphicFramePr>
          <p:xfrm>
            <a:off x="1234440" y="914400"/>
            <a:ext cx="9601200" cy="39319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8" name="!!ceLab"/>
            <p:cNvSpPr/>
            <p:nvPr/>
          </p:nvSpPr>
          <p:spPr>
            <a:xfrm>
              <a:off x="1949958" y="3365906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800" b="1" i="0" dirty="0">
                  <a:solidFill>
                    <a:srgbClr val="6F93D6"/>
                  </a:solidFill>
                  <a:latin typeface="Helvetica"/>
                  <a:cs typeface="Helvetica"/>
                </a:rPr>
                <a:t>Cross-entropy</a:t>
              </a:r>
            </a:p>
          </p:txBody>
        </p:sp>
        <p:sp>
          <p:nvSpPr>
            <p:cNvPr id="104" name="!!ceVal"/>
            <p:cNvSpPr/>
            <p:nvPr/>
          </p:nvSpPr>
          <p:spPr>
            <a:xfrm>
              <a:off x="4777454" y="3299630"/>
              <a:ext cx="8229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6F93D6"/>
                  </a:solidFill>
                  <a:latin typeface="Helvetica"/>
                  <a:cs typeface="Helvetica"/>
                </a:rPr>
                <a:t>0.14</a:t>
              </a:r>
            </a:p>
          </p:txBody>
        </p:sp>
        <p:sp>
          <p:nvSpPr>
            <p:cNvPr id="111" name="!!yLab"/>
            <p:cNvSpPr/>
            <p:nvPr/>
          </p:nvSpPr>
          <p:spPr>
            <a:xfrm rot="-5400000">
              <a:off x="137160" y="2500884"/>
              <a:ext cx="1463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Recall@N</a:t>
              </a:r>
            </a:p>
          </p:txBody>
        </p:sp>
        <p:sp>
          <p:nvSpPr>
            <p:cNvPr id="112" name="!!xLab"/>
            <p:cNvSpPr/>
            <p:nvPr/>
          </p:nvSpPr>
          <p:spPr>
            <a:xfrm>
              <a:off x="1858518" y="4864608"/>
              <a:ext cx="888111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Tokens kept per document (k)</a:t>
              </a:r>
            </a:p>
          </p:txBody>
        </p:sp>
      </p:grpSp>
      <p:graphicFrame>
        <p:nvGraphicFramePr>
          <p:cNvPr id="103" name="!!nloChart"/>
          <p:cNvGraphicFramePr>
            <a:graphicFrameLocks noGrp="1"/>
          </p:cNvGraphicFramePr>
          <p:nvPr/>
        </p:nvGraphicFramePr>
        <p:xfrm>
          <a:off x="1234440" y="914400"/>
          <a:ext cx="9601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9" name="!!nloLab"/>
          <p:cNvSpPr/>
          <p:nvPr/>
        </p:nvSpPr>
        <p:spPr>
          <a:xfrm>
            <a:off x="1949958" y="144712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C00000"/>
                </a:solidFill>
                <a:latin typeface="Helvetica"/>
                <a:cs typeface="Helvetica"/>
              </a:rPr>
              <a:t>Neg. log-odds</a:t>
            </a:r>
          </a:p>
        </p:txBody>
      </p:sp>
      <p:grpSp>
        <p:nvGrpSpPr>
          <p:cNvPr id="107" name="!!nloVals"/>
          <p:cNvGrpSpPr/>
          <p:nvPr/>
        </p:nvGrpSpPr>
        <p:grpSpPr>
          <a:xfrm>
            <a:off x="4777454" y="864086"/>
            <a:ext cx="6003608" cy="3123822"/>
            <a:chOff x="4777454" y="864086"/>
            <a:chExt cx="6003608" cy="3123822"/>
          </a:xfrm>
        </p:grpSpPr>
        <p:sp>
          <p:nvSpPr>
            <p:cNvPr id="105" name="!!nloVal10"/>
            <p:cNvSpPr/>
            <p:nvPr/>
          </p:nvSpPr>
          <p:spPr>
            <a:xfrm>
              <a:off x="4777454" y="864086"/>
              <a:ext cx="8229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0.99</a:t>
              </a:r>
            </a:p>
          </p:txBody>
        </p:sp>
        <p:sp>
          <p:nvSpPr>
            <p:cNvPr id="106" name="!!nloValAll"/>
            <p:cNvSpPr/>
            <p:nvPr/>
          </p:nvSpPr>
          <p:spPr>
            <a:xfrm>
              <a:off x="9958102" y="3695300"/>
              <a:ext cx="8229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lang="en-US" sz="16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0.05</a:t>
              </a:r>
            </a:p>
          </p:txBody>
        </p:sp>
      </p:grpSp>
      <p:sp>
        <p:nvSpPr>
          <p:cNvPr id="110" name="!!bandLab"/>
          <p:cNvSpPr/>
          <p:nvPr/>
        </p:nvSpPr>
        <p:spPr>
          <a:xfrm>
            <a:off x="3338703" y="1893357"/>
            <a:ext cx="296037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i="0" dirty="0">
                <a:solidFill>
                  <a:srgbClr val="3B6E22"/>
                </a:solidFill>
                <a:latin typeface="Helvetica"/>
                <a:cs typeface="Helvetica"/>
              </a:rPr>
              <a:t>≈ 0.99 for k = 3–20</a:t>
            </a:r>
          </a:p>
        </p:txBody>
      </p:sp>
      <p:sp>
        <p:nvSpPr>
          <p:cNvPr id="114" name="!!src1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Grad-Dot · Function Bindings + distractors · |F| = 50 · mean over N ∈ {1, 5, 10, 30, 50} and 3 seeds · error bars ±2 SE over cells</a:t>
            </a:r>
          </a:p>
        </p:txBody>
      </p:sp>
      <p:sp>
        <p:nvSpPr>
          <p:cNvPr id="113" name="!!banner1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Small k works; more tokens dilute the signal</a:t>
            </a:r>
          </a:p>
        </p:txBody>
      </p:sp>
      <p:grpSp>
        <p:nvGrpSpPr>
          <p:cNvPr id="127" name="!!grid"/>
          <p:cNvGrpSpPr/>
          <p:nvPr/>
        </p:nvGrpSpPr>
        <p:grpSpPr>
          <a:xfrm>
            <a:off x="91440" y="868680"/>
            <a:ext cx="11494008" cy="4050792"/>
            <a:chOff x="91440" y="868680"/>
            <a:chExt cx="11494008" cy="4050792"/>
          </a:xfrm>
        </p:grpSpPr>
        <p:sp>
          <p:nvSpPr>
            <p:cNvPr id="116" name="!!gSub"/>
            <p:cNvSpPr/>
            <p:nvPr/>
          </p:nvSpPr>
          <p:spPr>
            <a:xfrm>
              <a:off x="612648" y="868680"/>
              <a:ext cx="10972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000" b="0" i="0" dirty="0">
                  <a:solidFill>
                    <a:srgbClr val="595959"/>
                  </a:solidFill>
                  <a:latin typeface="Helvetica"/>
                  <a:cs typeface="Helvetica"/>
                </a:rPr>
                <a:t>Same plot in each setting</a:t>
              </a:r>
            </a:p>
          </p:txBody>
        </p:sp>
        <p:sp>
          <p:nvSpPr>
            <p:cNvPr id="117" name="!!gYLab"/>
            <p:cNvSpPr/>
            <p:nvPr/>
          </p:nvSpPr>
          <p:spPr>
            <a:xfrm rot="-5400000">
              <a:off x="91440" y="2784348"/>
              <a:ext cx="1463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Recall@N</a:t>
              </a:r>
            </a:p>
          </p:txBody>
        </p:sp>
        <p:sp>
          <p:nvSpPr>
            <p:cNvPr id="125" name="!!gX"/>
            <p:cNvSpPr/>
            <p:nvPr/>
          </p:nvSpPr>
          <p:spPr>
            <a:xfrm>
              <a:off x="1143000" y="4590288"/>
              <a:ext cx="10442448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Tokens kept per document (k)</a:t>
              </a:r>
            </a:p>
          </p:txBody>
        </p:sp>
        <p:sp>
          <p:nvSpPr>
            <p:cNvPr id="126" name="!!gLeg"/>
            <p:cNvSpPr/>
            <p:nvPr/>
          </p:nvSpPr>
          <p:spPr>
            <a:xfrm>
              <a:off x="612648" y="4590288"/>
              <a:ext cx="32918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8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━ </a:t>
              </a:r>
              <a:r>
                <a:rPr lang="en-US" sz="1600" b="1" i="0" dirty="0">
                  <a:solidFill>
                    <a:srgbClr val="C00000"/>
                  </a:solidFill>
                  <a:latin typeface="Helvetica"/>
                  <a:cs typeface="Helvetica"/>
                </a:rPr>
                <a:t>Neg. log-odds   </a:t>
              </a:r>
              <a:r>
                <a:rPr lang="en-US" sz="1800" b="1" i="0" dirty="0">
                  <a:solidFill>
                    <a:srgbClr val="6F93D6"/>
                  </a:solidFill>
                  <a:latin typeface="Helvetica"/>
                  <a:cs typeface="Helvetica"/>
                </a:rPr>
                <a:t>━ </a:t>
              </a:r>
              <a:r>
                <a:rPr lang="en-US" sz="1600" b="1" i="0" dirty="0">
                  <a:solidFill>
                    <a:srgbClr val="6F93D6"/>
                  </a:solidFill>
                  <a:latin typeface="Helvetica"/>
                  <a:cs typeface="Helvetica"/>
                </a:rPr>
                <a:t>Cross-entropy</a:t>
              </a:r>
            </a:p>
          </p:txBody>
        </p:sp>
      </p:grpSp>
      <p:grpSp>
        <p:nvGrpSpPr>
          <p:cNvPr id="128" name="!!gridCol0"/>
          <p:cNvGrpSpPr/>
          <p:nvPr/>
        </p:nvGrpSpPr>
        <p:grpSpPr>
          <a:xfrm>
            <a:off x="1143000" y="1234440"/>
            <a:ext cx="3480816" cy="3337560"/>
            <a:chOff x="1143000" y="1234440"/>
            <a:chExt cx="3480816" cy="3337560"/>
          </a:xfrm>
        </p:grpSpPr>
        <p:sp>
          <p:nvSpPr>
            <p:cNvPr id="118" name="!!gHead0"/>
            <p:cNvSpPr/>
            <p:nvPr/>
          </p:nvSpPr>
          <p:spPr>
            <a:xfrm>
              <a:off x="1143000" y="1234440"/>
              <a:ext cx="3480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0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Function Bindings</a:t>
              </a:r>
            </a:p>
          </p:txBody>
        </p:sp>
        <p:graphicFrame>
          <p:nvGraphicFramePr>
            <p:cNvPr id="119" name="!!g0"/>
            <p:cNvGraphicFramePr>
              <a:graphicFrameLocks noGrp="1"/>
            </p:cNvGraphicFramePr>
            <p:nvPr/>
          </p:nvGraphicFramePr>
          <p:xfrm>
            <a:off x="1143000" y="1600200"/>
            <a:ext cx="3480816" cy="2971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pSp>
        <p:nvGrpSpPr>
          <p:cNvPr id="129" name="!!gridCol1"/>
          <p:cNvGrpSpPr/>
          <p:nvPr/>
        </p:nvGrpSpPr>
        <p:grpSpPr>
          <a:xfrm>
            <a:off x="4623816" y="1234440"/>
            <a:ext cx="3480816" cy="3337560"/>
            <a:chOff x="4623816" y="1234440"/>
            <a:chExt cx="3480816" cy="3337560"/>
          </a:xfrm>
        </p:grpSpPr>
        <p:sp>
          <p:nvSpPr>
            <p:cNvPr id="120" name="!!gHead1"/>
            <p:cNvSpPr/>
            <p:nvPr/>
          </p:nvSpPr>
          <p:spPr>
            <a:xfrm>
              <a:off x="4623816" y="1234440"/>
              <a:ext cx="3480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0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+ distractors</a:t>
              </a:r>
            </a:p>
          </p:txBody>
        </p:sp>
        <p:graphicFrame>
          <p:nvGraphicFramePr>
            <p:cNvPr id="121" name="!!g1"/>
            <p:cNvGraphicFramePr>
              <a:graphicFrameLocks noGrp="1"/>
            </p:cNvGraphicFramePr>
            <p:nvPr/>
          </p:nvGraphicFramePr>
          <p:xfrm>
            <a:off x="4623816" y="1600200"/>
            <a:ext cx="3480816" cy="2971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22" name="!!gHere"/>
            <p:cNvSpPr/>
            <p:nvPr/>
          </p:nvSpPr>
          <p:spPr>
            <a:xfrm>
              <a:off x="4917034" y="1664208"/>
              <a:ext cx="3103230" cy="2606040"/>
            </a:xfrm>
            <a:prstGeom prst="roundRect">
              <a:avLst>
                <a:gd name="adj" fmla="val 4000"/>
              </a:avLst>
            </a:prstGeom>
            <a:noFill/>
            <a:ln w="19050">
              <a:solidFill>
                <a:srgbClr val="595959"/>
              </a:solidFill>
              <a:prstDash val="dash"/>
            </a:ln>
          </p:spPr>
          <p:txBody>
            <a:bodyPr wrap="none" lIns="0" tIns="0" rIns="0" bIns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30" name="!!gridCol2"/>
          <p:cNvGrpSpPr/>
          <p:nvPr/>
        </p:nvGrpSpPr>
        <p:grpSpPr>
          <a:xfrm>
            <a:off x="8104632" y="1234440"/>
            <a:ext cx="3480816" cy="3337560"/>
            <a:chOff x="8104632" y="1234440"/>
            <a:chExt cx="3480816" cy="3337560"/>
          </a:xfrm>
        </p:grpSpPr>
        <p:sp>
          <p:nvSpPr>
            <p:cNvPr id="123" name="!!gHead2"/>
            <p:cNvSpPr/>
            <p:nvPr/>
          </p:nvSpPr>
          <p:spPr>
            <a:xfrm>
              <a:off x="8104632" y="1234440"/>
              <a:ext cx="3480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2000" b="1" i="0" dirty="0">
                  <a:solidFill>
                    <a:srgbClr val="000000"/>
                  </a:solidFill>
                  <a:latin typeface="Helvetica"/>
                  <a:cs typeface="Helvetica"/>
                </a:rPr>
                <a:t>Rule Routings</a:t>
              </a:r>
            </a:p>
          </p:txBody>
        </p:sp>
        <p:graphicFrame>
          <p:nvGraphicFramePr>
            <p:cNvPr id="124" name="!!g2"/>
            <p:cNvGraphicFramePr>
              <a:graphicFrameLocks noGrp="1"/>
            </p:cNvGraphicFramePr>
            <p:nvPr/>
          </p:nvGraphicFramePr>
          <p:xfrm>
            <a:off x="8104632" y="1600200"/>
            <a:ext cx="3480816" cy="2971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131" name="!!banner2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Holds across settings and methods</a:t>
            </a:r>
          </a:p>
        </p:txBody>
      </p:sp>
      <p:sp>
        <p:nvSpPr>
          <p:cNvPr id="132" name="!!src2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Grad-Dot · Recall@N · |F| = 50 · mean over N and 3 seeds · dashed box: the chart before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 to FTRACE-TREX?</a:t>
            </a:r>
          </a:p>
        </p:txBody>
      </p:sp>
      <p:sp>
        <p:nvSpPr>
          <p:cNvPr id="109" name="!!sub"/>
          <p:cNvSpPr/>
          <p:nvPr/>
        </p:nvSpPr>
        <p:spPr>
          <a:xfrm>
            <a:off x="612648" y="84124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00" b="0" i="0" dirty="0">
                <a:solidFill>
                  <a:srgbClr val="595959"/>
                </a:solidFill>
                <a:latin typeface="Helvetica"/>
                <a:cs typeface="Helvetica"/>
              </a:rPr>
              <a:t>Remove each method's top-ranked documents for 50 facts, retrain, and measure the drop in accuracy on those facts</a:t>
            </a:r>
          </a:p>
        </p:txBody>
      </p:sp>
      <p:grpSp>
        <p:nvGrpSpPr>
          <p:cNvPr id="112" name="!!base"/>
          <p:cNvGrpSpPr/>
          <p:nvPr/>
        </p:nvGrpSpPr>
        <p:grpSpPr>
          <a:xfrm>
            <a:off x="45720" y="1325880"/>
            <a:ext cx="11750040" cy="3575304"/>
            <a:chOff x="45720" y="1325880"/>
            <a:chExt cx="11750040" cy="3575304"/>
          </a:xfrm>
        </p:grpSpPr>
        <p:graphicFrame>
          <p:nvGraphicFramePr>
            <p:cNvPr id="100" name="!!baseChart"/>
            <p:cNvGraphicFramePr>
              <a:graphicFrameLocks noGrp="1"/>
            </p:cNvGraphicFramePr>
            <p:nvPr/>
          </p:nvGraphicFramePr>
          <p:xfrm>
            <a:off x="1188720" y="1325880"/>
            <a:ext cx="7772400" cy="35204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3" name="!!lab_jl_w"/>
            <p:cNvSpPr/>
            <p:nvPr/>
          </p:nvSpPr>
          <p:spPr>
            <a:xfrm>
              <a:off x="8729747" y="3685032"/>
              <a:ext cx="30660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1" i="0" dirty="0">
                  <a:solidFill>
                    <a:srgbClr val="6F93D6"/>
                  </a:solidFill>
                  <a:latin typeface="Helvetica"/>
                  <a:cs typeface="Helvetica"/>
                </a:rPr>
                <a:t>TRAK</a:t>
              </a:r>
              <a:r>
                <a:rPr lang="en-US" sz="1600" b="0" i="0" dirty="0">
                  <a:solidFill>
                    <a:srgbClr val="6F93D6"/>
                  </a:solidFill>
                  <a:latin typeface="Helvetica"/>
                  <a:cs typeface="Helvetica"/>
                </a:rPr>
                <a:t>  9%</a:t>
              </a:r>
            </a:p>
          </p:txBody>
        </p:sp>
        <p:sp>
          <p:nvSpPr>
            <p:cNvPr id="104" name="!!lab_bm25"/>
            <p:cNvSpPr/>
            <p:nvPr/>
          </p:nvSpPr>
          <p:spPr>
            <a:xfrm>
              <a:off x="8729747" y="3172968"/>
              <a:ext cx="30660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1600" b="1" i="0" dirty="0">
                  <a:solidFill>
                    <a:srgbClr val="8C8C8C"/>
                  </a:solidFill>
                  <a:latin typeface="Helvetica"/>
                  <a:cs typeface="Helvetica"/>
                </a:rPr>
                <a:t>BM25</a:t>
              </a:r>
              <a:r>
                <a:rPr lang="en-US" sz="1600" b="0" i="0" dirty="0">
                  <a:solidFill>
                    <a:srgbClr val="8C8C8C"/>
                  </a:solidFill>
                  <a:latin typeface="Helvetica"/>
                  <a:cs typeface="Helvetica"/>
                </a:rPr>
                <a:t>  19%</a:t>
              </a:r>
            </a:p>
          </p:txBody>
        </p:sp>
        <p:sp>
          <p:nvSpPr>
            <p:cNvPr id="107" name="!!yLab"/>
            <p:cNvSpPr/>
            <p:nvPr/>
          </p:nvSpPr>
          <p:spPr>
            <a:xfrm rot="-5400000">
              <a:off x="45720" y="2691994"/>
              <a:ext cx="17373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Accuracy drop</a:t>
              </a:r>
            </a:p>
          </p:txBody>
        </p:sp>
        <p:sp>
          <p:nvSpPr>
            <p:cNvPr id="108" name="!!xLab"/>
            <p:cNvSpPr/>
            <p:nvPr/>
          </p:nvSpPr>
          <p:spPr>
            <a:xfrm>
              <a:off x="1849374" y="4572000"/>
              <a:ext cx="6956298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800" b="0" i="0" dirty="0">
                  <a:solidFill>
                    <a:srgbClr val="000000"/>
                  </a:solidFill>
                  <a:latin typeface="Helvetica"/>
                  <a:cs typeface="Helvetica"/>
                </a:rPr>
                <a:t>Training documents removed</a:t>
              </a:r>
            </a:p>
          </p:txBody>
        </p:sp>
      </p:grpSp>
      <p:graphicFrame>
        <p:nvGraphicFramePr>
          <p:cNvPr id="101" name="!!top10Chart"/>
          <p:cNvGraphicFramePr>
            <a:graphicFrameLocks noGrp="1"/>
          </p:cNvGraphicFramePr>
          <p:nvPr/>
        </p:nvGraphicFramePr>
        <p:xfrm>
          <a:off x="1188720" y="1325880"/>
          <a:ext cx="7772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5" name="!!lab_trak_top10"/>
          <p:cNvSpPr/>
          <p:nvPr/>
        </p:nvSpPr>
        <p:spPr>
          <a:xfrm>
            <a:off x="8729747" y="2587752"/>
            <a:ext cx="306601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7030A0"/>
                </a:solidFill>
                <a:latin typeface="Helvetica"/>
                <a:cs typeface="Helvetica"/>
              </a:rPr>
              <a:t>TRAK,</a:t>
            </a:r>
          </a:p>
          <a:p>
            <a:pPr algn="l"/>
            <a:r>
              <a:rPr lang="en-US" sz="1600" b="1" i="0" dirty="0">
                <a:solidFill>
                  <a:srgbClr val="7030A0"/>
                </a:solidFill>
                <a:latin typeface="Helvetica"/>
                <a:cs typeface="Helvetica"/>
              </a:rPr>
              <a:t>top-10 tokens</a:t>
            </a:r>
            <a:r>
              <a:rPr lang="en-US" sz="1600" b="0" i="0" dirty="0">
                <a:solidFill>
                  <a:srgbClr val="7030A0"/>
                </a:solidFill>
                <a:latin typeface="Helvetica"/>
                <a:cs typeface="Helvetica"/>
              </a:rPr>
              <a:t>  25%</a:t>
            </a:r>
          </a:p>
        </p:txBody>
      </p:sp>
      <p:graphicFrame>
        <p:nvGraphicFramePr>
          <p:cNvPr id="102" name="!!nloChart"/>
          <p:cNvGraphicFramePr>
            <a:graphicFrameLocks noGrp="1"/>
          </p:cNvGraphicFramePr>
          <p:nvPr/>
        </p:nvGraphicFramePr>
        <p:xfrm>
          <a:off x="1188720" y="1325880"/>
          <a:ext cx="7772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6" name="!!lab_jl_nores"/>
          <p:cNvSpPr/>
          <p:nvPr/>
        </p:nvSpPr>
        <p:spPr>
          <a:xfrm>
            <a:off x="8729747" y="1602029"/>
            <a:ext cx="306601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C00000"/>
                </a:solidFill>
                <a:latin typeface="Helvetica"/>
                <a:cs typeface="Helvetica"/>
              </a:rPr>
              <a:t>TRAK,</a:t>
            </a:r>
          </a:p>
          <a:p>
            <a:pPr algn="l"/>
            <a:r>
              <a:rPr lang="en-US" sz="1600" b="1" i="0" dirty="0">
                <a:solidFill>
                  <a:srgbClr val="C00000"/>
                </a:solidFill>
                <a:latin typeface="Helvetica"/>
                <a:cs typeface="Helvetica"/>
              </a:rPr>
              <a:t>neg. log-odds</a:t>
            </a:r>
            <a:r>
              <a:rPr lang="en-US" sz="1600" b="0" i="0" dirty="0">
                <a:solidFill>
                  <a:srgbClr val="C00000"/>
                </a:solidFill>
                <a:latin typeface="Helvetica"/>
                <a:cs typeface="Helvetica"/>
              </a:rPr>
              <a:t>  47%</a:t>
            </a:r>
          </a:p>
        </p:txBody>
      </p:sp>
      <p:sp>
        <p:nvSpPr>
          <p:cNvPr id="110" name="!!banner"/>
          <p:cNvSpPr/>
          <p:nvPr/>
        </p:nvSpPr>
        <p:spPr>
          <a:xfrm>
            <a:off x="609600" y="5435600"/>
            <a:ext cx="10972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latin typeface="Helvetica"/>
                <a:cs typeface="Helvetica"/>
              </a:rPr>
              <a:t>Neg. log-odds: up to 5.2× larger accuracy drop than TRAK</a:t>
            </a:r>
          </a:p>
        </p:txBody>
      </p:sp>
      <p:sp>
        <p:nvSpPr>
          <p:cNvPr id="111" name="!!src"/>
          <p:cNvSpPr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7F7F7F"/>
                </a:solidFill>
                <a:latin typeface="Helvetica"/>
                <a:cs typeface="Helvetica"/>
              </a:rPr>
              <a:t>FTRACE-TREX (Akyürek et al., 2022), mT5-small · mean of 2 seeds, error bars ±2 SE · TRAK: Park et al., 2023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263C-2648-87A6-1D74-2BC716EC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10" name="Takeaway"/>
          <p:cNvSpPr txBox="1"/>
          <p:nvPr/>
        </p:nvSpPr>
        <p:spPr>
          <a:xfrm>
            <a:off x="609600" y="11430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CATT: a benchmark for fact tracing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b="0" dirty="0">
                <a:solidFill>
                  <a:srgbClr val="000000"/>
                </a:solidFill>
                <a:latin typeface="Helvetica Light"/>
                <a:cs typeface="Helvetica Light"/>
              </a:rPr>
              <a:t>Current methods struggle when a fact repeats across documents or has distractors</a:t>
            </a:r>
          </a:p>
        </p:txBody>
      </p:sp>
      <p:sp>
        <p:nvSpPr>
          <p:cNvPr id="311" name="Takeaway"/>
          <p:cNvSpPr txBox="1"/>
          <p:nvPr/>
        </p:nvSpPr>
        <p:spPr>
          <a:xfrm>
            <a:off x="609600" y="3763888"/>
            <a:ext cx="6858001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Does signal only rely on a few tokens?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Helvetica Light"/>
                <a:cs typeface="Helvetica Light"/>
              </a:rPr>
              <a:t>Works in CATT question-answering format, unsure if it is generalizable </a:t>
            </a:r>
            <a:endParaRPr lang="en-US" b="0" dirty="0">
              <a:solidFill>
                <a:srgbClr val="000000"/>
              </a:solidFill>
              <a:latin typeface="Helvetica Light"/>
              <a:cs typeface="Helvetica Light"/>
            </a:endParaRPr>
          </a:p>
        </p:txBody>
      </p:sp>
      <p:sp>
        <p:nvSpPr>
          <p:cNvPr id="312" name="Takeaway"/>
          <p:cNvSpPr txBox="1"/>
          <p:nvPr/>
        </p:nvSpPr>
        <p:spPr>
          <a:xfrm>
            <a:off x="609600" y="2453444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Negative log-odds loss helps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Helvetica Light"/>
                <a:cs typeface="Helvetica Light"/>
              </a:rPr>
              <a:t>Resurfaces signal from overconfident tokens, works across many settings</a:t>
            </a:r>
            <a:endParaRPr lang="en-US" b="0" dirty="0">
              <a:solidFill>
                <a:srgbClr val="000000"/>
              </a:solidFill>
              <a:latin typeface="Helvetica Light"/>
              <a:cs typeface="Helvetica Light"/>
            </a:endParaRPr>
          </a:p>
        </p:txBody>
      </p:sp>
      <p:sp>
        <p:nvSpPr>
          <p:cNvPr id="313" name="Open questions"/>
          <p:cNvSpPr txBox="1"/>
          <p:nvPr/>
        </p:nvSpPr>
        <p:spPr>
          <a:xfrm>
            <a:off x="7874000" y="1143000"/>
            <a:ext cx="406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000000"/>
                </a:solidFill>
              </a:rPr>
              <a:t>Open questions</a:t>
            </a:r>
          </a:p>
          <a:p>
            <a:pPr marL="342900" indent="-342900" algn="l">
              <a:spcBef>
                <a:spcPts val="1000"/>
              </a:spcBef>
              <a:buFont typeface="Arial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Helvetica Light"/>
                <a:cs typeface="Helvetica Light"/>
              </a:rPr>
              <a:t>Multi-token answers</a:t>
            </a:r>
          </a:p>
          <a:p>
            <a:pPr marL="342900" indent="-342900" algn="l">
              <a:spcBef>
                <a:spcPts val="1000"/>
              </a:spcBef>
              <a:buFont typeface="Arial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Helvetica Light"/>
                <a:cs typeface="Helvetica Light"/>
              </a:rPr>
              <a:t>Multi-task fine-tuning</a:t>
            </a:r>
          </a:p>
          <a:p>
            <a:pPr marL="342900" indent="-342900" algn="l">
              <a:spcBef>
                <a:spcPts val="1000"/>
              </a:spcBef>
              <a:buFont typeface="Arial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Helvetica Light"/>
                <a:cs typeface="Helvetica Light"/>
              </a:rPr>
              <a:t>Choosing k without labels</a:t>
            </a:r>
          </a:p>
          <a:p>
            <a:pPr marL="342900" indent="-342900" algn="l">
              <a:spcBef>
                <a:spcPts val="1000"/>
              </a:spcBef>
              <a:buFont typeface="Arial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Helvetica Light"/>
                <a:cs typeface="Helvetica Light"/>
              </a:rPr>
              <a:t>Benchmarks that word matching can’t solve</a:t>
            </a:r>
          </a:p>
        </p:txBody>
      </p:sp>
      <p:sp>
        <p:nvSpPr>
          <p:cNvPr id="3" name="Takeaway">
            <a:extLst>
              <a:ext uri="{FF2B5EF4-FFF2-40B4-BE49-F238E27FC236}">
                <a16:creationId xmlns:a16="http://schemas.microsoft.com/office/drawing/2014/main" id="{11CFB1EE-A79F-7BEB-95F2-FE92C3B999E4}"/>
              </a:ext>
            </a:extLst>
          </p:cNvPr>
          <p:cNvSpPr txBox="1"/>
          <p:nvPr/>
        </p:nvSpPr>
        <p:spPr>
          <a:xfrm>
            <a:off x="609600" y="5074332"/>
            <a:ext cx="6858001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Does CATT help algorithm design?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Helvetica Light"/>
                <a:cs typeface="Helvetica Light"/>
              </a:rPr>
              <a:t>Yes, but must test generalization with other settings/evals</a:t>
            </a:r>
            <a:endParaRPr lang="en-US" b="0" dirty="0">
              <a:solidFill>
                <a:srgbClr val="000000"/>
              </a:solidFill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94331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animBg="1"/>
      <p:bldP spid="311" grpId="0" animBg="1"/>
      <p:bldP spid="312" grpId="0" animBg="1"/>
      <p:bldP spid="313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 [1791175437767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7864</TotalTime>
  <Words>8902</Words>
  <Application>Microsoft Macintosh PowerPoint</Application>
  <PresentationFormat>Widescreen</PresentationFormat>
  <Paragraphs>1387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Andale Mono</vt:lpstr>
      <vt:lpstr>Aptos</vt:lpstr>
      <vt:lpstr>Arial</vt:lpstr>
      <vt:lpstr>Cambria Math</vt:lpstr>
      <vt:lpstr>Courier New</vt:lpstr>
      <vt:lpstr>Helvetica</vt:lpstr>
      <vt:lpstr>Helvetica Light</vt:lpstr>
      <vt:lpstr>Wingdings</vt:lpstr>
      <vt:lpstr>Office Theme [1791175437767]</vt:lpstr>
      <vt:lpstr>Elucidating the Design Space of LM Data Attribution</vt:lpstr>
      <vt:lpstr>Data attribution</vt:lpstr>
      <vt:lpstr>Counterfactual definition of data attribution</vt:lpstr>
      <vt:lpstr>PowerPoint Presentation</vt:lpstr>
      <vt:lpstr>Pretraining data varies along many axes</vt:lpstr>
      <vt:lpstr>Controlled Attribution Benchmark (CATT)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existing methods do?</vt:lpstr>
      <vt:lpstr>How do existing methods do?</vt:lpstr>
      <vt:lpstr>How do existing methods do?</vt:lpstr>
      <vt:lpstr>Analyzing and Improving Attribution</vt:lpstr>
      <vt:lpstr>How are attribution scores distributed?</vt:lpstr>
      <vt:lpstr>Influence functions for LMs</vt:lpstr>
      <vt:lpstr>Attribution score distribution</vt:lpstr>
      <vt:lpstr>Attribution score distribution</vt:lpstr>
      <vt:lpstr>The right loss surfaces the relevant tokens</vt:lpstr>
      <vt:lpstr>Attribution score distribution</vt:lpstr>
      <vt:lpstr>Attribution score distribution</vt:lpstr>
      <vt:lpstr>Attribution score distribution</vt:lpstr>
      <vt:lpstr>Which tokens matter?</vt:lpstr>
      <vt:lpstr>Which tokens matter?</vt:lpstr>
      <vt:lpstr>Recall with both fixes</vt:lpstr>
      <vt:lpstr>How many tokens to keep?</vt:lpstr>
      <vt:lpstr>Generalize to FTRACE-TREX?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Elucidating the Design Space of LM Data Attribution</dc:title>
  <dc:creator>Sheng-Yu Wang</dc:creator>
  <cp:lastModifiedBy>Steven Yu</cp:lastModifiedBy>
  <cp:revision>43</cp:revision>
  <dcterms:created xsi:type="dcterms:W3CDTF">2026-10-04T14:32:01Z</dcterms:created>
  <dcterms:modified xsi:type="dcterms:W3CDTF">2026-10-10T21:06:41Z</dcterms:modified>
</cp:coreProperties>
</file>